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259998"/>
            <a:ext cx="9144000" cy="3883660"/>
          </a:xfrm>
          <a:custGeom>
            <a:avLst/>
            <a:gdLst/>
            <a:ahLst/>
            <a:cxnLst/>
            <a:rect l="l" t="t" r="r" b="b"/>
            <a:pathLst>
              <a:path w="9144000" h="3883660">
                <a:moveTo>
                  <a:pt x="9144000" y="0"/>
                </a:moveTo>
                <a:lnTo>
                  <a:pt x="0" y="0"/>
                </a:lnTo>
                <a:lnTo>
                  <a:pt x="0" y="3883501"/>
                </a:lnTo>
                <a:lnTo>
                  <a:pt x="9144000" y="3883501"/>
                </a:lnTo>
                <a:lnTo>
                  <a:pt x="9144000" y="0"/>
                </a:lnTo>
                <a:close/>
              </a:path>
            </a:pathLst>
          </a:custGeom>
          <a:solidFill>
            <a:srgbClr val="001135">
              <a:alpha val="9803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2391" y="4533531"/>
            <a:ext cx="1681930" cy="6099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2711" y="-24510"/>
            <a:ext cx="7771770" cy="1469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0159" y="1742173"/>
            <a:ext cx="4077335" cy="2585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81001" y="4854521"/>
            <a:ext cx="929006" cy="139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2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22.png"/><Relationship Id="rId10" Type="http://schemas.openxmlformats.org/officeDocument/2006/relationships/image" Target="../media/image4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3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Relationship Id="rId22" Type="http://schemas.openxmlformats.org/officeDocument/2006/relationships/image" Target="../media/image74.png"/><Relationship Id="rId23" Type="http://schemas.openxmlformats.org/officeDocument/2006/relationships/image" Target="../media/image75.png"/><Relationship Id="rId24" Type="http://schemas.openxmlformats.org/officeDocument/2006/relationships/image" Target="../media/image76.png"/><Relationship Id="rId25" Type="http://schemas.openxmlformats.org/officeDocument/2006/relationships/image" Target="../media/image77.png"/><Relationship Id="rId26" Type="http://schemas.openxmlformats.org/officeDocument/2006/relationships/image" Target="../media/image78.png"/><Relationship Id="rId27" Type="http://schemas.openxmlformats.org/officeDocument/2006/relationships/image" Target="../media/image79.png"/><Relationship Id="rId28" Type="http://schemas.openxmlformats.org/officeDocument/2006/relationships/image" Target="../media/image80.png"/><Relationship Id="rId29" Type="http://schemas.openxmlformats.org/officeDocument/2006/relationships/image" Target="../media/image81.png"/><Relationship Id="rId30" Type="http://schemas.openxmlformats.org/officeDocument/2006/relationships/image" Target="../media/image82.png"/><Relationship Id="rId31" Type="http://schemas.openxmlformats.org/officeDocument/2006/relationships/image" Target="../media/image83.png"/><Relationship Id="rId32" Type="http://schemas.openxmlformats.org/officeDocument/2006/relationships/image" Target="../media/image84.png"/><Relationship Id="rId33" Type="http://schemas.openxmlformats.org/officeDocument/2006/relationships/image" Target="../media/image85.png"/><Relationship Id="rId34" Type="http://schemas.openxmlformats.org/officeDocument/2006/relationships/image" Target="../media/image86.png"/><Relationship Id="rId35" Type="http://schemas.openxmlformats.org/officeDocument/2006/relationships/image" Target="../media/image87.png"/><Relationship Id="rId36" Type="http://schemas.openxmlformats.org/officeDocument/2006/relationships/image" Target="../media/image88.png"/><Relationship Id="rId37" Type="http://schemas.openxmlformats.org/officeDocument/2006/relationships/image" Target="../media/image89.png"/><Relationship Id="rId38" Type="http://schemas.openxmlformats.org/officeDocument/2006/relationships/image" Target="../media/image90.png"/><Relationship Id="rId39" Type="http://schemas.openxmlformats.org/officeDocument/2006/relationships/image" Target="../media/image91.png"/><Relationship Id="rId40" Type="http://schemas.openxmlformats.org/officeDocument/2006/relationships/image" Target="../media/image92.png"/><Relationship Id="rId41" Type="http://schemas.openxmlformats.org/officeDocument/2006/relationships/image" Target="../media/image93.png"/><Relationship Id="rId42" Type="http://schemas.openxmlformats.org/officeDocument/2006/relationships/image" Target="../media/image94.png"/><Relationship Id="rId43" Type="http://schemas.openxmlformats.org/officeDocument/2006/relationships/image" Target="../media/image95.png"/><Relationship Id="rId44" Type="http://schemas.openxmlformats.org/officeDocument/2006/relationships/image" Target="../media/image96.png"/><Relationship Id="rId45" Type="http://schemas.openxmlformats.org/officeDocument/2006/relationships/image" Target="../media/image97.png"/><Relationship Id="rId46" Type="http://schemas.openxmlformats.org/officeDocument/2006/relationships/image" Target="../media/image98.png"/><Relationship Id="rId47" Type="http://schemas.openxmlformats.org/officeDocument/2006/relationships/image" Target="../media/image99.png"/><Relationship Id="rId48" Type="http://schemas.openxmlformats.org/officeDocument/2006/relationships/image" Target="../media/image100.png"/><Relationship Id="rId49" Type="http://schemas.openxmlformats.org/officeDocument/2006/relationships/image" Target="../media/image101.png"/><Relationship Id="rId50" Type="http://schemas.openxmlformats.org/officeDocument/2006/relationships/image" Target="../media/image102.png"/><Relationship Id="rId51" Type="http://schemas.openxmlformats.org/officeDocument/2006/relationships/image" Target="../media/image103.png"/><Relationship Id="rId52" Type="http://schemas.openxmlformats.org/officeDocument/2006/relationships/image" Target="../media/image104.png"/><Relationship Id="rId53" Type="http://schemas.openxmlformats.org/officeDocument/2006/relationships/image" Target="../media/image10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106.png"/><Relationship Id="rId4" Type="http://schemas.openxmlformats.org/officeDocument/2006/relationships/image" Target="../media/image1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3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Relationship Id="rId10" Type="http://schemas.openxmlformats.org/officeDocument/2006/relationships/image" Target="../media/image12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5.png"/><Relationship Id="rId3" Type="http://schemas.openxmlformats.org/officeDocument/2006/relationships/image" Target="../media/image22.png"/><Relationship Id="rId4" Type="http://schemas.openxmlformats.org/officeDocument/2006/relationships/image" Target="../media/image12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image" Target="../media/image134.png"/><Relationship Id="rId10" Type="http://schemas.openxmlformats.org/officeDocument/2006/relationships/image" Target="../media/image22.png"/><Relationship Id="rId11" Type="http://schemas.openxmlformats.org/officeDocument/2006/relationships/image" Target="../media/image135.png"/><Relationship Id="rId12" Type="http://schemas.openxmlformats.org/officeDocument/2006/relationships/image" Target="../media/image136.png"/><Relationship Id="rId13" Type="http://schemas.openxmlformats.org/officeDocument/2006/relationships/image" Target="../media/image137.png"/><Relationship Id="rId14" Type="http://schemas.openxmlformats.org/officeDocument/2006/relationships/image" Target="../media/image138.png"/><Relationship Id="rId15" Type="http://schemas.openxmlformats.org/officeDocument/2006/relationships/image" Target="../media/image139.png"/><Relationship Id="rId16" Type="http://schemas.openxmlformats.org/officeDocument/2006/relationships/image" Target="../media/image140.png"/><Relationship Id="rId17" Type="http://schemas.openxmlformats.org/officeDocument/2006/relationships/image" Target="../media/image141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50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2321" y="4740465"/>
              <a:ext cx="971999" cy="219011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514094" y="1099627"/>
            <a:ext cx="869950" cy="633730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380"/>
              </a:spcBef>
            </a:pPr>
            <a:r>
              <a:rPr dirty="0" sz="2100" spc="-25"/>
              <a:t>OUR </a:t>
            </a:r>
            <a:r>
              <a:rPr dirty="0" sz="2100" spc="-10"/>
              <a:t>TEAM:</a:t>
            </a:r>
            <a:endParaRPr sz="2100"/>
          </a:p>
        </p:txBody>
      </p:sp>
      <p:sp>
        <p:nvSpPr>
          <p:cNvPr id="9" name="object 9"/>
          <p:cNvSpPr txBox="1"/>
          <p:nvPr/>
        </p:nvSpPr>
        <p:spPr>
          <a:xfrm>
            <a:off x="450949" y="1810435"/>
            <a:ext cx="15487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Danah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Alosaimi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7226" y="1810435"/>
            <a:ext cx="17862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Deem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Alsuhaibani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0949" y="2378506"/>
            <a:ext cx="170751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Muneera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Alyemni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42057" y="2354833"/>
            <a:ext cx="14357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Nawaf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Alferaih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3334" y="3203117"/>
            <a:ext cx="1713230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FFFFFF"/>
                </a:solidFill>
                <a:latin typeface="Arial"/>
                <a:cs typeface="Arial"/>
              </a:rPr>
              <a:t>Superviso</a:t>
            </a:r>
            <a:endParaRPr sz="2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5"/>
              </a:spcBef>
            </a:pPr>
            <a:r>
              <a:rPr dirty="0" sz="1600" spc="-73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baseline="7936" sz="3150" spc="-16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600" spc="-89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baseline="7936" sz="3150" spc="247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ssa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ElSayed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02" y="4844897"/>
            <a:ext cx="819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329" y="4844897"/>
            <a:ext cx="6426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z="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Nokia</a:t>
            </a:r>
            <a:endParaRPr sz="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81727" y="0"/>
            <a:ext cx="428273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10388" y="465989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CCCCC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59998"/>
              <a:ext cx="9144000" cy="3883660"/>
            </a:xfrm>
            <a:custGeom>
              <a:avLst/>
              <a:gdLst/>
              <a:ahLst/>
              <a:cxnLst/>
              <a:rect l="l" t="t" r="r" b="b"/>
              <a:pathLst>
                <a:path w="9144000" h="3883660">
                  <a:moveTo>
                    <a:pt x="9144000" y="0"/>
                  </a:moveTo>
                  <a:lnTo>
                    <a:pt x="0" y="0"/>
                  </a:lnTo>
                  <a:lnTo>
                    <a:pt x="0" y="3883501"/>
                  </a:lnTo>
                  <a:lnTo>
                    <a:pt x="9144000" y="388350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135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2321" y="4740452"/>
              <a:ext cx="972000" cy="219011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035592" y="224227"/>
            <a:ext cx="7065009" cy="2661285"/>
            <a:chOff x="1035592" y="224227"/>
            <a:chExt cx="7065009" cy="266128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5592" y="739208"/>
              <a:ext cx="3447884" cy="214613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52480" y="739208"/>
              <a:ext cx="3447884" cy="21461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0371" y="224227"/>
              <a:ext cx="6983260" cy="400265"/>
            </a:xfrm>
            <a:prstGeom prst="rect">
              <a:avLst/>
            </a:prstGeom>
          </p:spPr>
        </p:pic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1808146" y="313124"/>
            <a:ext cx="2326640" cy="238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/>
              <a:t>Lost</a:t>
            </a:r>
            <a:r>
              <a:rPr dirty="0" sz="1400" spc="-5"/>
              <a:t> </a:t>
            </a:r>
            <a:r>
              <a:rPr dirty="0" sz="1400"/>
              <a:t>In</a:t>
            </a:r>
            <a:r>
              <a:rPr dirty="0" sz="1400" spc="-5"/>
              <a:t> </a:t>
            </a:r>
            <a:r>
              <a:rPr dirty="0" sz="1400"/>
              <a:t>Rub’</a:t>
            </a:r>
            <a:r>
              <a:rPr dirty="0" sz="1400" spc="-5"/>
              <a:t> </a:t>
            </a:r>
            <a:r>
              <a:rPr dirty="0" sz="1400"/>
              <a:t>Al</a:t>
            </a:r>
            <a:r>
              <a:rPr dirty="0" sz="1400" spc="-5"/>
              <a:t> </a:t>
            </a:r>
            <a:r>
              <a:rPr dirty="0" sz="1400"/>
              <a:t>Khali </a:t>
            </a:r>
            <a:r>
              <a:rPr dirty="0" sz="1400" spc="-10"/>
              <a:t>(2024)</a:t>
            </a:r>
            <a:endParaRPr sz="1400"/>
          </a:p>
        </p:txBody>
      </p:sp>
      <p:sp>
        <p:nvSpPr>
          <p:cNvPr id="20" name="object 20"/>
          <p:cNvSpPr txBox="1"/>
          <p:nvPr/>
        </p:nvSpPr>
        <p:spPr>
          <a:xfrm>
            <a:off x="4751437" y="313124"/>
            <a:ext cx="154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23201" y="313124"/>
            <a:ext cx="21297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Sewol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Ferry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incident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3026" y="526484"/>
            <a:ext cx="5397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(2014)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5577" y="2932417"/>
            <a:ext cx="7129145" cy="1713864"/>
            <a:chOff x="955577" y="2932417"/>
            <a:chExt cx="7129145" cy="1713864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6612" y="2932417"/>
              <a:ext cx="3487889" cy="17137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5577" y="2932417"/>
              <a:ext cx="3527894" cy="17137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287786" y="3228085"/>
            <a:ext cx="2862580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9135" indent="-214629">
              <a:lnSpc>
                <a:spcPct val="100000"/>
              </a:lnSpc>
              <a:spcBef>
                <a:spcPts val="100"/>
              </a:spcBef>
              <a:buChar char="•"/>
              <a:tabLst>
                <a:tab pos="699135" algn="l"/>
              </a:tabLst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lost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lives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Arial"/>
              <a:cs typeface="Arial"/>
            </a:endParaRPr>
          </a:p>
          <a:p>
            <a:pPr marL="226695" indent="-213995">
              <a:lnSpc>
                <a:spcPct val="100000"/>
              </a:lnSpc>
              <a:buChar char="•"/>
              <a:tabLst>
                <a:tab pos="226695" algn="l"/>
              </a:tabLst>
            </a:pP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Terrestrial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networks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failed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remote</a:t>
            </a:r>
            <a:endParaRPr sz="1300">
              <a:latin typeface="Arial"/>
              <a:cs typeface="Arial"/>
            </a:endParaRPr>
          </a:p>
          <a:p>
            <a:pPr marL="1084580">
              <a:lnSpc>
                <a:spcPct val="100000"/>
              </a:lnSpc>
            </a:pP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Arial"/>
              <a:cs typeface="Arial"/>
            </a:endParaRPr>
          </a:p>
          <a:p>
            <a:pPr lvl="1" marL="447040" indent="-214629">
              <a:lnSpc>
                <a:spcPct val="100000"/>
              </a:lnSpc>
              <a:buChar char="•"/>
              <a:tabLst>
                <a:tab pos="447040" algn="l"/>
              </a:tabLst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Direct-to-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Device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7906" y="3177463"/>
            <a:ext cx="292798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7440" indent="-213995">
              <a:lnSpc>
                <a:spcPct val="100000"/>
              </a:lnSpc>
              <a:spcBef>
                <a:spcPts val="100"/>
              </a:spcBef>
              <a:buChar char="•"/>
              <a:tabLst>
                <a:tab pos="1107440" algn="l"/>
              </a:tabLst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304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fatalities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Arial"/>
              <a:cs typeface="Arial"/>
            </a:endParaRPr>
          </a:p>
          <a:p>
            <a:pPr marL="226695" indent="-213995">
              <a:lnSpc>
                <a:spcPct val="100000"/>
              </a:lnSpc>
              <a:buChar char="•"/>
              <a:tabLst>
                <a:tab pos="226695" algn="l"/>
              </a:tabLst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Relied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VHF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radio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send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distress</a:t>
            </a:r>
            <a:endParaRPr sz="1300">
              <a:latin typeface="Arial"/>
              <a:cs typeface="Arial"/>
            </a:endParaRPr>
          </a:p>
          <a:p>
            <a:pPr marL="1313815">
              <a:lnSpc>
                <a:spcPct val="100000"/>
              </a:lnSpc>
            </a:pP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signals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7403" y="4168063"/>
            <a:ext cx="32480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6695" indent="-213995">
              <a:lnSpc>
                <a:spcPct val="100000"/>
              </a:lnSpc>
              <a:spcBef>
                <a:spcPts val="100"/>
              </a:spcBef>
              <a:buChar char="•"/>
              <a:tabLst>
                <a:tab pos="226695" algn="l"/>
              </a:tabLst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satellite-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linked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was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place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21538" y="4366183"/>
            <a:ext cx="1913889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transmit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location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01" y="4844897"/>
            <a:ext cx="819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329" y="4844897"/>
            <a:ext cx="6426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z="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Nokia</a:t>
            </a:r>
            <a:endParaRPr sz="8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42391" y="4533531"/>
            <a:ext cx="708172" cy="6099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4234" y="4281462"/>
              <a:ext cx="2073847" cy="86203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5575">
              <a:lnSpc>
                <a:spcPts val="4735"/>
              </a:lnSpc>
              <a:spcBef>
                <a:spcPts val="100"/>
              </a:spcBef>
            </a:pPr>
            <a:r>
              <a:rPr dirty="0" b="0">
                <a:latin typeface="Arial"/>
                <a:cs typeface="Arial"/>
              </a:rPr>
              <a:t>NTN</a:t>
            </a:r>
            <a:r>
              <a:rPr dirty="0" spc="-7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Satellites:</a:t>
            </a:r>
            <a:r>
              <a:rPr dirty="0" spc="-7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The</a:t>
            </a:r>
            <a:r>
              <a:rPr dirty="0" spc="-70" b="0">
                <a:latin typeface="Arial"/>
                <a:cs typeface="Arial"/>
              </a:rPr>
              <a:t> </a:t>
            </a:r>
            <a:r>
              <a:rPr dirty="0" spc="-20" b="0">
                <a:latin typeface="Arial"/>
                <a:cs typeface="Arial"/>
              </a:rPr>
              <a:t>Game</a:t>
            </a:r>
          </a:p>
          <a:p>
            <a:pPr marL="38100">
              <a:lnSpc>
                <a:spcPts val="4735"/>
              </a:lnSpc>
            </a:pPr>
            <a:r>
              <a:rPr dirty="0" sz="1600" spc="-145" b="0">
                <a:latin typeface="Arial"/>
                <a:cs typeface="Arial"/>
              </a:rPr>
              <a:t>B</a:t>
            </a:r>
            <a:r>
              <a:rPr dirty="0" baseline="-13888" sz="6600" spc="-4567" b="0">
                <a:latin typeface="Arial"/>
                <a:cs typeface="Arial"/>
              </a:rPr>
              <a:t>C</a:t>
            </a:r>
            <a:r>
              <a:rPr dirty="0" sz="1600" spc="-10" b="0">
                <a:latin typeface="Arial"/>
                <a:cs typeface="Arial"/>
              </a:rPr>
              <a:t>y</a:t>
            </a:r>
            <a:r>
              <a:rPr dirty="0" sz="1600" spc="-5" b="0">
                <a:latin typeface="Arial"/>
                <a:cs typeface="Arial"/>
              </a:rPr>
              <a:t>:</a:t>
            </a:r>
            <a:r>
              <a:rPr dirty="0" sz="1600" spc="465" b="0">
                <a:latin typeface="Arial"/>
                <a:cs typeface="Arial"/>
              </a:rPr>
              <a:t> </a:t>
            </a:r>
            <a:r>
              <a:rPr dirty="0" sz="1600" spc="-70" b="0">
                <a:latin typeface="Arial"/>
                <a:cs typeface="Arial"/>
              </a:rPr>
              <a:t>T</a:t>
            </a:r>
            <a:r>
              <a:rPr dirty="0" baseline="-13888" sz="6600" spc="-3607" b="0">
                <a:latin typeface="Arial"/>
                <a:cs typeface="Arial"/>
              </a:rPr>
              <a:t>h</a:t>
            </a:r>
            <a:r>
              <a:rPr dirty="0" sz="1600" b="0">
                <a:latin typeface="Arial"/>
                <a:cs typeface="Arial"/>
              </a:rPr>
              <a:t>ele</a:t>
            </a:r>
            <a:r>
              <a:rPr dirty="0" sz="1600" spc="-650" b="0">
                <a:latin typeface="Arial"/>
                <a:cs typeface="Arial"/>
              </a:rPr>
              <a:t>n</a:t>
            </a:r>
            <a:r>
              <a:rPr dirty="0" baseline="-13888" sz="6600" spc="-2729" b="0">
                <a:latin typeface="Arial"/>
                <a:cs typeface="Arial"/>
              </a:rPr>
              <a:t>a</a:t>
            </a:r>
            <a:r>
              <a:rPr dirty="0" sz="1600" b="0">
                <a:latin typeface="Arial"/>
                <a:cs typeface="Arial"/>
              </a:rPr>
              <a:t>gi</a:t>
            </a:r>
            <a:r>
              <a:rPr dirty="0" sz="1600" spc="-340" b="0">
                <a:latin typeface="Arial"/>
                <a:cs typeface="Arial"/>
              </a:rPr>
              <a:t>n</a:t>
            </a:r>
            <a:r>
              <a:rPr dirty="0" baseline="-13888" sz="6600" spc="-3209" b="0">
                <a:latin typeface="Arial"/>
                <a:cs typeface="Arial"/>
              </a:rPr>
              <a:t>n</a:t>
            </a:r>
            <a:r>
              <a:rPr dirty="0" sz="1600" b="0">
                <a:latin typeface="Arial"/>
                <a:cs typeface="Arial"/>
              </a:rPr>
              <a:t>ee</a:t>
            </a:r>
            <a:r>
              <a:rPr dirty="0" sz="1600" spc="-210" b="0">
                <a:latin typeface="Arial"/>
                <a:cs typeface="Arial"/>
              </a:rPr>
              <a:t>r</a:t>
            </a:r>
            <a:r>
              <a:rPr dirty="0" baseline="-13888" sz="6600" spc="-3412" b="0">
                <a:latin typeface="Arial"/>
                <a:cs typeface="Arial"/>
              </a:rPr>
              <a:t>g</a:t>
            </a:r>
            <a:r>
              <a:rPr dirty="0" sz="1600" b="0">
                <a:latin typeface="Arial"/>
                <a:cs typeface="Arial"/>
              </a:rPr>
              <a:t>s</a:t>
            </a:r>
            <a:r>
              <a:rPr dirty="0" sz="1600" spc="465" b="0">
                <a:latin typeface="Arial"/>
                <a:cs typeface="Arial"/>
              </a:rPr>
              <a:t> </a:t>
            </a:r>
            <a:r>
              <a:rPr dirty="0" sz="1600" spc="100" b="0">
                <a:latin typeface="Arial"/>
                <a:cs typeface="Arial"/>
              </a:rPr>
              <a:t>/</a:t>
            </a:r>
            <a:r>
              <a:rPr dirty="0" baseline="-13888" sz="6600" spc="-3225" b="0">
                <a:latin typeface="Arial"/>
                <a:cs typeface="Arial"/>
              </a:rPr>
              <a:t>e</a:t>
            </a:r>
            <a:r>
              <a:rPr dirty="0" sz="1600" spc="-15" b="0">
                <a:latin typeface="Arial"/>
                <a:cs typeface="Arial"/>
              </a:rPr>
              <a:t>1</a:t>
            </a:r>
            <a:r>
              <a:rPr dirty="0" sz="1600" spc="-10" b="0">
                <a:latin typeface="Arial"/>
                <a:cs typeface="Arial"/>
              </a:rPr>
              <a:t>3</a:t>
            </a:r>
            <a:r>
              <a:rPr dirty="0" sz="1600" spc="-105" b="0">
                <a:latin typeface="Arial"/>
                <a:cs typeface="Arial"/>
              </a:rPr>
              <a:t> </a:t>
            </a:r>
            <a:r>
              <a:rPr dirty="0" baseline="-13888" sz="6600" spc="-2039" b="0">
                <a:latin typeface="Arial"/>
                <a:cs typeface="Arial"/>
              </a:rPr>
              <a:t>r</a:t>
            </a:r>
            <a:r>
              <a:rPr dirty="0" sz="1600" b="0">
                <a:latin typeface="Arial"/>
                <a:cs typeface="Arial"/>
              </a:rPr>
              <a:t>A</a:t>
            </a:r>
            <a:r>
              <a:rPr dirty="0" sz="1600" spc="-5" b="0">
                <a:latin typeface="Arial"/>
                <a:cs typeface="Arial"/>
              </a:rPr>
              <a:t>u</a:t>
            </a:r>
            <a:r>
              <a:rPr dirty="0" sz="1600" b="0">
                <a:latin typeface="Arial"/>
                <a:cs typeface="Arial"/>
              </a:rPr>
              <a:t>g</a:t>
            </a:r>
            <a:r>
              <a:rPr dirty="0" sz="1600" spc="10" b="0">
                <a:latin typeface="Arial"/>
                <a:cs typeface="Arial"/>
              </a:rPr>
              <a:t> </a:t>
            </a:r>
            <a:r>
              <a:rPr dirty="0" sz="1600" spc="-20" b="0">
                <a:latin typeface="Arial"/>
                <a:cs typeface="Arial"/>
              </a:rPr>
              <a:t>2025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236" rIns="0" bIns="0" rtlCol="0" vert="horz">
            <a:spAutoFit/>
          </a:bodyPr>
          <a:lstStyle/>
          <a:p>
            <a:pPr marL="1348740" marR="5080" indent="-109855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"/>
                <a:cs typeface="Arial"/>
              </a:rPr>
              <a:t>Legacy</a:t>
            </a:r>
            <a:r>
              <a:rPr dirty="0" spc="-20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Perceptions</a:t>
            </a:r>
            <a:r>
              <a:rPr dirty="0" spc="-200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About </a:t>
            </a:r>
            <a:r>
              <a:rPr dirty="0" b="0">
                <a:latin typeface="Arial"/>
                <a:cs typeface="Arial"/>
              </a:rPr>
              <a:t>Satellite</a:t>
            </a:r>
            <a:r>
              <a:rPr dirty="0" spc="-120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Communications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026" y="1431315"/>
            <a:ext cx="8522173" cy="37121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21294" y="2523350"/>
            <a:ext cx="7251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3825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High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latency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0581" y="2636786"/>
            <a:ext cx="11315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reliable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0390" y="2495791"/>
            <a:ext cx="100774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48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Too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expensive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32473" y="1747278"/>
            <a:ext cx="1943735" cy="2077720"/>
            <a:chOff x="6532473" y="1747278"/>
            <a:chExt cx="1943735" cy="20777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2473" y="1747278"/>
              <a:ext cx="770813" cy="7708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9991" y="3108667"/>
              <a:ext cx="715858" cy="7158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57581" y="3883299"/>
            <a:ext cx="1132205" cy="74041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ctr" marL="12065" marR="5080" indent="-635">
              <a:lnSpc>
                <a:spcPts val="1920"/>
              </a:lnSpc>
              <a:spcBef>
                <a:spcPts val="10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Satellites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for TVs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3736" y="3857340"/>
            <a:ext cx="894715" cy="98425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ctr" marL="12065" marR="5080">
              <a:lnSpc>
                <a:spcPts val="1920"/>
              </a:lnSpc>
              <a:spcBef>
                <a:spcPts val="10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satellites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28749" y="3799060"/>
            <a:ext cx="1515745" cy="4965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158115">
              <a:lnSpc>
                <a:spcPts val="1920"/>
              </a:lnSpc>
              <a:spcBef>
                <a:spcPts val="1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Connects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special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3055" y="4103568"/>
            <a:ext cx="849630" cy="4965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225425">
              <a:lnSpc>
                <a:spcPts val="1920"/>
              </a:lnSpc>
              <a:spcBef>
                <a:spcPts val="10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Too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5</a:t>
            </a:fld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400" y="4820551"/>
            <a:ext cx="995681" cy="23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236" rIns="0" bIns="0" rtlCol="0" vert="horz">
            <a:spAutoFit/>
          </a:bodyPr>
          <a:lstStyle/>
          <a:p>
            <a:pPr marL="1348740" marR="5080" indent="-109855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"/>
                <a:cs typeface="Arial"/>
              </a:rPr>
              <a:t>Legacy</a:t>
            </a:r>
            <a:r>
              <a:rPr dirty="0" spc="-20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Perceptions</a:t>
            </a:r>
            <a:r>
              <a:rPr dirty="0" spc="-200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About </a:t>
            </a:r>
            <a:r>
              <a:rPr dirty="0" b="0">
                <a:latin typeface="Arial"/>
                <a:cs typeface="Arial"/>
              </a:rPr>
              <a:t>Satellite</a:t>
            </a:r>
            <a:r>
              <a:rPr dirty="0" spc="-120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Communications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026" y="1431315"/>
            <a:ext cx="8522173" cy="37121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21294" y="2523350"/>
            <a:ext cx="7251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3825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High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latency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0581" y="2636786"/>
            <a:ext cx="11315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reliable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0390" y="2495791"/>
            <a:ext cx="100774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48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Too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expensive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32473" y="1747278"/>
            <a:ext cx="1943735" cy="2077720"/>
            <a:chOff x="6532473" y="1747278"/>
            <a:chExt cx="1943735" cy="20777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2473" y="1747278"/>
              <a:ext cx="770813" cy="7708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9991" y="3108667"/>
              <a:ext cx="715858" cy="7158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57581" y="3883299"/>
            <a:ext cx="1132205" cy="74041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ctr" marL="12065" marR="5080" indent="-635">
              <a:lnSpc>
                <a:spcPts val="1920"/>
              </a:lnSpc>
              <a:spcBef>
                <a:spcPts val="10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Satellites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for TVs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3736" y="3857340"/>
            <a:ext cx="894715" cy="98425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ctr" marL="12065" marR="5080">
              <a:lnSpc>
                <a:spcPts val="1920"/>
              </a:lnSpc>
              <a:spcBef>
                <a:spcPts val="10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satellites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28749" y="3799060"/>
            <a:ext cx="1515745" cy="4965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158115">
              <a:lnSpc>
                <a:spcPts val="1920"/>
              </a:lnSpc>
              <a:spcBef>
                <a:spcPts val="1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Connects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special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3055" y="4103568"/>
            <a:ext cx="849630" cy="4965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225425">
              <a:lnSpc>
                <a:spcPts val="1920"/>
              </a:lnSpc>
              <a:spcBef>
                <a:spcPts val="10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Too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/>
              <a:t>5</a:t>
            </a:fld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400" y="4820551"/>
            <a:ext cx="995681" cy="23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04898" y="340219"/>
            <a:ext cx="46818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The</a:t>
            </a:r>
            <a:r>
              <a:rPr dirty="0" sz="2400" spc="-3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Shift</a:t>
            </a:r>
            <a:r>
              <a:rPr dirty="0" sz="2400" spc="-3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to</a:t>
            </a:r>
            <a:r>
              <a:rPr dirty="0" sz="2400" spc="-3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Low</a:t>
            </a:r>
            <a:r>
              <a:rPr dirty="0" sz="2400" spc="-3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Earth</a:t>
            </a:r>
            <a:r>
              <a:rPr dirty="0" sz="2400" spc="-3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Orbit</a:t>
            </a:r>
            <a:r>
              <a:rPr dirty="0" sz="2400" spc="-3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spc="-10" b="0">
                <a:solidFill>
                  <a:srgbClr val="005AFF"/>
                </a:solidFill>
                <a:latin typeface="Arial"/>
                <a:cs typeface="Arial"/>
              </a:rPr>
              <a:t>(LEO)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3762" y="867885"/>
            <a:ext cx="224154" cy="1244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50">
                <a:solidFill>
                  <a:srgbClr val="001135"/>
                </a:solidFill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2171" y="1021975"/>
            <a:ext cx="4794834" cy="334041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77733" y="1077964"/>
            <a:ext cx="5890260" cy="3284854"/>
          </a:xfrm>
          <a:prstGeom prst="rect">
            <a:avLst/>
          </a:prstGeom>
          <a:ln w="9524">
            <a:solidFill>
              <a:srgbClr val="124191"/>
            </a:solidFill>
          </a:ln>
        </p:spPr>
        <p:txBody>
          <a:bodyPr wrap="square" lIns="0" tIns="107314" rIns="0" bIns="0" rtlCol="0" vert="vert270">
            <a:spAutoFit/>
          </a:bodyPr>
          <a:lstStyle/>
          <a:p>
            <a:pPr marR="94615">
              <a:lnSpc>
                <a:spcPct val="100000"/>
              </a:lnSpc>
              <a:spcBef>
                <a:spcPts val="844"/>
              </a:spcBef>
            </a:pPr>
            <a:endParaRPr sz="1400">
              <a:latin typeface="Times New Roman"/>
              <a:cs typeface="Times New Roman"/>
            </a:endParaRPr>
          </a:p>
          <a:p>
            <a:pPr marL="1060450" indent="-1097280">
              <a:lnSpc>
                <a:spcPct val="100000"/>
              </a:lnSpc>
            </a:pP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ace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Economy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explosion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driven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by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launc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cost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reduction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3762" y="4385855"/>
            <a:ext cx="224154" cy="243204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45"/>
              </a:lnSpc>
            </a:pP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Sp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>
                <a:solidFill>
                  <a:srgbClr val="001135"/>
                </a:solidFill>
              </a:rPr>
              <a:t>7</a:t>
            </a:fld>
          </a:p>
        </p:txBody>
      </p:sp>
      <p:sp>
        <p:nvSpPr>
          <p:cNvPr id="2" name="object 2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2391" y="4533531"/>
            <a:ext cx="1681930" cy="609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5718" y="154908"/>
            <a:ext cx="1882139" cy="368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b="0">
                <a:solidFill>
                  <a:srgbClr val="005AFF"/>
                </a:solidFill>
                <a:latin typeface="Arial"/>
                <a:cs typeface="Arial"/>
              </a:rPr>
              <a:t>Satellite</a:t>
            </a:r>
            <a:r>
              <a:rPr dirty="0" sz="2250" spc="-2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250" spc="-10" b="0">
                <a:solidFill>
                  <a:srgbClr val="005AFF"/>
                </a:solidFill>
                <a:latin typeface="Arial"/>
                <a:cs typeface="Arial"/>
              </a:rPr>
              <a:t>Orbits</a:t>
            </a:r>
            <a:endParaRPr sz="2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716" y="709096"/>
            <a:ext cx="5007610" cy="401955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825"/>
              </a:spcBef>
            </a:pPr>
            <a:r>
              <a:rPr dirty="0" sz="1200" b="1">
                <a:solidFill>
                  <a:srgbClr val="FF9900"/>
                </a:solidFill>
                <a:latin typeface="Arial"/>
                <a:cs typeface="Arial"/>
              </a:rPr>
              <a:t>LEO:</a:t>
            </a:r>
            <a:r>
              <a:rPr dirty="0" sz="1200" spc="-20" b="1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9900"/>
                </a:solidFill>
                <a:latin typeface="Arial"/>
                <a:cs typeface="Arial"/>
              </a:rPr>
              <a:t>Low</a:t>
            </a:r>
            <a:r>
              <a:rPr dirty="0" sz="1200" spc="-20" b="1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9900"/>
                </a:solidFill>
                <a:latin typeface="Arial"/>
                <a:cs typeface="Arial"/>
              </a:rPr>
              <a:t>Earth</a:t>
            </a:r>
            <a:r>
              <a:rPr dirty="0" sz="1200" spc="-20" b="1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9900"/>
                </a:solidFill>
                <a:latin typeface="Arial"/>
                <a:cs typeface="Arial"/>
              </a:rPr>
              <a:t>Orbit</a:t>
            </a:r>
            <a:endParaRPr sz="1200">
              <a:latin typeface="Arial"/>
              <a:cs typeface="Arial"/>
            </a:endParaRPr>
          </a:p>
          <a:p>
            <a:pPr algn="just" marL="12700" marR="1712595">
              <a:lnSpc>
                <a:spcPct val="150000"/>
              </a:lnSpc>
              <a:spcBef>
                <a:spcPts val="5"/>
              </a:spcBef>
            </a:pP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200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–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2000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(km)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altitude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with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10-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40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minutes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orbital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period.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Closest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to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earth,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fast-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moving,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low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latency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(20-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40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ms).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Used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in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IoT,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disaster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response,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earth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observing.</a:t>
            </a:r>
            <a:endParaRPr sz="1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Challenges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include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large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constellation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for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global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coverage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high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debris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concentration.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MEO: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Medium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Earth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Orbit</a:t>
            </a:r>
            <a:endParaRPr sz="1200">
              <a:latin typeface="Arial"/>
              <a:cs typeface="Arial"/>
            </a:endParaRPr>
          </a:p>
          <a:p>
            <a:pPr marL="12700" marR="1889125">
              <a:lnSpc>
                <a:spcPct val="150000"/>
              </a:lnSpc>
              <a:spcBef>
                <a:spcPts val="5"/>
              </a:spcBef>
            </a:pP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2000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–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30k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(km)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altitude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with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2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–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8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hours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orbital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period.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Balanced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coverage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latency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(100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–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150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ms).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Used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for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Navigation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Systems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(GPS).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Challenges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include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higher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costs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than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LEO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orbit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moderate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debris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concentration.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54A838"/>
                </a:solidFill>
                <a:latin typeface="Arial"/>
                <a:cs typeface="Arial"/>
              </a:rPr>
              <a:t>GEO:</a:t>
            </a:r>
            <a:r>
              <a:rPr dirty="0" sz="1200" spc="-45" b="1">
                <a:solidFill>
                  <a:srgbClr val="54A83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4A838"/>
                </a:solidFill>
                <a:latin typeface="Arial"/>
                <a:cs typeface="Arial"/>
              </a:rPr>
              <a:t>Geosynchronous</a:t>
            </a:r>
            <a:r>
              <a:rPr dirty="0" sz="1200" spc="-40" b="1">
                <a:solidFill>
                  <a:srgbClr val="54A83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4A838"/>
                </a:solidFill>
                <a:latin typeface="Arial"/>
                <a:cs typeface="Arial"/>
              </a:rPr>
              <a:t>Earth</a:t>
            </a:r>
            <a:r>
              <a:rPr dirty="0" sz="1200" spc="-45" b="1">
                <a:solidFill>
                  <a:srgbClr val="54A838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54A838"/>
                </a:solidFill>
                <a:latin typeface="Arial"/>
                <a:cs typeface="Arial"/>
              </a:rPr>
              <a:t>Orbit</a:t>
            </a:r>
            <a:endParaRPr sz="1200">
              <a:latin typeface="Arial"/>
              <a:cs typeface="Arial"/>
            </a:endParaRPr>
          </a:p>
          <a:p>
            <a:pPr marL="12700" marR="2532380">
              <a:lnSpc>
                <a:spcPct val="150000"/>
              </a:lnSpc>
              <a:spcBef>
                <a:spcPts val="5"/>
              </a:spcBef>
            </a:pP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36k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km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altitude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with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24h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orbital</a:t>
            </a:r>
            <a:r>
              <a:rPr dirty="0" sz="10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period.</a:t>
            </a:r>
            <a:r>
              <a:rPr dirty="0" sz="1000" spc="50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Fixed</a:t>
            </a:r>
            <a:r>
              <a:rPr dirty="0" sz="10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position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over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equator,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wide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coverage.</a:t>
            </a:r>
            <a:endParaRPr sz="1000">
              <a:latin typeface="Arial"/>
              <a:cs typeface="Arial"/>
            </a:endParaRPr>
          </a:p>
          <a:p>
            <a:pPr marL="12700" marR="649605">
              <a:lnSpc>
                <a:spcPct val="150000"/>
              </a:lnSpc>
            </a:pP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Used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for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TV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broadcasting,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weather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monitoring,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long-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distance</a:t>
            </a:r>
            <a:r>
              <a:rPr dirty="0" sz="10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communication.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Challenges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include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high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latency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0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1135"/>
                </a:solidFill>
                <a:latin typeface="Arial"/>
                <a:cs typeface="Arial"/>
              </a:rPr>
              <a:t>costs.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3226" y="1665630"/>
            <a:ext cx="4118330" cy="213697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50">
                <a:solidFill>
                  <a:srgbClr val="001135"/>
                </a:solidFill>
              </a:rPr>
              <a:t>7</a:t>
            </a:fld>
          </a:p>
        </p:txBody>
      </p:sp>
      <p:sp>
        <p:nvSpPr>
          <p:cNvPr id="2" name="object 2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2391" y="4533531"/>
            <a:ext cx="1681930" cy="609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849"/>
              <a:ext cx="9133319" cy="5123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516301"/>
              <a:ext cx="1645913" cy="2627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8589" y="1883575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18589" y="1883575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39995" y="1883575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039995" y="1883575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3602" y="2255647"/>
              <a:ext cx="1415389" cy="13678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5842" y="3912399"/>
              <a:ext cx="361269" cy="1888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07312" y="3909923"/>
              <a:ext cx="171103" cy="1916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72206" y="3889438"/>
              <a:ext cx="428938" cy="2258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0253" y="3981678"/>
              <a:ext cx="108404" cy="1355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9363" y="3898455"/>
              <a:ext cx="361293" cy="213677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3606686" y="187232"/>
            <a:ext cx="193040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0" marR="5080" indent="-127635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Arial"/>
                <a:cs typeface="Arial"/>
              </a:rPr>
              <a:t>Meet</a:t>
            </a:r>
            <a:r>
              <a:rPr dirty="0" sz="3600" spc="-15" b="0">
                <a:latin typeface="Arial"/>
                <a:cs typeface="Arial"/>
              </a:rPr>
              <a:t> </a:t>
            </a:r>
            <a:r>
              <a:rPr dirty="0" sz="3600" spc="-25" b="0">
                <a:latin typeface="Arial"/>
                <a:cs typeface="Arial"/>
              </a:rPr>
              <a:t>Our </a:t>
            </a:r>
            <a:r>
              <a:rPr dirty="0" sz="3600" spc="-10" b="0">
                <a:latin typeface="Arial"/>
                <a:cs typeface="Arial"/>
              </a:rPr>
              <a:t>Friends!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2291295"/>
            <a:ext cx="9142730" cy="2852420"/>
            <a:chOff x="0" y="2291295"/>
            <a:chExt cx="9142730" cy="2852420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4533531"/>
              <a:ext cx="9142222" cy="60996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14555" y="2291295"/>
              <a:ext cx="1498942" cy="1348739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10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4898" y="1055488"/>
            <a:ext cx="542607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"/>
                <a:cs typeface="Arial"/>
              </a:rPr>
              <a:t>Role</a:t>
            </a:r>
            <a:r>
              <a:rPr dirty="0" spc="-1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of</a:t>
            </a:r>
            <a:r>
              <a:rPr dirty="0" spc="-9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Satellites</a:t>
            </a:r>
            <a:r>
              <a:rPr dirty="0" spc="-95" b="0">
                <a:latin typeface="Arial"/>
                <a:cs typeface="Arial"/>
              </a:rPr>
              <a:t> </a:t>
            </a:r>
            <a:r>
              <a:rPr dirty="0" spc="-25" b="0">
                <a:latin typeface="Arial"/>
                <a:cs typeface="Arial"/>
              </a:rPr>
              <a:t>in </a:t>
            </a:r>
            <a:r>
              <a:rPr dirty="0" b="0">
                <a:latin typeface="Arial"/>
                <a:cs typeface="Arial"/>
              </a:rPr>
              <a:t>Aeronautical</a:t>
            </a:r>
            <a:r>
              <a:rPr dirty="0" spc="-225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Systems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10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4900" y="232247"/>
            <a:ext cx="4288790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01135"/>
                </a:solidFill>
                <a:latin typeface="Arial"/>
                <a:cs typeface="Arial"/>
              </a:rPr>
              <a:t>Meeting</a:t>
            </a:r>
            <a:r>
              <a:rPr dirty="0" sz="2000" spc="-50" b="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1135"/>
                </a:solidFill>
                <a:latin typeface="Arial"/>
                <a:cs typeface="Arial"/>
              </a:rPr>
              <a:t>The</a:t>
            </a:r>
            <a:r>
              <a:rPr dirty="0" sz="2000" spc="-45" b="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1135"/>
                </a:solidFill>
                <a:latin typeface="Arial"/>
                <a:cs typeface="Arial"/>
              </a:rPr>
              <a:t>Demands</a:t>
            </a:r>
            <a:r>
              <a:rPr dirty="0" sz="2000" spc="-45" b="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1135"/>
                </a:solidFill>
                <a:latin typeface="Arial"/>
                <a:cs typeface="Arial"/>
              </a:rPr>
              <a:t>of</a:t>
            </a:r>
            <a:r>
              <a:rPr dirty="0" sz="2000" spc="-45" b="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2000" spc="-10" b="0">
                <a:solidFill>
                  <a:srgbClr val="001135"/>
                </a:solidFill>
                <a:latin typeface="Arial"/>
                <a:cs typeface="Arial"/>
              </a:rPr>
              <a:t>Passengers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088" y="1001993"/>
            <a:ext cx="1446657" cy="19178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86102" y="997488"/>
            <a:ext cx="2106930" cy="95376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10"/>
              </a:lnSpc>
              <a:spcBef>
                <a:spcPts val="180"/>
              </a:spcBef>
            </a:pP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Worldwide</a:t>
            </a:r>
            <a:r>
              <a:rPr dirty="0" sz="1050" spc="-1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1135"/>
                </a:solidFill>
                <a:latin typeface="Arial"/>
                <a:cs typeface="Arial"/>
              </a:rPr>
              <a:t>travelers</a:t>
            </a:r>
            <a:r>
              <a:rPr dirty="0" sz="1050" spc="-1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now</a:t>
            </a:r>
            <a:r>
              <a:rPr dirty="0" sz="1050" spc="-1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1135"/>
                </a:solidFill>
                <a:latin typeface="Arial"/>
                <a:cs typeface="Arial"/>
              </a:rPr>
              <a:t>expect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to</a:t>
            </a:r>
            <a:r>
              <a:rPr dirty="0" sz="1050" spc="-3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stay</a:t>
            </a:r>
            <a:r>
              <a:rPr dirty="0" sz="1050" spc="-2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connected</a:t>
            </a:r>
            <a:r>
              <a:rPr dirty="0" sz="1050" spc="-2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via</a:t>
            </a:r>
            <a:r>
              <a:rPr dirty="0" sz="1050" spc="-2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their</a:t>
            </a:r>
            <a:r>
              <a:rPr dirty="0" sz="1050" spc="-2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1135"/>
                </a:solidFill>
                <a:latin typeface="Arial"/>
                <a:cs typeface="Arial"/>
              </a:rPr>
              <a:t>smart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devices</a:t>
            </a:r>
            <a:r>
              <a:rPr dirty="0" sz="1050" spc="-3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050" spc="-3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laptops</a:t>
            </a:r>
            <a:r>
              <a:rPr dirty="0" sz="1050" spc="-3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when</a:t>
            </a:r>
            <a:r>
              <a:rPr dirty="0" sz="1050" spc="-3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001135"/>
                </a:solidFill>
                <a:latin typeface="Arial"/>
                <a:cs typeface="Arial"/>
              </a:rPr>
              <a:t>they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are</a:t>
            </a:r>
            <a:r>
              <a:rPr dirty="0" sz="105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in</a:t>
            </a:r>
            <a:r>
              <a:rPr dirty="0" sz="105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the</a:t>
            </a:r>
            <a:r>
              <a:rPr dirty="0" sz="105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sky.</a:t>
            </a:r>
            <a:r>
              <a:rPr dirty="0" sz="105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In-</a:t>
            </a:r>
            <a:r>
              <a:rPr dirty="0" sz="1050" spc="-10" b="1">
                <a:solidFill>
                  <a:srgbClr val="001135"/>
                </a:solidFill>
                <a:latin typeface="Arial"/>
                <a:cs typeface="Arial"/>
              </a:rPr>
              <a:t>flight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connectivity</a:t>
            </a:r>
            <a:r>
              <a:rPr dirty="0" sz="1050" spc="-4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has</a:t>
            </a:r>
            <a:r>
              <a:rPr dirty="0" sz="1050" spc="-4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become</a:t>
            </a:r>
            <a:r>
              <a:rPr dirty="0" sz="1050" spc="-4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a</a:t>
            </a:r>
            <a:r>
              <a:rPr dirty="0" sz="1050" spc="-3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001135"/>
                </a:solidFill>
                <a:latin typeface="Arial"/>
                <a:cs typeface="Arial"/>
              </a:rPr>
              <a:t>key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differentiator</a:t>
            </a:r>
            <a:r>
              <a:rPr dirty="0" sz="1050" spc="-3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in</a:t>
            </a:r>
            <a:r>
              <a:rPr dirty="0" sz="1050" spc="-3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1135"/>
                </a:solidFill>
                <a:latin typeface="Arial"/>
                <a:cs typeface="Arial"/>
              </a:rPr>
              <a:t>airline</a:t>
            </a:r>
            <a:r>
              <a:rPr dirty="0" sz="1050" spc="-3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1135"/>
                </a:solidFill>
                <a:latin typeface="Arial"/>
                <a:cs typeface="Arial"/>
              </a:rPr>
              <a:t>choice.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97704" y="1316075"/>
            <a:ext cx="4266565" cy="1680210"/>
            <a:chOff x="4597704" y="1316075"/>
            <a:chExt cx="4266565" cy="16802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7704" y="1316075"/>
              <a:ext cx="4266209" cy="11498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87755" y="2453233"/>
              <a:ext cx="1529715" cy="543560"/>
            </a:xfrm>
            <a:custGeom>
              <a:avLst/>
              <a:gdLst/>
              <a:ahLst/>
              <a:cxnLst/>
              <a:rect l="l" t="t" r="r" b="b"/>
              <a:pathLst>
                <a:path w="1529715" h="543560">
                  <a:moveTo>
                    <a:pt x="1529448" y="0"/>
                  </a:moveTo>
                  <a:lnTo>
                    <a:pt x="0" y="0"/>
                  </a:lnTo>
                  <a:lnTo>
                    <a:pt x="0" y="542963"/>
                  </a:lnTo>
                  <a:lnTo>
                    <a:pt x="1529448" y="542963"/>
                  </a:lnTo>
                  <a:lnTo>
                    <a:pt x="1529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4597704" y="2453233"/>
            <a:ext cx="2044700" cy="543560"/>
          </a:xfrm>
          <a:custGeom>
            <a:avLst/>
            <a:gdLst/>
            <a:ahLst/>
            <a:cxnLst/>
            <a:rect l="l" t="t" r="r" b="b"/>
            <a:pathLst>
              <a:path w="2044700" h="543560">
                <a:moveTo>
                  <a:pt x="2044382" y="0"/>
                </a:moveTo>
                <a:lnTo>
                  <a:pt x="0" y="0"/>
                </a:lnTo>
                <a:lnTo>
                  <a:pt x="0" y="542963"/>
                </a:lnTo>
                <a:lnTo>
                  <a:pt x="2044382" y="542963"/>
                </a:lnTo>
                <a:lnTo>
                  <a:pt x="20443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6974" y="2438120"/>
            <a:ext cx="149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575" marR="5080" indent="-15621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Choose</a:t>
            </a:r>
            <a:r>
              <a:rPr dirty="0" sz="90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an</a:t>
            </a:r>
            <a:r>
              <a:rPr dirty="0" sz="90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airline</a:t>
            </a:r>
            <a:r>
              <a:rPr dirty="0" sz="90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based</a:t>
            </a:r>
            <a:r>
              <a:rPr dirty="0" sz="90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001135"/>
                </a:solidFill>
                <a:latin typeface="Arial"/>
                <a:cs typeface="Arial"/>
              </a:rPr>
              <a:t>on </a:t>
            </a:r>
            <a:r>
              <a:rPr dirty="0" sz="900" spc="-10" b="1">
                <a:solidFill>
                  <a:srgbClr val="001135"/>
                </a:solidFill>
                <a:latin typeface="Arial"/>
                <a:cs typeface="Arial"/>
              </a:rPr>
              <a:t>broadband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1135"/>
                </a:solidFill>
                <a:latin typeface="Arial"/>
                <a:cs typeface="Arial"/>
              </a:rPr>
              <a:t>availability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03088" y="2438120"/>
            <a:ext cx="1514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 indent="-29209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Say</a:t>
            </a:r>
            <a:r>
              <a:rPr dirty="0" sz="900" spc="-2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a</a:t>
            </a:r>
            <a:r>
              <a:rPr dirty="0" sz="90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reliable</a:t>
            </a:r>
            <a:r>
              <a:rPr dirty="0" sz="900" spc="-2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connection</a:t>
            </a:r>
            <a:r>
              <a:rPr dirty="0" sz="90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001135"/>
                </a:solidFill>
                <a:latin typeface="Arial"/>
                <a:cs typeface="Arial"/>
              </a:rPr>
              <a:t>is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more</a:t>
            </a:r>
            <a:r>
              <a:rPr dirty="0" sz="900" spc="-20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important</a:t>
            </a:r>
            <a:r>
              <a:rPr dirty="0" sz="900" spc="-1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1135"/>
                </a:solidFill>
                <a:latin typeface="Arial"/>
                <a:cs typeface="Arial"/>
              </a:rPr>
              <a:t>than</a:t>
            </a:r>
            <a:r>
              <a:rPr dirty="0" sz="900" spc="-15" b="1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1135"/>
                </a:solidFill>
                <a:latin typeface="Arial"/>
                <a:cs typeface="Arial"/>
              </a:rPr>
              <a:t>speed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828" y="3162109"/>
            <a:ext cx="3223895" cy="104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…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plus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airline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crews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asking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for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connectivity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with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ground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staff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for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airline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efficiency</a:t>
            </a:r>
            <a:r>
              <a:rPr dirty="0" sz="14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improvements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(electronic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1135"/>
                </a:solidFill>
                <a:latin typeface="Arial"/>
                <a:cs typeface="Arial"/>
              </a:rPr>
              <a:t>flight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bag,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info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on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gate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1135"/>
                </a:solidFill>
                <a:latin typeface="Arial"/>
                <a:cs typeface="Arial"/>
              </a:rPr>
              <a:t>changes,</a:t>
            </a:r>
            <a:r>
              <a:rPr dirty="0" sz="14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001135"/>
                </a:solidFill>
                <a:latin typeface="Arial"/>
                <a:cs typeface="Arial"/>
              </a:rPr>
              <a:t>…)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85663" y="2795473"/>
            <a:ext cx="2264905" cy="16223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06401" y="4844897"/>
            <a:ext cx="1384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1135"/>
                </a:solidFill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2412" y="4866017"/>
            <a:ext cx="554101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* 2016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In-Flight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Connectivity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Survey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conducted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by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Inmarsat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(LSE: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124191"/>
                </a:solidFill>
                <a:latin typeface="Arial"/>
                <a:cs typeface="Arial"/>
              </a:rPr>
              <a:t>ISAT.L),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the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leading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124191"/>
                </a:solidFill>
                <a:latin typeface="Arial"/>
                <a:cs typeface="Arial"/>
              </a:rPr>
              <a:t>provider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of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global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mobile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satellite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124191"/>
                </a:solidFill>
                <a:latin typeface="Arial"/>
                <a:cs typeface="Arial"/>
              </a:rPr>
              <a:t>communications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124191"/>
                </a:solidFill>
                <a:latin typeface="Arial"/>
                <a:cs typeface="Arial"/>
              </a:rPr>
              <a:t>services,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and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market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spc="-10" b="1">
                <a:solidFill>
                  <a:srgbClr val="124191"/>
                </a:solidFill>
                <a:latin typeface="Arial"/>
                <a:cs typeface="Arial"/>
              </a:rPr>
              <a:t>research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b="1">
                <a:solidFill>
                  <a:srgbClr val="124191"/>
                </a:solidFill>
                <a:latin typeface="Arial"/>
                <a:cs typeface="Arial"/>
              </a:rPr>
              <a:t>company</a:t>
            </a:r>
            <a:r>
              <a:rPr dirty="0" sz="500" spc="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500" spc="-20" b="1">
                <a:solidFill>
                  <a:srgbClr val="124191"/>
                </a:solidFill>
                <a:latin typeface="Arial"/>
                <a:cs typeface="Arial"/>
              </a:rPr>
              <a:t>GfK</a:t>
            </a:r>
            <a:r>
              <a:rPr dirty="0" sz="500" spc="-20">
                <a:solidFill>
                  <a:srgbClr val="124191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2391" y="4533531"/>
            <a:ext cx="1681930" cy="6099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88536" y="863455"/>
            <a:ext cx="8288020" cy="3623945"/>
            <a:chOff x="388536" y="863455"/>
            <a:chExt cx="8288020" cy="3623945"/>
          </a:xfrm>
        </p:grpSpPr>
        <p:sp>
          <p:nvSpPr>
            <p:cNvPr id="5" name="object 5"/>
            <p:cNvSpPr/>
            <p:nvPr/>
          </p:nvSpPr>
          <p:spPr>
            <a:xfrm>
              <a:off x="388536" y="863455"/>
              <a:ext cx="4104640" cy="3623945"/>
            </a:xfrm>
            <a:custGeom>
              <a:avLst/>
              <a:gdLst/>
              <a:ahLst/>
              <a:cxnLst/>
              <a:rect l="l" t="t" r="r" b="b"/>
              <a:pathLst>
                <a:path w="4104640" h="3623945">
                  <a:moveTo>
                    <a:pt x="0" y="3623551"/>
                  </a:moveTo>
                  <a:lnTo>
                    <a:pt x="4104012" y="3623551"/>
                  </a:lnTo>
                  <a:lnTo>
                    <a:pt x="4104012" y="0"/>
                  </a:lnTo>
                  <a:lnTo>
                    <a:pt x="0" y="0"/>
                  </a:lnTo>
                  <a:lnTo>
                    <a:pt x="0" y="3623551"/>
                  </a:lnTo>
                  <a:close/>
                </a:path>
              </a:pathLst>
            </a:custGeom>
            <a:solidFill>
              <a:srgbClr val="99B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92548" y="863455"/>
              <a:ext cx="4184015" cy="3623945"/>
            </a:xfrm>
            <a:custGeom>
              <a:avLst/>
              <a:gdLst/>
              <a:ahLst/>
              <a:cxnLst/>
              <a:rect l="l" t="t" r="r" b="b"/>
              <a:pathLst>
                <a:path w="4184015" h="3623945">
                  <a:moveTo>
                    <a:pt x="4183735" y="0"/>
                  </a:moveTo>
                  <a:lnTo>
                    <a:pt x="0" y="0"/>
                  </a:lnTo>
                  <a:lnTo>
                    <a:pt x="0" y="3623551"/>
                  </a:lnTo>
                  <a:lnTo>
                    <a:pt x="4183735" y="3623551"/>
                  </a:lnTo>
                  <a:lnTo>
                    <a:pt x="4183735" y="0"/>
                  </a:lnTo>
                  <a:close/>
                </a:path>
              </a:pathLst>
            </a:custGeom>
            <a:solidFill>
              <a:srgbClr val="CCDE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617481" y="2041601"/>
            <a:ext cx="339725" cy="323215"/>
          </a:xfrm>
          <a:custGeom>
            <a:avLst/>
            <a:gdLst/>
            <a:ahLst/>
            <a:cxnLst/>
            <a:rect l="l" t="t" r="r" b="b"/>
            <a:pathLst>
              <a:path w="339725" h="323214">
                <a:moveTo>
                  <a:pt x="169754" y="0"/>
                </a:moveTo>
                <a:lnTo>
                  <a:pt x="124845" y="5809"/>
                </a:lnTo>
                <a:lnTo>
                  <a:pt x="84355" y="22180"/>
                </a:lnTo>
                <a:lnTo>
                  <a:pt x="49955" y="47521"/>
                </a:lnTo>
                <a:lnTo>
                  <a:pt x="23316" y="80245"/>
                </a:lnTo>
                <a:lnTo>
                  <a:pt x="6107" y="118761"/>
                </a:lnTo>
                <a:lnTo>
                  <a:pt x="0" y="161480"/>
                </a:lnTo>
                <a:lnTo>
                  <a:pt x="6107" y="204198"/>
                </a:lnTo>
                <a:lnTo>
                  <a:pt x="23316" y="242712"/>
                </a:lnTo>
                <a:lnTo>
                  <a:pt x="49955" y="275432"/>
                </a:lnTo>
                <a:lnTo>
                  <a:pt x="84355" y="300771"/>
                </a:lnTo>
                <a:lnTo>
                  <a:pt x="124845" y="317139"/>
                </a:lnTo>
                <a:lnTo>
                  <a:pt x="169754" y="322948"/>
                </a:lnTo>
                <a:lnTo>
                  <a:pt x="214663" y="317139"/>
                </a:lnTo>
                <a:lnTo>
                  <a:pt x="255153" y="300771"/>
                </a:lnTo>
                <a:lnTo>
                  <a:pt x="289553" y="275432"/>
                </a:lnTo>
                <a:lnTo>
                  <a:pt x="316192" y="242712"/>
                </a:lnTo>
                <a:lnTo>
                  <a:pt x="333401" y="204198"/>
                </a:lnTo>
                <a:lnTo>
                  <a:pt x="339509" y="161480"/>
                </a:lnTo>
                <a:lnTo>
                  <a:pt x="333401" y="118761"/>
                </a:lnTo>
                <a:lnTo>
                  <a:pt x="316192" y="80245"/>
                </a:lnTo>
                <a:lnTo>
                  <a:pt x="289553" y="47521"/>
                </a:lnTo>
                <a:lnTo>
                  <a:pt x="255153" y="22180"/>
                </a:lnTo>
                <a:lnTo>
                  <a:pt x="214663" y="5809"/>
                </a:lnTo>
                <a:lnTo>
                  <a:pt x="169754" y="0"/>
                </a:lnTo>
                <a:close/>
              </a:path>
            </a:pathLst>
          </a:custGeom>
          <a:solidFill>
            <a:srgbClr val="2D5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05461" y="1875561"/>
            <a:ext cx="3590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L</a:t>
            </a:r>
            <a:r>
              <a:rPr dirty="0" sz="1200" spc="-585">
                <a:solidFill>
                  <a:srgbClr val="001135"/>
                </a:solidFill>
                <a:latin typeface="Arial"/>
                <a:cs typeface="Arial"/>
              </a:rPr>
              <a:t>o</a:t>
            </a:r>
            <a:r>
              <a:rPr dirty="0" baseline="-23148" sz="3600" spc="-123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wer cost</a:t>
            </a:r>
            <a:r>
              <a:rPr dirty="0" sz="1200" spc="-3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per</a:t>
            </a:r>
            <a:r>
              <a:rPr dirty="0" sz="12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bit</a:t>
            </a:r>
            <a:r>
              <a:rPr dirty="0" sz="12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for</a:t>
            </a:r>
            <a:r>
              <a:rPr dirty="0" sz="12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affordable</a:t>
            </a:r>
            <a:r>
              <a:rPr dirty="0" sz="12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broadband</a:t>
            </a:r>
            <a:r>
              <a:rPr dirty="0" sz="12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1040" y="905622"/>
            <a:ext cx="6663690" cy="1482090"/>
            <a:chOff x="621040" y="905622"/>
            <a:chExt cx="6663690" cy="148209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40" y="1340497"/>
              <a:ext cx="922416" cy="4904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2345" y="1506867"/>
              <a:ext cx="922414" cy="4904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9608" y="905622"/>
              <a:ext cx="675116" cy="6769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675058" y="1475181"/>
              <a:ext cx="969010" cy="277495"/>
            </a:xfrm>
            <a:custGeom>
              <a:avLst/>
              <a:gdLst/>
              <a:ahLst/>
              <a:cxnLst/>
              <a:rect l="l" t="t" r="r" b="b"/>
              <a:pathLst>
                <a:path w="969009" h="277494">
                  <a:moveTo>
                    <a:pt x="0" y="276898"/>
                  </a:moveTo>
                  <a:lnTo>
                    <a:pt x="968783" y="0"/>
                  </a:lnTo>
                </a:path>
              </a:pathLst>
            </a:custGeom>
            <a:ln w="6349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1883" y="1694929"/>
              <a:ext cx="84852" cy="750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2163" y="1457299"/>
              <a:ext cx="84853" cy="7503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836642" y="2074544"/>
              <a:ext cx="315595" cy="313055"/>
            </a:xfrm>
            <a:custGeom>
              <a:avLst/>
              <a:gdLst/>
              <a:ahLst/>
              <a:cxnLst/>
              <a:rect l="l" t="t" r="r" b="b"/>
              <a:pathLst>
                <a:path w="315595" h="313055">
                  <a:moveTo>
                    <a:pt x="157547" y="0"/>
                  </a:moveTo>
                  <a:lnTo>
                    <a:pt x="107973" y="8031"/>
                  </a:lnTo>
                  <a:lnTo>
                    <a:pt x="64753" y="30351"/>
                  </a:lnTo>
                  <a:lnTo>
                    <a:pt x="30565" y="64300"/>
                  </a:lnTo>
                  <a:lnTo>
                    <a:pt x="8087" y="107216"/>
                  </a:lnTo>
                  <a:lnTo>
                    <a:pt x="0" y="156438"/>
                  </a:lnTo>
                  <a:lnTo>
                    <a:pt x="8087" y="205666"/>
                  </a:lnTo>
                  <a:lnTo>
                    <a:pt x="30565" y="248586"/>
                  </a:lnTo>
                  <a:lnTo>
                    <a:pt x="64753" y="282537"/>
                  </a:lnTo>
                  <a:lnTo>
                    <a:pt x="107973" y="304858"/>
                  </a:lnTo>
                  <a:lnTo>
                    <a:pt x="157547" y="312889"/>
                  </a:lnTo>
                  <a:lnTo>
                    <a:pt x="207120" y="304858"/>
                  </a:lnTo>
                  <a:lnTo>
                    <a:pt x="250340" y="282537"/>
                  </a:lnTo>
                  <a:lnTo>
                    <a:pt x="284529" y="248586"/>
                  </a:lnTo>
                  <a:lnTo>
                    <a:pt x="307006" y="205666"/>
                  </a:lnTo>
                  <a:lnTo>
                    <a:pt x="315094" y="156438"/>
                  </a:lnTo>
                  <a:lnTo>
                    <a:pt x="307006" y="107216"/>
                  </a:lnTo>
                  <a:lnTo>
                    <a:pt x="284529" y="64300"/>
                  </a:lnTo>
                  <a:lnTo>
                    <a:pt x="250340" y="30351"/>
                  </a:lnTo>
                  <a:lnTo>
                    <a:pt x="207120" y="8031"/>
                  </a:lnTo>
                  <a:lnTo>
                    <a:pt x="15754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671866" y="1309801"/>
              <a:ext cx="590550" cy="241935"/>
            </a:xfrm>
            <a:custGeom>
              <a:avLst/>
              <a:gdLst/>
              <a:ahLst/>
              <a:cxnLst/>
              <a:rect l="l" t="t" r="r" b="b"/>
              <a:pathLst>
                <a:path w="590550" h="241934">
                  <a:moveTo>
                    <a:pt x="0" y="241744"/>
                  </a:moveTo>
                  <a:lnTo>
                    <a:pt x="590155" y="0"/>
                  </a:lnTo>
                </a:path>
              </a:pathLst>
            </a:custGeom>
            <a:ln w="6349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8691" y="1488236"/>
              <a:ext cx="85995" cy="7245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79200" y="1300657"/>
              <a:ext cx="85995" cy="7245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35483" y="161663"/>
            <a:ext cx="4928235" cy="11080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220"/>
              </a:spcBef>
            </a:pPr>
            <a:r>
              <a:rPr dirty="0" sz="2000" b="1">
                <a:solidFill>
                  <a:srgbClr val="124191"/>
                </a:solidFill>
                <a:latin typeface="Arial"/>
                <a:cs typeface="Arial"/>
              </a:rPr>
              <a:t>Choosing</a:t>
            </a:r>
            <a:r>
              <a:rPr dirty="0" sz="2000" spc="-40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24191"/>
                </a:solidFill>
                <a:latin typeface="Arial"/>
                <a:cs typeface="Arial"/>
              </a:rPr>
              <a:t>The</a:t>
            </a:r>
            <a:r>
              <a:rPr dirty="0" sz="2000" spc="-3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24191"/>
                </a:solidFill>
                <a:latin typeface="Arial"/>
                <a:cs typeface="Arial"/>
              </a:rPr>
              <a:t>Right</a:t>
            </a:r>
            <a:r>
              <a:rPr dirty="0" sz="2000" spc="-3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24191"/>
                </a:solidFill>
                <a:latin typeface="Arial"/>
                <a:cs typeface="Arial"/>
              </a:rPr>
              <a:t>Orbit</a:t>
            </a:r>
            <a:r>
              <a:rPr dirty="0" sz="2000" spc="-3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24191"/>
                </a:solidFill>
                <a:latin typeface="Arial"/>
                <a:cs typeface="Arial"/>
              </a:rPr>
              <a:t>For</a:t>
            </a:r>
            <a:r>
              <a:rPr dirty="0" sz="2000" spc="-3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24191"/>
                </a:solidFill>
                <a:latin typeface="Arial"/>
                <a:cs typeface="Arial"/>
              </a:rPr>
              <a:t>The</a:t>
            </a:r>
            <a:r>
              <a:rPr dirty="0" sz="2000" spc="-35" b="1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24191"/>
                </a:solidFill>
                <a:latin typeface="Arial"/>
                <a:cs typeface="Arial"/>
              </a:rPr>
              <a:t>Skies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Two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main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options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connect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aircrafts</a:t>
            </a:r>
            <a:endParaRPr sz="18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1335"/>
              </a:spcBef>
              <a:tabLst>
                <a:tab pos="4350385" algn="l"/>
              </a:tabLst>
            </a:pPr>
            <a:r>
              <a:rPr dirty="0" sz="2000" spc="-25">
                <a:solidFill>
                  <a:srgbClr val="666666"/>
                </a:solidFill>
                <a:latin typeface="Arial"/>
                <a:cs typeface="Arial"/>
              </a:rPr>
              <a:t>LEO</a:t>
            </a:r>
            <a:r>
              <a:rPr dirty="0" sz="2000">
                <a:solidFill>
                  <a:srgbClr val="666666"/>
                </a:solidFill>
                <a:latin typeface="Arial"/>
                <a:cs typeface="Arial"/>
              </a:rPr>
              <a:t>	</a:t>
            </a:r>
            <a:r>
              <a:rPr dirty="0" sz="2000" spc="-25">
                <a:solidFill>
                  <a:srgbClr val="666666"/>
                </a:solidFill>
                <a:latin typeface="Arial"/>
                <a:cs typeface="Arial"/>
              </a:rPr>
              <a:t>GEO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861" y="2388641"/>
            <a:ext cx="830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Low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 latency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861" y="2749321"/>
            <a:ext cx="3175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Quick</a:t>
            </a:r>
            <a:r>
              <a:rPr dirty="0" sz="12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on-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board</a:t>
            </a:r>
            <a:r>
              <a:rPr dirty="0" sz="12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equipment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installation</a:t>
            </a:r>
            <a:r>
              <a:rPr dirty="0" sz="1200" spc="-2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time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001135"/>
                </a:solidFill>
                <a:latin typeface="Arial"/>
                <a:cs typeface="Arial"/>
              </a:rPr>
              <a:t>(no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5067" y="2513749"/>
            <a:ext cx="339725" cy="323215"/>
          </a:xfrm>
          <a:custGeom>
            <a:avLst/>
            <a:gdLst/>
            <a:ahLst/>
            <a:cxnLst/>
            <a:rect l="l" t="t" r="r" b="b"/>
            <a:pathLst>
              <a:path w="339725" h="323214">
                <a:moveTo>
                  <a:pt x="169754" y="0"/>
                </a:moveTo>
                <a:lnTo>
                  <a:pt x="124845" y="5809"/>
                </a:lnTo>
                <a:lnTo>
                  <a:pt x="84355" y="22180"/>
                </a:lnTo>
                <a:lnTo>
                  <a:pt x="49955" y="47521"/>
                </a:lnTo>
                <a:lnTo>
                  <a:pt x="23316" y="80245"/>
                </a:lnTo>
                <a:lnTo>
                  <a:pt x="6107" y="118761"/>
                </a:lnTo>
                <a:lnTo>
                  <a:pt x="0" y="161480"/>
                </a:lnTo>
                <a:lnTo>
                  <a:pt x="6107" y="204198"/>
                </a:lnTo>
                <a:lnTo>
                  <a:pt x="23316" y="242712"/>
                </a:lnTo>
                <a:lnTo>
                  <a:pt x="49955" y="275432"/>
                </a:lnTo>
                <a:lnTo>
                  <a:pt x="84355" y="300771"/>
                </a:lnTo>
                <a:lnTo>
                  <a:pt x="124845" y="317139"/>
                </a:lnTo>
                <a:lnTo>
                  <a:pt x="169754" y="322948"/>
                </a:lnTo>
                <a:lnTo>
                  <a:pt x="214663" y="317139"/>
                </a:lnTo>
                <a:lnTo>
                  <a:pt x="255153" y="300771"/>
                </a:lnTo>
                <a:lnTo>
                  <a:pt x="289553" y="275432"/>
                </a:lnTo>
                <a:lnTo>
                  <a:pt x="316192" y="242712"/>
                </a:lnTo>
                <a:lnTo>
                  <a:pt x="333401" y="204198"/>
                </a:lnTo>
                <a:lnTo>
                  <a:pt x="339509" y="161480"/>
                </a:lnTo>
                <a:lnTo>
                  <a:pt x="333401" y="118761"/>
                </a:lnTo>
                <a:lnTo>
                  <a:pt x="316192" y="80245"/>
                </a:lnTo>
                <a:lnTo>
                  <a:pt x="289553" y="47521"/>
                </a:lnTo>
                <a:lnTo>
                  <a:pt x="255153" y="22180"/>
                </a:lnTo>
                <a:lnTo>
                  <a:pt x="214663" y="5809"/>
                </a:lnTo>
                <a:lnTo>
                  <a:pt x="169754" y="0"/>
                </a:lnTo>
                <a:close/>
              </a:path>
            </a:pathLst>
          </a:custGeom>
          <a:solidFill>
            <a:srgbClr val="2D5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24086" y="2473198"/>
            <a:ext cx="2038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83125" y="1002036"/>
            <a:ext cx="3068955" cy="1789430"/>
            <a:chOff x="2083125" y="1002036"/>
            <a:chExt cx="3068955" cy="1789430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3125" y="1002036"/>
              <a:ext cx="675115" cy="6769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836642" y="2478544"/>
              <a:ext cx="315595" cy="313055"/>
            </a:xfrm>
            <a:custGeom>
              <a:avLst/>
              <a:gdLst/>
              <a:ahLst/>
              <a:cxnLst/>
              <a:rect l="l" t="t" r="r" b="b"/>
              <a:pathLst>
                <a:path w="315595" h="313055">
                  <a:moveTo>
                    <a:pt x="157547" y="0"/>
                  </a:moveTo>
                  <a:lnTo>
                    <a:pt x="107973" y="8031"/>
                  </a:lnTo>
                  <a:lnTo>
                    <a:pt x="64753" y="30351"/>
                  </a:lnTo>
                  <a:lnTo>
                    <a:pt x="30565" y="64300"/>
                  </a:lnTo>
                  <a:lnTo>
                    <a:pt x="8087" y="107216"/>
                  </a:lnTo>
                  <a:lnTo>
                    <a:pt x="0" y="156438"/>
                  </a:lnTo>
                  <a:lnTo>
                    <a:pt x="8087" y="205666"/>
                  </a:lnTo>
                  <a:lnTo>
                    <a:pt x="30565" y="248586"/>
                  </a:lnTo>
                  <a:lnTo>
                    <a:pt x="64753" y="282537"/>
                  </a:lnTo>
                  <a:lnTo>
                    <a:pt x="107973" y="304858"/>
                  </a:lnTo>
                  <a:lnTo>
                    <a:pt x="157547" y="312889"/>
                  </a:lnTo>
                  <a:lnTo>
                    <a:pt x="207120" y="304858"/>
                  </a:lnTo>
                  <a:lnTo>
                    <a:pt x="250340" y="282537"/>
                  </a:lnTo>
                  <a:lnTo>
                    <a:pt x="284529" y="248586"/>
                  </a:lnTo>
                  <a:lnTo>
                    <a:pt x="307006" y="205666"/>
                  </a:lnTo>
                  <a:lnTo>
                    <a:pt x="315094" y="156438"/>
                  </a:lnTo>
                  <a:lnTo>
                    <a:pt x="307006" y="107216"/>
                  </a:lnTo>
                  <a:lnTo>
                    <a:pt x="284529" y="64300"/>
                  </a:lnTo>
                  <a:lnTo>
                    <a:pt x="250340" y="30351"/>
                  </a:lnTo>
                  <a:lnTo>
                    <a:pt x="207120" y="8031"/>
                  </a:lnTo>
                  <a:lnTo>
                    <a:pt x="15754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828971" y="1871230"/>
            <a:ext cx="1312545" cy="87376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38100" marR="30480">
              <a:lnSpc>
                <a:spcPct val="74000"/>
              </a:lnSpc>
              <a:spcBef>
                <a:spcPts val="1095"/>
              </a:spcBef>
            </a:pPr>
            <a:r>
              <a:rPr dirty="0" sz="1200" spc="-180">
                <a:solidFill>
                  <a:srgbClr val="001135"/>
                </a:solidFill>
                <a:latin typeface="Arial"/>
                <a:cs typeface="Arial"/>
              </a:rPr>
              <a:t>H</a:t>
            </a:r>
            <a:r>
              <a:rPr dirty="0" baseline="-13020" sz="4800" spc="-1335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igher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cost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per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001135"/>
                </a:solidFill>
                <a:latin typeface="Arial"/>
                <a:cs typeface="Arial"/>
              </a:rPr>
              <a:t>bit </a:t>
            </a:r>
            <a:r>
              <a:rPr dirty="0" sz="1200" spc="-180">
                <a:solidFill>
                  <a:srgbClr val="001135"/>
                </a:solidFill>
                <a:latin typeface="Arial"/>
                <a:cs typeface="Arial"/>
              </a:rPr>
              <a:t>H</a:t>
            </a:r>
            <a:r>
              <a:rPr dirty="0" baseline="-19097" sz="4800" spc="-1335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igh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 latency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54371" y="2846590"/>
            <a:ext cx="2532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Long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on-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board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equipment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installation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23361" y="2934487"/>
            <a:ext cx="339725" cy="323215"/>
          </a:xfrm>
          <a:custGeom>
            <a:avLst/>
            <a:gdLst/>
            <a:ahLst/>
            <a:cxnLst/>
            <a:rect l="l" t="t" r="r" b="b"/>
            <a:pathLst>
              <a:path w="339725" h="323214">
                <a:moveTo>
                  <a:pt x="169754" y="0"/>
                </a:moveTo>
                <a:lnTo>
                  <a:pt x="124845" y="5809"/>
                </a:lnTo>
                <a:lnTo>
                  <a:pt x="84355" y="22180"/>
                </a:lnTo>
                <a:lnTo>
                  <a:pt x="49955" y="47521"/>
                </a:lnTo>
                <a:lnTo>
                  <a:pt x="23316" y="80245"/>
                </a:lnTo>
                <a:lnTo>
                  <a:pt x="6107" y="118761"/>
                </a:lnTo>
                <a:lnTo>
                  <a:pt x="0" y="161480"/>
                </a:lnTo>
                <a:lnTo>
                  <a:pt x="6107" y="204198"/>
                </a:lnTo>
                <a:lnTo>
                  <a:pt x="23316" y="242712"/>
                </a:lnTo>
                <a:lnTo>
                  <a:pt x="49955" y="275432"/>
                </a:lnTo>
                <a:lnTo>
                  <a:pt x="84355" y="300771"/>
                </a:lnTo>
                <a:lnTo>
                  <a:pt x="124845" y="317139"/>
                </a:lnTo>
                <a:lnTo>
                  <a:pt x="169754" y="322948"/>
                </a:lnTo>
                <a:lnTo>
                  <a:pt x="214663" y="317139"/>
                </a:lnTo>
                <a:lnTo>
                  <a:pt x="255153" y="300771"/>
                </a:lnTo>
                <a:lnTo>
                  <a:pt x="289553" y="275432"/>
                </a:lnTo>
                <a:lnTo>
                  <a:pt x="316192" y="242712"/>
                </a:lnTo>
                <a:lnTo>
                  <a:pt x="333401" y="204198"/>
                </a:lnTo>
                <a:lnTo>
                  <a:pt x="339509" y="161480"/>
                </a:lnTo>
                <a:lnTo>
                  <a:pt x="333401" y="118761"/>
                </a:lnTo>
                <a:lnTo>
                  <a:pt x="316192" y="80245"/>
                </a:lnTo>
                <a:lnTo>
                  <a:pt x="289553" y="47521"/>
                </a:lnTo>
                <a:lnTo>
                  <a:pt x="255153" y="22180"/>
                </a:lnTo>
                <a:lnTo>
                  <a:pt x="214663" y="5809"/>
                </a:lnTo>
                <a:lnTo>
                  <a:pt x="169754" y="0"/>
                </a:lnTo>
                <a:close/>
              </a:path>
            </a:pathLst>
          </a:custGeom>
          <a:solidFill>
            <a:srgbClr val="2D5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32382" y="2893936"/>
            <a:ext cx="2038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5261" y="2932201"/>
            <a:ext cx="1042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immobilization)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843030" y="2888983"/>
            <a:ext cx="315595" cy="313055"/>
          </a:xfrm>
          <a:custGeom>
            <a:avLst/>
            <a:gdLst/>
            <a:ahLst/>
            <a:cxnLst/>
            <a:rect l="l" t="t" r="r" b="b"/>
            <a:pathLst>
              <a:path w="315595" h="313055">
                <a:moveTo>
                  <a:pt x="157547" y="0"/>
                </a:moveTo>
                <a:lnTo>
                  <a:pt x="107973" y="8031"/>
                </a:lnTo>
                <a:lnTo>
                  <a:pt x="64753" y="30351"/>
                </a:lnTo>
                <a:lnTo>
                  <a:pt x="30565" y="64300"/>
                </a:lnTo>
                <a:lnTo>
                  <a:pt x="8087" y="107216"/>
                </a:lnTo>
                <a:lnTo>
                  <a:pt x="0" y="156438"/>
                </a:lnTo>
                <a:lnTo>
                  <a:pt x="8087" y="205666"/>
                </a:lnTo>
                <a:lnTo>
                  <a:pt x="30565" y="248586"/>
                </a:lnTo>
                <a:lnTo>
                  <a:pt x="64753" y="282537"/>
                </a:lnTo>
                <a:lnTo>
                  <a:pt x="107973" y="304858"/>
                </a:lnTo>
                <a:lnTo>
                  <a:pt x="157547" y="312889"/>
                </a:lnTo>
                <a:lnTo>
                  <a:pt x="207120" y="304858"/>
                </a:lnTo>
                <a:lnTo>
                  <a:pt x="250340" y="282537"/>
                </a:lnTo>
                <a:lnTo>
                  <a:pt x="284529" y="248586"/>
                </a:lnTo>
                <a:lnTo>
                  <a:pt x="307006" y="205666"/>
                </a:lnTo>
                <a:lnTo>
                  <a:pt x="315094" y="156438"/>
                </a:lnTo>
                <a:lnTo>
                  <a:pt x="307006" y="107216"/>
                </a:lnTo>
                <a:lnTo>
                  <a:pt x="284529" y="64300"/>
                </a:lnTo>
                <a:lnTo>
                  <a:pt x="250340" y="30351"/>
                </a:lnTo>
                <a:lnTo>
                  <a:pt x="207120" y="8031"/>
                </a:lnTo>
                <a:lnTo>
                  <a:pt x="15754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948478" y="3034283"/>
            <a:ext cx="2768600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9"/>
              </a:lnSpc>
              <a:tabLst>
                <a:tab pos="832485" algn="l"/>
              </a:tabLst>
            </a:pP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-	</a:t>
            </a:r>
            <a:r>
              <a:rPr dirty="0" baseline="2314" sz="1800">
                <a:solidFill>
                  <a:srgbClr val="001135"/>
                </a:solidFill>
                <a:latin typeface="Arial"/>
                <a:cs typeface="Arial"/>
              </a:rPr>
              <a:t>time</a:t>
            </a:r>
            <a:r>
              <a:rPr dirty="0" baseline="2314" sz="18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baseline="2314" sz="1800">
                <a:solidFill>
                  <a:srgbClr val="001135"/>
                </a:solidFill>
                <a:latin typeface="Arial"/>
                <a:cs typeface="Arial"/>
              </a:rPr>
              <a:t>(1</a:t>
            </a:r>
            <a:r>
              <a:rPr dirty="0" baseline="2314" sz="1800" spc="-7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baseline="2314" sz="1800">
                <a:solidFill>
                  <a:srgbClr val="001135"/>
                </a:solidFill>
                <a:latin typeface="Arial"/>
                <a:cs typeface="Arial"/>
              </a:rPr>
              <a:t>week</a:t>
            </a:r>
            <a:r>
              <a:rPr dirty="0" baseline="2314" sz="1800" spc="-7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baseline="2314" sz="1800" spc="-15">
                <a:solidFill>
                  <a:srgbClr val="001135"/>
                </a:solidFill>
                <a:latin typeface="Arial"/>
                <a:cs typeface="Arial"/>
              </a:rPr>
              <a:t>immobilization)</a:t>
            </a:r>
            <a:endParaRPr baseline="2314"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861" y="3292881"/>
            <a:ext cx="2192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Low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on-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board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equipment</a:t>
            </a:r>
            <a:r>
              <a:rPr dirty="0" sz="12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weight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29376" y="3410013"/>
            <a:ext cx="339725" cy="323215"/>
          </a:xfrm>
          <a:custGeom>
            <a:avLst/>
            <a:gdLst/>
            <a:ahLst/>
            <a:cxnLst/>
            <a:rect l="l" t="t" r="r" b="b"/>
            <a:pathLst>
              <a:path w="339725" h="323214">
                <a:moveTo>
                  <a:pt x="169754" y="0"/>
                </a:moveTo>
                <a:lnTo>
                  <a:pt x="124845" y="5809"/>
                </a:lnTo>
                <a:lnTo>
                  <a:pt x="84355" y="22180"/>
                </a:lnTo>
                <a:lnTo>
                  <a:pt x="49955" y="47521"/>
                </a:lnTo>
                <a:lnTo>
                  <a:pt x="23316" y="80245"/>
                </a:lnTo>
                <a:lnTo>
                  <a:pt x="6107" y="118761"/>
                </a:lnTo>
                <a:lnTo>
                  <a:pt x="0" y="161480"/>
                </a:lnTo>
                <a:lnTo>
                  <a:pt x="6107" y="204198"/>
                </a:lnTo>
                <a:lnTo>
                  <a:pt x="23316" y="242712"/>
                </a:lnTo>
                <a:lnTo>
                  <a:pt x="49955" y="275432"/>
                </a:lnTo>
                <a:lnTo>
                  <a:pt x="84355" y="300771"/>
                </a:lnTo>
                <a:lnTo>
                  <a:pt x="124845" y="317139"/>
                </a:lnTo>
                <a:lnTo>
                  <a:pt x="169754" y="322948"/>
                </a:lnTo>
                <a:lnTo>
                  <a:pt x="214663" y="317139"/>
                </a:lnTo>
                <a:lnTo>
                  <a:pt x="255153" y="300771"/>
                </a:lnTo>
                <a:lnTo>
                  <a:pt x="289553" y="275432"/>
                </a:lnTo>
                <a:lnTo>
                  <a:pt x="316192" y="242712"/>
                </a:lnTo>
                <a:lnTo>
                  <a:pt x="333401" y="204198"/>
                </a:lnTo>
                <a:lnTo>
                  <a:pt x="339509" y="161480"/>
                </a:lnTo>
                <a:lnTo>
                  <a:pt x="333401" y="118761"/>
                </a:lnTo>
                <a:lnTo>
                  <a:pt x="316192" y="80245"/>
                </a:lnTo>
                <a:lnTo>
                  <a:pt x="289553" y="47521"/>
                </a:lnTo>
                <a:lnTo>
                  <a:pt x="255153" y="22180"/>
                </a:lnTo>
                <a:lnTo>
                  <a:pt x="214663" y="5809"/>
                </a:lnTo>
                <a:lnTo>
                  <a:pt x="169754" y="0"/>
                </a:lnTo>
                <a:close/>
              </a:path>
            </a:pathLst>
          </a:custGeom>
          <a:solidFill>
            <a:srgbClr val="2D5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38397" y="3369449"/>
            <a:ext cx="2038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4371" y="3390150"/>
            <a:ext cx="2226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High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on-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board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equipment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weight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5261" y="3475761"/>
            <a:ext cx="2295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(lower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fuel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consumption)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size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836642" y="3403688"/>
            <a:ext cx="315595" cy="313055"/>
          </a:xfrm>
          <a:custGeom>
            <a:avLst/>
            <a:gdLst/>
            <a:ahLst/>
            <a:cxnLst/>
            <a:rect l="l" t="t" r="r" b="b"/>
            <a:pathLst>
              <a:path w="315595" h="313054">
                <a:moveTo>
                  <a:pt x="157547" y="0"/>
                </a:moveTo>
                <a:lnTo>
                  <a:pt x="107973" y="8031"/>
                </a:lnTo>
                <a:lnTo>
                  <a:pt x="64753" y="30351"/>
                </a:lnTo>
                <a:lnTo>
                  <a:pt x="30565" y="64300"/>
                </a:lnTo>
                <a:lnTo>
                  <a:pt x="8087" y="107216"/>
                </a:lnTo>
                <a:lnTo>
                  <a:pt x="0" y="156438"/>
                </a:lnTo>
                <a:lnTo>
                  <a:pt x="8087" y="205666"/>
                </a:lnTo>
                <a:lnTo>
                  <a:pt x="30565" y="248586"/>
                </a:lnTo>
                <a:lnTo>
                  <a:pt x="64753" y="282537"/>
                </a:lnTo>
                <a:lnTo>
                  <a:pt x="107973" y="304858"/>
                </a:lnTo>
                <a:lnTo>
                  <a:pt x="157547" y="312889"/>
                </a:lnTo>
                <a:lnTo>
                  <a:pt x="207120" y="304858"/>
                </a:lnTo>
                <a:lnTo>
                  <a:pt x="250340" y="282537"/>
                </a:lnTo>
                <a:lnTo>
                  <a:pt x="284529" y="248586"/>
                </a:lnTo>
                <a:lnTo>
                  <a:pt x="307006" y="205666"/>
                </a:lnTo>
                <a:lnTo>
                  <a:pt x="315094" y="156438"/>
                </a:lnTo>
                <a:lnTo>
                  <a:pt x="307006" y="107216"/>
                </a:lnTo>
                <a:lnTo>
                  <a:pt x="284529" y="64300"/>
                </a:lnTo>
                <a:lnTo>
                  <a:pt x="250340" y="30351"/>
                </a:lnTo>
                <a:lnTo>
                  <a:pt x="207120" y="8031"/>
                </a:lnTo>
                <a:lnTo>
                  <a:pt x="157547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942090" y="3294989"/>
            <a:ext cx="1485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890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68771" y="3573030"/>
            <a:ext cx="2355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(higher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fuel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consumption)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001135"/>
                </a:solidFill>
                <a:latin typeface="Arial"/>
                <a:cs typeface="Arial"/>
              </a:rPr>
              <a:t>size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861" y="3836441"/>
            <a:ext cx="1423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Covers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land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and</a:t>
            </a:r>
            <a:r>
              <a:rPr dirty="0" sz="1200" spc="-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001135"/>
                </a:solidFill>
                <a:latin typeface="Arial"/>
                <a:cs typeface="Arial"/>
              </a:rPr>
              <a:t>sea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34700" y="3948506"/>
            <a:ext cx="339725" cy="323215"/>
          </a:xfrm>
          <a:custGeom>
            <a:avLst/>
            <a:gdLst/>
            <a:ahLst/>
            <a:cxnLst/>
            <a:rect l="l" t="t" r="r" b="b"/>
            <a:pathLst>
              <a:path w="339725" h="323214">
                <a:moveTo>
                  <a:pt x="169754" y="0"/>
                </a:moveTo>
                <a:lnTo>
                  <a:pt x="124845" y="5809"/>
                </a:lnTo>
                <a:lnTo>
                  <a:pt x="84355" y="22180"/>
                </a:lnTo>
                <a:lnTo>
                  <a:pt x="49955" y="47521"/>
                </a:lnTo>
                <a:lnTo>
                  <a:pt x="23316" y="80245"/>
                </a:lnTo>
                <a:lnTo>
                  <a:pt x="6107" y="118761"/>
                </a:lnTo>
                <a:lnTo>
                  <a:pt x="0" y="161480"/>
                </a:lnTo>
                <a:lnTo>
                  <a:pt x="6107" y="204198"/>
                </a:lnTo>
                <a:lnTo>
                  <a:pt x="23316" y="242712"/>
                </a:lnTo>
                <a:lnTo>
                  <a:pt x="49955" y="275432"/>
                </a:lnTo>
                <a:lnTo>
                  <a:pt x="84355" y="300771"/>
                </a:lnTo>
                <a:lnTo>
                  <a:pt x="124845" y="317139"/>
                </a:lnTo>
                <a:lnTo>
                  <a:pt x="169754" y="322948"/>
                </a:lnTo>
                <a:lnTo>
                  <a:pt x="214663" y="317139"/>
                </a:lnTo>
                <a:lnTo>
                  <a:pt x="255153" y="300771"/>
                </a:lnTo>
                <a:lnTo>
                  <a:pt x="289553" y="275432"/>
                </a:lnTo>
                <a:lnTo>
                  <a:pt x="316192" y="242712"/>
                </a:lnTo>
                <a:lnTo>
                  <a:pt x="333401" y="204198"/>
                </a:lnTo>
                <a:lnTo>
                  <a:pt x="339509" y="161480"/>
                </a:lnTo>
                <a:lnTo>
                  <a:pt x="333401" y="118761"/>
                </a:lnTo>
                <a:lnTo>
                  <a:pt x="316192" y="80245"/>
                </a:lnTo>
                <a:lnTo>
                  <a:pt x="289553" y="47521"/>
                </a:lnTo>
                <a:lnTo>
                  <a:pt x="255153" y="22180"/>
                </a:lnTo>
                <a:lnTo>
                  <a:pt x="214663" y="5809"/>
                </a:lnTo>
                <a:lnTo>
                  <a:pt x="169754" y="0"/>
                </a:lnTo>
                <a:close/>
              </a:path>
            </a:pathLst>
          </a:custGeom>
          <a:solidFill>
            <a:srgbClr val="2D5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743719" y="3907955"/>
            <a:ext cx="2038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30826" y="3900258"/>
            <a:ext cx="339725" cy="323215"/>
          </a:xfrm>
          <a:custGeom>
            <a:avLst/>
            <a:gdLst/>
            <a:ahLst/>
            <a:cxnLst/>
            <a:rect l="l" t="t" r="r" b="b"/>
            <a:pathLst>
              <a:path w="339725" h="323214">
                <a:moveTo>
                  <a:pt x="169754" y="0"/>
                </a:moveTo>
                <a:lnTo>
                  <a:pt x="124845" y="5809"/>
                </a:lnTo>
                <a:lnTo>
                  <a:pt x="84355" y="22180"/>
                </a:lnTo>
                <a:lnTo>
                  <a:pt x="49955" y="47521"/>
                </a:lnTo>
                <a:lnTo>
                  <a:pt x="23316" y="80245"/>
                </a:lnTo>
                <a:lnTo>
                  <a:pt x="6107" y="118761"/>
                </a:lnTo>
                <a:lnTo>
                  <a:pt x="0" y="161480"/>
                </a:lnTo>
                <a:lnTo>
                  <a:pt x="6107" y="204198"/>
                </a:lnTo>
                <a:lnTo>
                  <a:pt x="23316" y="242712"/>
                </a:lnTo>
                <a:lnTo>
                  <a:pt x="49955" y="275432"/>
                </a:lnTo>
                <a:lnTo>
                  <a:pt x="84355" y="300771"/>
                </a:lnTo>
                <a:lnTo>
                  <a:pt x="124845" y="317139"/>
                </a:lnTo>
                <a:lnTo>
                  <a:pt x="169754" y="322948"/>
                </a:lnTo>
                <a:lnTo>
                  <a:pt x="214663" y="317139"/>
                </a:lnTo>
                <a:lnTo>
                  <a:pt x="255153" y="300771"/>
                </a:lnTo>
                <a:lnTo>
                  <a:pt x="289553" y="275432"/>
                </a:lnTo>
                <a:lnTo>
                  <a:pt x="316192" y="242712"/>
                </a:lnTo>
                <a:lnTo>
                  <a:pt x="333401" y="204198"/>
                </a:lnTo>
                <a:lnTo>
                  <a:pt x="339509" y="161480"/>
                </a:lnTo>
                <a:lnTo>
                  <a:pt x="333401" y="118761"/>
                </a:lnTo>
                <a:lnTo>
                  <a:pt x="316192" y="80245"/>
                </a:lnTo>
                <a:lnTo>
                  <a:pt x="289553" y="47521"/>
                </a:lnTo>
                <a:lnTo>
                  <a:pt x="255153" y="22180"/>
                </a:lnTo>
                <a:lnTo>
                  <a:pt x="214663" y="5809"/>
                </a:lnTo>
                <a:lnTo>
                  <a:pt x="169754" y="0"/>
                </a:lnTo>
                <a:close/>
              </a:path>
            </a:pathLst>
          </a:custGeom>
          <a:solidFill>
            <a:srgbClr val="2D5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828971" y="3781310"/>
            <a:ext cx="1550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195">
                <a:solidFill>
                  <a:srgbClr val="001135"/>
                </a:solidFill>
                <a:latin typeface="Arial"/>
                <a:cs typeface="Arial"/>
              </a:rPr>
              <a:t>C</a:t>
            </a:r>
            <a:r>
              <a:rPr dirty="0" baseline="-13888" sz="3600" spc="-1814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overs lands</a:t>
            </a:r>
            <a:r>
              <a:rPr dirty="0" sz="1200" spc="-1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1135"/>
                </a:solidFill>
                <a:latin typeface="Arial"/>
                <a:cs typeface="Arial"/>
              </a:rPr>
              <a:t>and </a:t>
            </a:r>
            <a:r>
              <a:rPr dirty="0" sz="1200" spc="-25">
                <a:solidFill>
                  <a:srgbClr val="001135"/>
                </a:solidFill>
                <a:latin typeface="Arial"/>
                <a:cs typeface="Arial"/>
              </a:rPr>
              <a:t>sea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401" y="4844897"/>
            <a:ext cx="1384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1135"/>
                </a:solidFill>
                <a:latin typeface="Arial"/>
                <a:cs typeface="Arial"/>
              </a:rPr>
              <a:t>12</a:t>
            </a:r>
            <a:endParaRPr sz="80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37473" y="4879162"/>
            <a:ext cx="9410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Arial"/>
                <a:cs typeface="Arial"/>
              </a:rPr>
              <a:t>onboard”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42391" y="4533531"/>
            <a:ext cx="1681930" cy="609968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850173" y="4866373"/>
            <a:ext cx="5273040" cy="0"/>
          </a:xfrm>
          <a:custGeom>
            <a:avLst/>
            <a:gdLst/>
            <a:ahLst/>
            <a:cxnLst/>
            <a:rect l="l" t="t" r="r" b="b"/>
            <a:pathLst>
              <a:path w="5273040" h="0">
                <a:moveTo>
                  <a:pt x="0" y="0"/>
                </a:moveTo>
                <a:lnTo>
                  <a:pt x="5272735" y="0"/>
                </a:lnTo>
              </a:path>
            </a:pathLst>
          </a:custGeom>
          <a:ln w="12699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12073" y="4604842"/>
            <a:ext cx="5346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“World’s</a:t>
            </a:r>
            <a:r>
              <a:rPr dirty="0" sz="1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first</a:t>
            </a:r>
            <a:r>
              <a:rPr dirty="0" sz="18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only</a:t>
            </a:r>
            <a:r>
              <a:rPr dirty="0" sz="18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home-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like</a:t>
            </a:r>
            <a:r>
              <a:rPr dirty="0" sz="18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t</a:t>
            </a:r>
            <a:r>
              <a:rPr dirty="0" sz="1800" spc="-100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baseline="-20833" sz="1200" spc="-30">
                <a:solidFill>
                  <a:srgbClr val="001135"/>
                </a:solidFill>
                <a:latin typeface="Arial"/>
                <a:cs typeface="Arial"/>
              </a:rPr>
              <a:t>1</a:t>
            </a:r>
            <a:r>
              <a:rPr dirty="0" baseline="-20833" sz="1200" spc="-15">
                <a:solidFill>
                  <a:srgbClr val="001135"/>
                </a:solidFill>
                <a:latin typeface="Arial"/>
                <a:cs typeface="Arial"/>
              </a:rPr>
              <a:t>2</a:t>
            </a:r>
            <a:r>
              <a:rPr dirty="0" baseline="-20833" sz="1200" spc="-179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rnet</a:t>
            </a:r>
            <a:r>
              <a:rPr dirty="0" sz="18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experience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05382" y="4824641"/>
            <a:ext cx="0" cy="222250"/>
          </a:xfrm>
          <a:custGeom>
            <a:avLst/>
            <a:gdLst/>
            <a:ahLst/>
            <a:cxnLst/>
            <a:rect l="l" t="t" r="r" b="b"/>
            <a:pathLst>
              <a:path w="0" h="222250">
                <a:moveTo>
                  <a:pt x="0" y="0"/>
                </a:moveTo>
                <a:lnTo>
                  <a:pt x="0" y="221830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36424" y="62559"/>
            <a:ext cx="267906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01135"/>
                </a:solidFill>
                <a:latin typeface="Arial"/>
                <a:cs typeface="Arial"/>
              </a:rPr>
              <a:t>LEO</a:t>
            </a:r>
            <a:r>
              <a:rPr dirty="0" sz="2000" spc="-80" b="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1135"/>
                </a:solidFill>
                <a:latin typeface="Arial"/>
                <a:cs typeface="Arial"/>
              </a:rPr>
              <a:t>Technical</a:t>
            </a:r>
            <a:r>
              <a:rPr dirty="0" sz="2000" spc="-75" b="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2000" spc="-10" b="0">
                <a:solidFill>
                  <a:srgbClr val="001135"/>
                </a:solidFill>
                <a:latin typeface="Arial"/>
                <a:cs typeface="Arial"/>
              </a:rPr>
              <a:t>Solution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30408" y="2160020"/>
            <a:ext cx="2523490" cy="2525395"/>
            <a:chOff x="6230408" y="2160020"/>
            <a:chExt cx="2523490" cy="2525395"/>
          </a:xfrm>
        </p:grpSpPr>
        <p:sp>
          <p:nvSpPr>
            <p:cNvPr id="5" name="object 5"/>
            <p:cNvSpPr/>
            <p:nvPr/>
          </p:nvSpPr>
          <p:spPr>
            <a:xfrm>
              <a:off x="6230408" y="2160020"/>
              <a:ext cx="2523490" cy="2525395"/>
            </a:xfrm>
            <a:custGeom>
              <a:avLst/>
              <a:gdLst/>
              <a:ahLst/>
              <a:cxnLst/>
              <a:rect l="l" t="t" r="r" b="b"/>
              <a:pathLst>
                <a:path w="2523490" h="2525395">
                  <a:moveTo>
                    <a:pt x="1618067" y="2285995"/>
                  </a:moveTo>
                  <a:lnTo>
                    <a:pt x="963247" y="2285995"/>
                  </a:lnTo>
                  <a:lnTo>
                    <a:pt x="990571" y="2335371"/>
                  </a:lnTo>
                  <a:lnTo>
                    <a:pt x="1021665" y="2379864"/>
                  </a:lnTo>
                  <a:lnTo>
                    <a:pt x="1056170" y="2419109"/>
                  </a:lnTo>
                  <a:lnTo>
                    <a:pt x="1093726" y="2452739"/>
                  </a:lnTo>
                  <a:lnTo>
                    <a:pt x="1133975" y="2480389"/>
                  </a:lnTo>
                  <a:lnTo>
                    <a:pt x="1176556" y="2501692"/>
                  </a:lnTo>
                  <a:lnTo>
                    <a:pt x="1215676" y="2514967"/>
                  </a:lnTo>
                  <a:lnTo>
                    <a:pt x="1254826" y="2522640"/>
                  </a:lnTo>
                  <a:lnTo>
                    <a:pt x="1293759" y="2524892"/>
                  </a:lnTo>
                  <a:lnTo>
                    <a:pt x="1332227" y="2521904"/>
                  </a:lnTo>
                  <a:lnTo>
                    <a:pt x="1369983" y="2513857"/>
                  </a:lnTo>
                  <a:lnTo>
                    <a:pt x="1406780" y="2500930"/>
                  </a:lnTo>
                  <a:lnTo>
                    <a:pt x="1442371" y="2483305"/>
                  </a:lnTo>
                  <a:lnTo>
                    <a:pt x="1476508" y="2461162"/>
                  </a:lnTo>
                  <a:lnTo>
                    <a:pt x="1508944" y="2434682"/>
                  </a:lnTo>
                  <a:lnTo>
                    <a:pt x="1539431" y="2404045"/>
                  </a:lnTo>
                  <a:lnTo>
                    <a:pt x="1567723" y="2369431"/>
                  </a:lnTo>
                  <a:lnTo>
                    <a:pt x="1593572" y="2331023"/>
                  </a:lnTo>
                  <a:lnTo>
                    <a:pt x="1616731" y="2288999"/>
                  </a:lnTo>
                  <a:lnTo>
                    <a:pt x="1618067" y="2285995"/>
                  </a:lnTo>
                  <a:close/>
                </a:path>
                <a:path w="2523490" h="2525395">
                  <a:moveTo>
                    <a:pt x="2093874" y="2064673"/>
                  </a:moveTo>
                  <a:lnTo>
                    <a:pt x="340478" y="2064673"/>
                  </a:lnTo>
                  <a:lnTo>
                    <a:pt x="345191" y="2075658"/>
                  </a:lnTo>
                  <a:lnTo>
                    <a:pt x="369317" y="2124977"/>
                  </a:lnTo>
                  <a:lnTo>
                    <a:pt x="396266" y="2170117"/>
                  </a:lnTo>
                  <a:lnTo>
                    <a:pt x="425778" y="2210991"/>
                  </a:lnTo>
                  <a:lnTo>
                    <a:pt x="457595" y="2247510"/>
                  </a:lnTo>
                  <a:lnTo>
                    <a:pt x="491458" y="2279586"/>
                  </a:lnTo>
                  <a:lnTo>
                    <a:pt x="527109" y="2307133"/>
                  </a:lnTo>
                  <a:lnTo>
                    <a:pt x="564289" y="2330061"/>
                  </a:lnTo>
                  <a:lnTo>
                    <a:pt x="602738" y="2348282"/>
                  </a:lnTo>
                  <a:lnTo>
                    <a:pt x="642199" y="2361710"/>
                  </a:lnTo>
                  <a:lnTo>
                    <a:pt x="682413" y="2370256"/>
                  </a:lnTo>
                  <a:lnTo>
                    <a:pt x="723120" y="2373832"/>
                  </a:lnTo>
                  <a:lnTo>
                    <a:pt x="764063" y="2372350"/>
                  </a:lnTo>
                  <a:lnTo>
                    <a:pt x="804982" y="2365722"/>
                  </a:lnTo>
                  <a:lnTo>
                    <a:pt x="845618" y="2353861"/>
                  </a:lnTo>
                  <a:lnTo>
                    <a:pt x="885714" y="2336678"/>
                  </a:lnTo>
                  <a:lnTo>
                    <a:pt x="925010" y="2314085"/>
                  </a:lnTo>
                  <a:lnTo>
                    <a:pt x="963247" y="2285995"/>
                  </a:lnTo>
                  <a:lnTo>
                    <a:pt x="1618067" y="2285995"/>
                  </a:lnTo>
                  <a:lnTo>
                    <a:pt x="1636953" y="2243541"/>
                  </a:lnTo>
                  <a:lnTo>
                    <a:pt x="1653976" y="2194867"/>
                  </a:lnTo>
                  <a:lnTo>
                    <a:pt x="1667594" y="2143044"/>
                  </a:lnTo>
                  <a:lnTo>
                    <a:pt x="2024795" y="2143044"/>
                  </a:lnTo>
                  <a:lnTo>
                    <a:pt x="2027230" y="2141186"/>
                  </a:lnTo>
                  <a:lnTo>
                    <a:pt x="2057384" y="2111818"/>
                  </a:lnTo>
                  <a:lnTo>
                    <a:pt x="2084938" y="2078227"/>
                  </a:lnTo>
                  <a:lnTo>
                    <a:pt x="2093874" y="2064673"/>
                  </a:lnTo>
                  <a:close/>
                </a:path>
                <a:path w="2523490" h="2525395">
                  <a:moveTo>
                    <a:pt x="2024795" y="2143044"/>
                  </a:moveTo>
                  <a:lnTo>
                    <a:pt x="1667594" y="2143044"/>
                  </a:lnTo>
                  <a:lnTo>
                    <a:pt x="1709270" y="2173076"/>
                  </a:lnTo>
                  <a:lnTo>
                    <a:pt x="1753383" y="2194867"/>
                  </a:lnTo>
                  <a:lnTo>
                    <a:pt x="1799286" y="2208142"/>
                  </a:lnTo>
                  <a:lnTo>
                    <a:pt x="1846334" y="2212628"/>
                  </a:lnTo>
                  <a:lnTo>
                    <a:pt x="1885686" y="2209540"/>
                  </a:lnTo>
                  <a:lnTo>
                    <a:pt x="1923705" y="2200508"/>
                  </a:lnTo>
                  <a:lnTo>
                    <a:pt x="1960137" y="2185876"/>
                  </a:lnTo>
                  <a:lnTo>
                    <a:pt x="1994730" y="2165987"/>
                  </a:lnTo>
                  <a:lnTo>
                    <a:pt x="2024795" y="2143044"/>
                  </a:lnTo>
                  <a:close/>
                </a:path>
                <a:path w="2523490" h="2525395">
                  <a:moveTo>
                    <a:pt x="619085" y="221743"/>
                  </a:moveTo>
                  <a:lnTo>
                    <a:pt x="566598" y="226665"/>
                  </a:lnTo>
                  <a:lnTo>
                    <a:pt x="526958" y="236797"/>
                  </a:lnTo>
                  <a:lnTo>
                    <a:pt x="489002" y="252021"/>
                  </a:lnTo>
                  <a:lnTo>
                    <a:pt x="452901" y="272035"/>
                  </a:lnTo>
                  <a:lnTo>
                    <a:pt x="418824" y="296535"/>
                  </a:lnTo>
                  <a:lnTo>
                    <a:pt x="386939" y="325217"/>
                  </a:lnTo>
                  <a:lnTo>
                    <a:pt x="357417" y="357779"/>
                  </a:lnTo>
                  <a:lnTo>
                    <a:pt x="330428" y="393918"/>
                  </a:lnTo>
                  <a:lnTo>
                    <a:pt x="306139" y="433329"/>
                  </a:lnTo>
                  <a:lnTo>
                    <a:pt x="284721" y="475710"/>
                  </a:lnTo>
                  <a:lnTo>
                    <a:pt x="266344" y="520758"/>
                  </a:lnTo>
                  <a:lnTo>
                    <a:pt x="251176" y="568168"/>
                  </a:lnTo>
                  <a:lnTo>
                    <a:pt x="239387" y="617639"/>
                  </a:lnTo>
                  <a:lnTo>
                    <a:pt x="231147" y="668866"/>
                  </a:lnTo>
                  <a:lnTo>
                    <a:pt x="226625" y="721547"/>
                  </a:lnTo>
                  <a:lnTo>
                    <a:pt x="225990" y="775377"/>
                  </a:lnTo>
                  <a:lnTo>
                    <a:pt x="229412" y="830055"/>
                  </a:lnTo>
                  <a:lnTo>
                    <a:pt x="227236" y="841663"/>
                  </a:lnTo>
                  <a:lnTo>
                    <a:pt x="187888" y="851548"/>
                  </a:lnTo>
                  <a:lnTo>
                    <a:pt x="150618" y="869506"/>
                  </a:lnTo>
                  <a:lnTo>
                    <a:pt x="116034" y="894999"/>
                  </a:lnTo>
                  <a:lnTo>
                    <a:pt x="84743" y="927493"/>
                  </a:lnTo>
                  <a:lnTo>
                    <a:pt x="57353" y="966450"/>
                  </a:lnTo>
                  <a:lnTo>
                    <a:pt x="34471" y="1011335"/>
                  </a:lnTo>
                  <a:lnTo>
                    <a:pt x="17926" y="1057457"/>
                  </a:lnTo>
                  <a:lnTo>
                    <a:pt x="6759" y="1105182"/>
                  </a:lnTo>
                  <a:lnTo>
                    <a:pt x="830" y="1153777"/>
                  </a:lnTo>
                  <a:lnTo>
                    <a:pt x="0" y="1202509"/>
                  </a:lnTo>
                  <a:lnTo>
                    <a:pt x="4126" y="1250643"/>
                  </a:lnTo>
                  <a:lnTo>
                    <a:pt x="13069" y="1297446"/>
                  </a:lnTo>
                  <a:lnTo>
                    <a:pt x="26688" y="1342184"/>
                  </a:lnTo>
                  <a:lnTo>
                    <a:pt x="44842" y="1384124"/>
                  </a:lnTo>
                  <a:lnTo>
                    <a:pt x="67391" y="1422532"/>
                  </a:lnTo>
                  <a:lnTo>
                    <a:pt x="94195" y="1456675"/>
                  </a:lnTo>
                  <a:lnTo>
                    <a:pt x="125113" y="1485819"/>
                  </a:lnTo>
                  <a:lnTo>
                    <a:pt x="101799" y="1525042"/>
                  </a:lnTo>
                  <a:lnTo>
                    <a:pt x="83104" y="1567992"/>
                  </a:lnTo>
                  <a:lnTo>
                    <a:pt x="69217" y="1613919"/>
                  </a:lnTo>
                  <a:lnTo>
                    <a:pt x="60325" y="1662075"/>
                  </a:lnTo>
                  <a:lnTo>
                    <a:pt x="56617" y="1711708"/>
                  </a:lnTo>
                  <a:lnTo>
                    <a:pt x="58280" y="1762070"/>
                  </a:lnTo>
                  <a:lnTo>
                    <a:pt x="66380" y="1817150"/>
                  </a:lnTo>
                  <a:lnTo>
                    <a:pt x="80505" y="1868377"/>
                  </a:lnTo>
                  <a:lnTo>
                    <a:pt x="100070" y="1915128"/>
                  </a:lnTo>
                  <a:lnTo>
                    <a:pt x="124495" y="1956778"/>
                  </a:lnTo>
                  <a:lnTo>
                    <a:pt x="153197" y="1992705"/>
                  </a:lnTo>
                  <a:lnTo>
                    <a:pt x="185593" y="2022285"/>
                  </a:lnTo>
                  <a:lnTo>
                    <a:pt x="221102" y="2044895"/>
                  </a:lnTo>
                  <a:lnTo>
                    <a:pt x="259140" y="2059912"/>
                  </a:lnTo>
                  <a:lnTo>
                    <a:pt x="299127" y="2066712"/>
                  </a:lnTo>
                  <a:lnTo>
                    <a:pt x="340478" y="2064673"/>
                  </a:lnTo>
                  <a:lnTo>
                    <a:pt x="2093874" y="2064673"/>
                  </a:lnTo>
                  <a:lnTo>
                    <a:pt x="2131237" y="1999752"/>
                  </a:lnTo>
                  <a:lnTo>
                    <a:pt x="2149475" y="1955557"/>
                  </a:lnTo>
                  <a:lnTo>
                    <a:pt x="2164100" y="1908517"/>
                  </a:lnTo>
                  <a:lnTo>
                    <a:pt x="2174861" y="1858975"/>
                  </a:lnTo>
                  <a:lnTo>
                    <a:pt x="2181503" y="1807276"/>
                  </a:lnTo>
                  <a:lnTo>
                    <a:pt x="2183773" y="1753764"/>
                  </a:lnTo>
                  <a:lnTo>
                    <a:pt x="2233478" y="1739578"/>
                  </a:lnTo>
                  <a:lnTo>
                    <a:pt x="2281237" y="1716993"/>
                  </a:lnTo>
                  <a:lnTo>
                    <a:pt x="2326460" y="1686304"/>
                  </a:lnTo>
                  <a:lnTo>
                    <a:pt x="2368558" y="1647808"/>
                  </a:lnTo>
                  <a:lnTo>
                    <a:pt x="2397653" y="1614308"/>
                  </a:lnTo>
                  <a:lnTo>
                    <a:pt x="2423798" y="1577870"/>
                  </a:lnTo>
                  <a:lnTo>
                    <a:pt x="2446962" y="1538811"/>
                  </a:lnTo>
                  <a:lnTo>
                    <a:pt x="2467115" y="1497445"/>
                  </a:lnTo>
                  <a:lnTo>
                    <a:pt x="2484226" y="1454090"/>
                  </a:lnTo>
                  <a:lnTo>
                    <a:pt x="2498266" y="1409061"/>
                  </a:lnTo>
                  <a:lnTo>
                    <a:pt x="2509203" y="1362674"/>
                  </a:lnTo>
                  <a:lnTo>
                    <a:pt x="2517009" y="1315246"/>
                  </a:lnTo>
                  <a:lnTo>
                    <a:pt x="2521652" y="1267091"/>
                  </a:lnTo>
                  <a:lnTo>
                    <a:pt x="2523102" y="1218527"/>
                  </a:lnTo>
                  <a:lnTo>
                    <a:pt x="2521329" y="1169870"/>
                  </a:lnTo>
                  <a:lnTo>
                    <a:pt x="2516304" y="1121435"/>
                  </a:lnTo>
                  <a:lnTo>
                    <a:pt x="2507994" y="1073538"/>
                  </a:lnTo>
                  <a:lnTo>
                    <a:pt x="2496371" y="1026496"/>
                  </a:lnTo>
                  <a:lnTo>
                    <a:pt x="2481404" y="980624"/>
                  </a:lnTo>
                  <a:lnTo>
                    <a:pt x="2463062" y="936239"/>
                  </a:lnTo>
                  <a:lnTo>
                    <a:pt x="2441316" y="893656"/>
                  </a:lnTo>
                  <a:lnTo>
                    <a:pt x="2445395" y="880001"/>
                  </a:lnTo>
                  <a:lnTo>
                    <a:pt x="2455566" y="837992"/>
                  </a:lnTo>
                  <a:lnTo>
                    <a:pt x="2463468" y="785775"/>
                  </a:lnTo>
                  <a:lnTo>
                    <a:pt x="2466502" y="733791"/>
                  </a:lnTo>
                  <a:lnTo>
                    <a:pt x="2464874" y="682529"/>
                  </a:lnTo>
                  <a:lnTo>
                    <a:pt x="2458786" y="632477"/>
                  </a:lnTo>
                  <a:lnTo>
                    <a:pt x="2448444" y="584125"/>
                  </a:lnTo>
                  <a:lnTo>
                    <a:pt x="2434051" y="537960"/>
                  </a:lnTo>
                  <a:lnTo>
                    <a:pt x="2415813" y="494471"/>
                  </a:lnTo>
                  <a:lnTo>
                    <a:pt x="2393933" y="454148"/>
                  </a:lnTo>
                  <a:lnTo>
                    <a:pt x="2368616" y="417479"/>
                  </a:lnTo>
                  <a:lnTo>
                    <a:pt x="2340066" y="384952"/>
                  </a:lnTo>
                  <a:lnTo>
                    <a:pt x="2308487" y="357057"/>
                  </a:lnTo>
                  <a:lnTo>
                    <a:pt x="2274084" y="334281"/>
                  </a:lnTo>
                  <a:lnTo>
                    <a:pt x="2237062" y="317114"/>
                  </a:lnTo>
                  <a:lnTo>
                    <a:pt x="2233009" y="295270"/>
                  </a:lnTo>
                  <a:lnTo>
                    <a:pt x="818824" y="295270"/>
                  </a:lnTo>
                  <a:lnTo>
                    <a:pt x="771790" y="263281"/>
                  </a:lnTo>
                  <a:lnTo>
                    <a:pt x="722365" y="240238"/>
                  </a:lnTo>
                  <a:lnTo>
                    <a:pt x="671236" y="226330"/>
                  </a:lnTo>
                  <a:lnTo>
                    <a:pt x="619085" y="221743"/>
                  </a:lnTo>
                  <a:close/>
                </a:path>
                <a:path w="2523490" h="2525395">
                  <a:moveTo>
                    <a:pt x="1080902" y="70516"/>
                  </a:moveTo>
                  <a:lnTo>
                    <a:pt x="1041200" y="76259"/>
                  </a:lnTo>
                  <a:lnTo>
                    <a:pt x="1002479" y="88805"/>
                  </a:lnTo>
                  <a:lnTo>
                    <a:pt x="965242" y="107945"/>
                  </a:lnTo>
                  <a:lnTo>
                    <a:pt x="929989" y="133471"/>
                  </a:lnTo>
                  <a:lnTo>
                    <a:pt x="897220" y="165174"/>
                  </a:lnTo>
                  <a:lnTo>
                    <a:pt x="867435" y="202848"/>
                  </a:lnTo>
                  <a:lnTo>
                    <a:pt x="841136" y="246282"/>
                  </a:lnTo>
                  <a:lnTo>
                    <a:pt x="818824" y="295270"/>
                  </a:lnTo>
                  <a:lnTo>
                    <a:pt x="2233009" y="295270"/>
                  </a:lnTo>
                  <a:lnTo>
                    <a:pt x="2227482" y="265488"/>
                  </a:lnTo>
                  <a:lnTo>
                    <a:pt x="2212848" y="216502"/>
                  </a:lnTo>
                  <a:lnTo>
                    <a:pt x="2202440" y="191994"/>
                  </a:lnTo>
                  <a:lnTo>
                    <a:pt x="1311791" y="191994"/>
                  </a:lnTo>
                  <a:lnTo>
                    <a:pt x="1295198" y="171318"/>
                  </a:lnTo>
                  <a:lnTo>
                    <a:pt x="1258973" y="135128"/>
                  </a:lnTo>
                  <a:lnTo>
                    <a:pt x="1200897" y="96183"/>
                  </a:lnTo>
                  <a:lnTo>
                    <a:pt x="1161252" y="80270"/>
                  </a:lnTo>
                  <a:lnTo>
                    <a:pt x="1121086" y="71784"/>
                  </a:lnTo>
                  <a:lnTo>
                    <a:pt x="1080902" y="70516"/>
                  </a:lnTo>
                  <a:close/>
                </a:path>
                <a:path w="2523490" h="2525395">
                  <a:moveTo>
                    <a:pt x="1535958" y="0"/>
                  </a:moveTo>
                  <a:lnTo>
                    <a:pt x="1496164" y="5039"/>
                  </a:lnTo>
                  <a:lnTo>
                    <a:pt x="1496604" y="5039"/>
                  </a:lnTo>
                  <a:lnTo>
                    <a:pt x="1458954" y="17926"/>
                  </a:lnTo>
                  <a:lnTo>
                    <a:pt x="1422933" y="38607"/>
                  </a:lnTo>
                  <a:lnTo>
                    <a:pt x="1389504" y="66673"/>
                  </a:lnTo>
                  <a:lnTo>
                    <a:pt x="1359369" y="101806"/>
                  </a:lnTo>
                  <a:lnTo>
                    <a:pt x="1333230" y="143686"/>
                  </a:lnTo>
                  <a:lnTo>
                    <a:pt x="1311791" y="191994"/>
                  </a:lnTo>
                  <a:lnTo>
                    <a:pt x="2202440" y="191994"/>
                  </a:lnTo>
                  <a:lnTo>
                    <a:pt x="2193444" y="170810"/>
                  </a:lnTo>
                  <a:lnTo>
                    <a:pt x="2173861" y="136584"/>
                  </a:lnTo>
                  <a:lnTo>
                    <a:pt x="1742156" y="136584"/>
                  </a:lnTo>
                  <a:lnTo>
                    <a:pt x="1723234" y="106507"/>
                  </a:lnTo>
                  <a:lnTo>
                    <a:pt x="1678584" y="56194"/>
                  </a:lnTo>
                  <a:lnTo>
                    <a:pt x="1614895" y="15446"/>
                  </a:lnTo>
                  <a:lnTo>
                    <a:pt x="1575536" y="3392"/>
                  </a:lnTo>
                  <a:lnTo>
                    <a:pt x="1535958" y="0"/>
                  </a:lnTo>
                  <a:close/>
                </a:path>
                <a:path w="2523490" h="2525395">
                  <a:moveTo>
                    <a:pt x="1954719" y="631"/>
                  </a:moveTo>
                  <a:lnTo>
                    <a:pt x="1915331" y="5039"/>
                  </a:lnTo>
                  <a:lnTo>
                    <a:pt x="1876705" y="16840"/>
                  </a:lnTo>
                  <a:lnTo>
                    <a:pt x="1839456" y="35964"/>
                  </a:lnTo>
                  <a:lnTo>
                    <a:pt x="1804204" y="62342"/>
                  </a:lnTo>
                  <a:lnTo>
                    <a:pt x="1771565" y="95905"/>
                  </a:lnTo>
                  <a:lnTo>
                    <a:pt x="1742156" y="136584"/>
                  </a:lnTo>
                  <a:lnTo>
                    <a:pt x="2173861" y="136584"/>
                  </a:lnTo>
                  <a:lnTo>
                    <a:pt x="2141469" y="91905"/>
                  </a:lnTo>
                  <a:lnTo>
                    <a:pt x="2107536" y="58311"/>
                  </a:lnTo>
                  <a:lnTo>
                    <a:pt x="2071276" y="32456"/>
                  </a:lnTo>
                  <a:lnTo>
                    <a:pt x="2033309" y="14270"/>
                  </a:lnTo>
                  <a:lnTo>
                    <a:pt x="1994251" y="3685"/>
                  </a:lnTo>
                  <a:lnTo>
                    <a:pt x="1954719" y="63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58204" y="2468422"/>
              <a:ext cx="2312670" cy="1741805"/>
            </a:xfrm>
            <a:custGeom>
              <a:avLst/>
              <a:gdLst/>
              <a:ahLst/>
              <a:cxnLst/>
              <a:rect l="l" t="t" r="r" b="b"/>
              <a:pathLst>
                <a:path w="2312670" h="1741804">
                  <a:moveTo>
                    <a:pt x="147725" y="1210411"/>
                  </a:moveTo>
                  <a:lnTo>
                    <a:pt x="109198" y="1210519"/>
                  </a:lnTo>
                  <a:lnTo>
                    <a:pt x="71293" y="1202667"/>
                  </a:lnTo>
                  <a:lnTo>
                    <a:pt x="34673" y="1187076"/>
                  </a:lnTo>
                  <a:lnTo>
                    <a:pt x="0" y="1163967"/>
                  </a:lnTo>
                </a:path>
                <a:path w="2312670" h="1741804">
                  <a:moveTo>
                    <a:pt x="278109" y="1719249"/>
                  </a:moveTo>
                  <a:lnTo>
                    <a:pt x="262422" y="1726951"/>
                  </a:lnTo>
                  <a:lnTo>
                    <a:pt x="246383" y="1733229"/>
                  </a:lnTo>
                  <a:lnTo>
                    <a:pt x="230043" y="1738073"/>
                  </a:lnTo>
                  <a:lnTo>
                    <a:pt x="213452" y="1741474"/>
                  </a:lnTo>
                </a:path>
                <a:path w="2312670" h="1741804">
                  <a:moveTo>
                    <a:pt x="1864880" y="1022438"/>
                  </a:moveTo>
                  <a:lnTo>
                    <a:pt x="1898389" y="1047915"/>
                  </a:lnTo>
                  <a:lnTo>
                    <a:pt x="1929167" y="1077985"/>
                  </a:lnTo>
                  <a:lnTo>
                    <a:pt x="1957026" y="1112243"/>
                  </a:lnTo>
                  <a:lnTo>
                    <a:pt x="1981779" y="1150278"/>
                  </a:lnTo>
                  <a:lnTo>
                    <a:pt x="2003239" y="1191685"/>
                  </a:lnTo>
                  <a:lnTo>
                    <a:pt x="2021217" y="1236054"/>
                  </a:lnTo>
                  <a:lnTo>
                    <a:pt x="2035527" y="1282978"/>
                  </a:lnTo>
                  <a:lnTo>
                    <a:pt x="2045980" y="1332049"/>
                  </a:lnTo>
                  <a:lnTo>
                    <a:pt x="2052389" y="1382858"/>
                  </a:lnTo>
                  <a:lnTo>
                    <a:pt x="2054567" y="1434998"/>
                  </a:lnTo>
                </a:path>
                <a:path w="2312670" h="1741804">
                  <a:moveTo>
                    <a:pt x="2312225" y="579107"/>
                  </a:moveTo>
                  <a:lnTo>
                    <a:pt x="2296182" y="622937"/>
                  </a:lnTo>
                  <a:lnTo>
                    <a:pt x="2276617" y="663819"/>
                  </a:lnTo>
                  <a:lnTo>
                    <a:pt x="2253743" y="701372"/>
                  </a:lnTo>
                  <a:lnTo>
                    <a:pt x="2227770" y="735215"/>
                  </a:lnTo>
                </a:path>
                <a:path w="2312670" h="1741804">
                  <a:moveTo>
                    <a:pt x="2109584" y="0"/>
                  </a:moveTo>
                  <a:lnTo>
                    <a:pt x="2111672" y="18284"/>
                  </a:lnTo>
                  <a:lnTo>
                    <a:pt x="2113118" y="36664"/>
                  </a:lnTo>
                  <a:lnTo>
                    <a:pt x="2113920" y="55121"/>
                  </a:lnTo>
                  <a:lnTo>
                    <a:pt x="2114080" y="73634"/>
                  </a:lnTo>
                </a:path>
                <a:path w="2312670" h="1741804">
                  <a:moveTo>
                    <a:pt x="114754" y="604507"/>
                  </a:moveTo>
                  <a:lnTo>
                    <a:pt x="110543" y="584081"/>
                  </a:lnTo>
                  <a:lnTo>
                    <a:pt x="106913" y="563457"/>
                  </a:lnTo>
                  <a:lnTo>
                    <a:pt x="103886" y="542667"/>
                  </a:lnTo>
                  <a:lnTo>
                    <a:pt x="101480" y="521741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34491" y="3459365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5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44499" y="3369360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5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59999" y="269999"/>
            <a:ext cx="6188075" cy="1980564"/>
            <a:chOff x="359999" y="269999"/>
            <a:chExt cx="6188075" cy="198056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0002" y="1799996"/>
              <a:ext cx="180000" cy="17999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9" y="269999"/>
              <a:ext cx="6187503" cy="198000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371303" y="1928342"/>
            <a:ext cx="2197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Arial"/>
                <a:cs typeface="Arial"/>
              </a:rPr>
              <a:t>CS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8379" y="1928342"/>
            <a:ext cx="8407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Cabin</a:t>
            </a:r>
            <a:r>
              <a:rPr dirty="0" sz="1100" spc="-5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5403" y="1123708"/>
            <a:ext cx="6083935" cy="2405380"/>
            <a:chOff x="775403" y="1123708"/>
            <a:chExt cx="6083935" cy="2405380"/>
          </a:xfrm>
        </p:grpSpPr>
        <p:sp>
          <p:nvSpPr>
            <p:cNvPr id="17" name="object 17"/>
            <p:cNvSpPr/>
            <p:nvPr/>
          </p:nvSpPr>
          <p:spPr>
            <a:xfrm>
              <a:off x="789691" y="1137996"/>
              <a:ext cx="440055" cy="212090"/>
            </a:xfrm>
            <a:custGeom>
              <a:avLst/>
              <a:gdLst/>
              <a:ahLst/>
              <a:cxnLst/>
              <a:rect l="l" t="t" r="r" b="b"/>
              <a:pathLst>
                <a:path w="440055" h="212090">
                  <a:moveTo>
                    <a:pt x="439870" y="212001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50144" y="3510000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70" h="0">
                  <a:moveTo>
                    <a:pt x="0" y="0"/>
                  </a:moveTo>
                  <a:lnTo>
                    <a:pt x="89852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79998" y="3510000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 h="0">
                  <a:moveTo>
                    <a:pt x="0" y="0"/>
                  </a:moveTo>
                  <a:lnTo>
                    <a:pt x="718568" y="0"/>
                  </a:lnTo>
                </a:path>
                <a:path w="2160270" h="0">
                  <a:moveTo>
                    <a:pt x="1258570" y="0"/>
                  </a:moveTo>
                  <a:lnTo>
                    <a:pt x="2160005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99996" y="1349997"/>
              <a:ext cx="3240405" cy="0"/>
            </a:xfrm>
            <a:custGeom>
              <a:avLst/>
              <a:gdLst/>
              <a:ahLst/>
              <a:cxnLst/>
              <a:rect l="l" t="t" r="r" b="b"/>
              <a:pathLst>
                <a:path w="3240404" h="0">
                  <a:moveTo>
                    <a:pt x="0" y="0"/>
                  </a:moveTo>
                  <a:lnTo>
                    <a:pt x="323999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260000" y="1259998"/>
            <a:ext cx="540385" cy="180340"/>
          </a:xfrm>
          <a:prstGeom prst="rect">
            <a:avLst/>
          </a:prstGeom>
          <a:solidFill>
            <a:srgbClr val="001F5F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300"/>
              </a:lnSpc>
            </a:pP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CS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20469" y="1258430"/>
            <a:ext cx="6779895" cy="3190240"/>
            <a:chOff x="1520469" y="1258430"/>
            <a:chExt cx="6779895" cy="319024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9997" y="1260005"/>
              <a:ext cx="360000" cy="35999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1427" y="1258430"/>
              <a:ext cx="360000" cy="35999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0000" y="1260005"/>
              <a:ext cx="360000" cy="35999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29994" y="1470964"/>
              <a:ext cx="0" cy="329565"/>
            </a:xfrm>
            <a:custGeom>
              <a:avLst/>
              <a:gdLst/>
              <a:ahLst/>
              <a:cxnLst/>
              <a:rect l="l" t="t" r="r" b="b"/>
              <a:pathLst>
                <a:path w="0" h="329564">
                  <a:moveTo>
                    <a:pt x="1" y="0"/>
                  </a:moveTo>
                  <a:lnTo>
                    <a:pt x="0" y="329044"/>
                  </a:lnTo>
                </a:path>
              </a:pathLst>
            </a:custGeom>
            <a:ln w="190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040079" y="4088333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5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950075" y="3998340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5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860070" y="3908336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5">
                  <a:moveTo>
                    <a:pt x="1260001" y="0"/>
                  </a:moveTo>
                  <a:lnTo>
                    <a:pt x="0" y="0"/>
                  </a:lnTo>
                  <a:lnTo>
                    <a:pt x="0" y="360006"/>
                  </a:lnTo>
                  <a:lnTo>
                    <a:pt x="1260001" y="360006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/>
          <p:nvPr/>
        </p:nvSpPr>
        <p:spPr>
          <a:xfrm>
            <a:off x="1082075" y="924801"/>
            <a:ext cx="3960495" cy="720090"/>
          </a:xfrm>
          <a:custGeom>
            <a:avLst/>
            <a:gdLst/>
            <a:ahLst/>
            <a:cxnLst/>
            <a:rect l="l" t="t" r="r" b="b"/>
            <a:pathLst>
              <a:path w="3960495" h="720089">
                <a:moveTo>
                  <a:pt x="0" y="120002"/>
                </a:moveTo>
                <a:lnTo>
                  <a:pt x="9492" y="73477"/>
                </a:lnTo>
                <a:lnTo>
                  <a:pt x="35314" y="35312"/>
                </a:lnTo>
                <a:lnTo>
                  <a:pt x="73479" y="9492"/>
                </a:lnTo>
                <a:lnTo>
                  <a:pt x="120002" y="0"/>
                </a:lnTo>
                <a:lnTo>
                  <a:pt x="3839997" y="0"/>
                </a:lnTo>
                <a:lnTo>
                  <a:pt x="3886522" y="9492"/>
                </a:lnTo>
                <a:lnTo>
                  <a:pt x="3924687" y="35312"/>
                </a:lnTo>
                <a:lnTo>
                  <a:pt x="3950507" y="73477"/>
                </a:lnTo>
                <a:lnTo>
                  <a:pt x="3959999" y="120002"/>
                </a:lnTo>
                <a:lnTo>
                  <a:pt x="3959999" y="599998"/>
                </a:lnTo>
                <a:lnTo>
                  <a:pt x="3950507" y="646524"/>
                </a:lnTo>
                <a:lnTo>
                  <a:pt x="3924687" y="684688"/>
                </a:lnTo>
                <a:lnTo>
                  <a:pt x="3886522" y="710509"/>
                </a:lnTo>
                <a:lnTo>
                  <a:pt x="3839997" y="720001"/>
                </a:lnTo>
                <a:lnTo>
                  <a:pt x="120002" y="720001"/>
                </a:lnTo>
                <a:lnTo>
                  <a:pt x="73479" y="710509"/>
                </a:lnTo>
                <a:lnTo>
                  <a:pt x="35314" y="684688"/>
                </a:lnTo>
                <a:lnTo>
                  <a:pt x="9492" y="646524"/>
                </a:lnTo>
                <a:lnTo>
                  <a:pt x="0" y="599998"/>
                </a:lnTo>
                <a:lnTo>
                  <a:pt x="0" y="120002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2610002" y="719998"/>
            <a:ext cx="1080135" cy="3600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525" rIns="0" bIns="0" rtlCol="0" vert="horz">
            <a:spAutoFit/>
          </a:bodyPr>
          <a:lstStyle/>
          <a:p>
            <a:pPr marL="264160" marR="256540" indent="81280">
              <a:lnSpc>
                <a:spcPct val="100000"/>
              </a:lnSpc>
              <a:spcBef>
                <a:spcPts val="75"/>
              </a:spcBef>
            </a:pPr>
            <a:r>
              <a:rPr dirty="0" sz="1100" spc="-10" b="1">
                <a:latin typeface="Arial"/>
                <a:cs typeface="Arial"/>
              </a:rPr>
              <a:t>Cabin Network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839889" y="2069998"/>
            <a:ext cx="1440180" cy="540385"/>
            <a:chOff x="6839889" y="2069998"/>
            <a:chExt cx="1440180" cy="540385"/>
          </a:xfrm>
        </p:grpSpPr>
        <p:sp>
          <p:nvSpPr>
            <p:cNvPr id="40" name="object 40"/>
            <p:cNvSpPr/>
            <p:nvPr/>
          </p:nvSpPr>
          <p:spPr>
            <a:xfrm>
              <a:off x="7019886" y="2249995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4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929881" y="2160003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4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839889" y="2069998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4">
                  <a:moveTo>
                    <a:pt x="1260002" y="0"/>
                  </a:moveTo>
                  <a:lnTo>
                    <a:pt x="0" y="0"/>
                  </a:lnTo>
                  <a:lnTo>
                    <a:pt x="0" y="360006"/>
                  </a:lnTo>
                  <a:lnTo>
                    <a:pt x="1260002" y="360006"/>
                  </a:lnTo>
                  <a:lnTo>
                    <a:pt x="126000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6840004" y="2698965"/>
            <a:ext cx="1440180" cy="540385"/>
            <a:chOff x="6840004" y="2698965"/>
            <a:chExt cx="1440180" cy="540385"/>
          </a:xfrm>
        </p:grpSpPr>
        <p:sp>
          <p:nvSpPr>
            <p:cNvPr id="35" name="object 35"/>
            <p:cNvSpPr/>
            <p:nvPr/>
          </p:nvSpPr>
          <p:spPr>
            <a:xfrm>
              <a:off x="7020001" y="2878975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4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929996" y="2788970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4">
                  <a:moveTo>
                    <a:pt x="1260001" y="0"/>
                  </a:moveTo>
                  <a:lnTo>
                    <a:pt x="0" y="0"/>
                  </a:lnTo>
                  <a:lnTo>
                    <a:pt x="0" y="359994"/>
                  </a:lnTo>
                  <a:lnTo>
                    <a:pt x="1260001" y="359994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40004" y="2698965"/>
              <a:ext cx="1260475" cy="360045"/>
            </a:xfrm>
            <a:custGeom>
              <a:avLst/>
              <a:gdLst/>
              <a:ahLst/>
              <a:cxnLst/>
              <a:rect l="l" t="t" r="r" b="b"/>
              <a:pathLst>
                <a:path w="1260475" h="360044">
                  <a:moveTo>
                    <a:pt x="1260001" y="0"/>
                  </a:moveTo>
                  <a:lnTo>
                    <a:pt x="0" y="0"/>
                  </a:lnTo>
                  <a:lnTo>
                    <a:pt x="0" y="360006"/>
                  </a:lnTo>
                  <a:lnTo>
                    <a:pt x="1260001" y="360006"/>
                  </a:lnTo>
                  <a:lnTo>
                    <a:pt x="126000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235145" y="2863583"/>
            <a:ext cx="4705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Centers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52778" y="2082203"/>
            <a:ext cx="1035050" cy="807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6375" marR="20002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Aircraft</a:t>
            </a:r>
            <a:r>
              <a:rPr dirty="0" sz="1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IoT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Platforms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Airline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439545" y="3050476"/>
            <a:ext cx="3970020" cy="478790"/>
            <a:chOff x="1439545" y="3050476"/>
            <a:chExt cx="3970020" cy="478790"/>
          </a:xfrm>
        </p:grpSpPr>
        <p:sp>
          <p:nvSpPr>
            <p:cNvPr id="45" name="object 45"/>
            <p:cNvSpPr/>
            <p:nvPr/>
          </p:nvSpPr>
          <p:spPr>
            <a:xfrm>
              <a:off x="4050144" y="3060001"/>
              <a:ext cx="1350010" cy="0"/>
            </a:xfrm>
            <a:custGeom>
              <a:avLst/>
              <a:gdLst/>
              <a:ahLst/>
              <a:cxnLst/>
              <a:rect l="l" t="t" r="r" b="b"/>
              <a:pathLst>
                <a:path w="1350010" h="0">
                  <a:moveTo>
                    <a:pt x="0" y="0"/>
                  </a:moveTo>
                  <a:lnTo>
                    <a:pt x="89852" y="0"/>
                  </a:lnTo>
                </a:path>
                <a:path w="1350010" h="0">
                  <a:moveTo>
                    <a:pt x="629853" y="0"/>
                  </a:moveTo>
                  <a:lnTo>
                    <a:pt x="719848" y="0"/>
                  </a:lnTo>
                </a:path>
                <a:path w="1350010" h="0">
                  <a:moveTo>
                    <a:pt x="1259850" y="0"/>
                  </a:moveTo>
                  <a:lnTo>
                    <a:pt x="134985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463675" y="3504914"/>
              <a:ext cx="2046605" cy="0"/>
            </a:xfrm>
            <a:custGeom>
              <a:avLst/>
              <a:gdLst/>
              <a:ahLst/>
              <a:cxnLst/>
              <a:rect l="l" t="t" r="r" b="b"/>
              <a:pathLst>
                <a:path w="2046604" h="0">
                  <a:moveTo>
                    <a:pt x="0" y="0"/>
                  </a:moveTo>
                  <a:lnTo>
                    <a:pt x="2046325" y="0"/>
                  </a:lnTo>
                </a:path>
              </a:pathLst>
            </a:custGeom>
            <a:ln w="482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3510000" y="2880004"/>
            <a:ext cx="540385" cy="3600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92710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730"/>
              </a:spcBef>
            </a:pP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MME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39996" y="2880004"/>
            <a:ext cx="540385" cy="3600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9271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730"/>
              </a:spcBef>
            </a:pP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HSS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69992" y="2880004"/>
            <a:ext cx="540385" cy="3600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92710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73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Auth.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99284" y="2880004"/>
            <a:ext cx="540385" cy="3600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9271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73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Billing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10000" y="3349681"/>
            <a:ext cx="540385" cy="3600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7366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580"/>
              </a:spcBef>
            </a:pP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SGW</a:t>
            </a:r>
            <a:endParaRPr sz="11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139996" y="3349681"/>
            <a:ext cx="540385" cy="3600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7366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580"/>
              </a:spcBef>
            </a:pP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PGW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323653" y="2692615"/>
            <a:ext cx="2802890" cy="1447800"/>
            <a:chOff x="3323653" y="2692615"/>
            <a:chExt cx="2802890" cy="1447800"/>
          </a:xfrm>
        </p:grpSpPr>
        <p:sp>
          <p:nvSpPr>
            <p:cNvPr id="54" name="object 54"/>
            <p:cNvSpPr/>
            <p:nvPr/>
          </p:nvSpPr>
          <p:spPr>
            <a:xfrm>
              <a:off x="3330003" y="2698965"/>
              <a:ext cx="2790190" cy="1261110"/>
            </a:xfrm>
            <a:custGeom>
              <a:avLst/>
              <a:gdLst/>
              <a:ahLst/>
              <a:cxnLst/>
              <a:rect l="l" t="t" r="r" b="b"/>
              <a:pathLst>
                <a:path w="2790190" h="1261110">
                  <a:moveTo>
                    <a:pt x="0" y="210172"/>
                  </a:moveTo>
                  <a:lnTo>
                    <a:pt x="5591" y="162228"/>
                  </a:lnTo>
                  <a:lnTo>
                    <a:pt x="21498" y="118086"/>
                  </a:lnTo>
                  <a:lnTo>
                    <a:pt x="46418" y="79049"/>
                  </a:lnTo>
                  <a:lnTo>
                    <a:pt x="79048" y="46419"/>
                  </a:lnTo>
                  <a:lnTo>
                    <a:pt x="118086" y="21499"/>
                  </a:lnTo>
                  <a:lnTo>
                    <a:pt x="162229" y="5591"/>
                  </a:lnTo>
                  <a:lnTo>
                    <a:pt x="210176" y="0"/>
                  </a:lnTo>
                  <a:lnTo>
                    <a:pt x="2579827" y="0"/>
                  </a:lnTo>
                  <a:lnTo>
                    <a:pt x="2627774" y="5591"/>
                  </a:lnTo>
                  <a:lnTo>
                    <a:pt x="2671918" y="21499"/>
                  </a:lnTo>
                  <a:lnTo>
                    <a:pt x="2710955" y="46419"/>
                  </a:lnTo>
                  <a:lnTo>
                    <a:pt x="2743584" y="79049"/>
                  </a:lnTo>
                  <a:lnTo>
                    <a:pt x="2768502" y="118086"/>
                  </a:lnTo>
                  <a:lnTo>
                    <a:pt x="2784408" y="162228"/>
                  </a:lnTo>
                  <a:lnTo>
                    <a:pt x="2789999" y="210172"/>
                  </a:lnTo>
                  <a:lnTo>
                    <a:pt x="2789999" y="1050848"/>
                  </a:lnTo>
                  <a:lnTo>
                    <a:pt x="2784408" y="1098797"/>
                  </a:lnTo>
                  <a:lnTo>
                    <a:pt x="2768502" y="1142942"/>
                  </a:lnTo>
                  <a:lnTo>
                    <a:pt x="2743584" y="1181981"/>
                  </a:lnTo>
                  <a:lnTo>
                    <a:pt x="2710955" y="1214613"/>
                  </a:lnTo>
                  <a:lnTo>
                    <a:pt x="2671918" y="1239534"/>
                  </a:lnTo>
                  <a:lnTo>
                    <a:pt x="2627774" y="1255441"/>
                  </a:lnTo>
                  <a:lnTo>
                    <a:pt x="2579827" y="1261033"/>
                  </a:lnTo>
                  <a:lnTo>
                    <a:pt x="210176" y="1261033"/>
                  </a:lnTo>
                  <a:lnTo>
                    <a:pt x="162229" y="1255441"/>
                  </a:lnTo>
                  <a:lnTo>
                    <a:pt x="118086" y="1239534"/>
                  </a:lnTo>
                  <a:lnTo>
                    <a:pt x="79048" y="1214613"/>
                  </a:lnTo>
                  <a:lnTo>
                    <a:pt x="46418" y="1181981"/>
                  </a:lnTo>
                  <a:lnTo>
                    <a:pt x="21498" y="1142942"/>
                  </a:lnTo>
                  <a:lnTo>
                    <a:pt x="5591" y="1098797"/>
                  </a:lnTo>
                  <a:lnTo>
                    <a:pt x="0" y="1050848"/>
                  </a:lnTo>
                  <a:lnTo>
                    <a:pt x="0" y="21017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869994" y="3780002"/>
              <a:ext cx="1710055" cy="360045"/>
            </a:xfrm>
            <a:custGeom>
              <a:avLst/>
              <a:gdLst/>
              <a:ahLst/>
              <a:cxnLst/>
              <a:rect l="l" t="t" r="r" b="b"/>
              <a:pathLst>
                <a:path w="1710054" h="360045">
                  <a:moveTo>
                    <a:pt x="1710004" y="0"/>
                  </a:moveTo>
                  <a:lnTo>
                    <a:pt x="0" y="0"/>
                  </a:lnTo>
                  <a:lnTo>
                    <a:pt x="0" y="360006"/>
                  </a:lnTo>
                  <a:lnTo>
                    <a:pt x="1710004" y="360006"/>
                  </a:lnTo>
                  <a:lnTo>
                    <a:pt x="1710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/>
          <p:cNvGrpSpPr/>
          <p:nvPr/>
        </p:nvGrpSpPr>
        <p:grpSpPr>
          <a:xfrm>
            <a:off x="443650" y="2693644"/>
            <a:ext cx="3346450" cy="1446530"/>
            <a:chOff x="443650" y="2693644"/>
            <a:chExt cx="3346450" cy="1446530"/>
          </a:xfrm>
        </p:grpSpPr>
        <p:sp>
          <p:nvSpPr>
            <p:cNvPr id="58" name="object 58"/>
            <p:cNvSpPr/>
            <p:nvPr/>
          </p:nvSpPr>
          <p:spPr>
            <a:xfrm>
              <a:off x="450000" y="2699994"/>
              <a:ext cx="2790190" cy="1260475"/>
            </a:xfrm>
            <a:custGeom>
              <a:avLst/>
              <a:gdLst/>
              <a:ahLst/>
              <a:cxnLst/>
              <a:rect l="l" t="t" r="r" b="b"/>
              <a:pathLst>
                <a:path w="2790190" h="1260475">
                  <a:moveTo>
                    <a:pt x="0" y="210007"/>
                  </a:moveTo>
                  <a:lnTo>
                    <a:pt x="5587" y="162096"/>
                  </a:lnTo>
                  <a:lnTo>
                    <a:pt x="21481" y="117987"/>
                  </a:lnTo>
                  <a:lnTo>
                    <a:pt x="46380" y="78981"/>
                  </a:lnTo>
                  <a:lnTo>
                    <a:pt x="78983" y="46378"/>
                  </a:lnTo>
                  <a:lnTo>
                    <a:pt x="117989" y="21479"/>
                  </a:lnTo>
                  <a:lnTo>
                    <a:pt x="162097" y="5586"/>
                  </a:lnTo>
                  <a:lnTo>
                    <a:pt x="210004" y="0"/>
                  </a:lnTo>
                  <a:lnTo>
                    <a:pt x="2579992" y="0"/>
                  </a:lnTo>
                  <a:lnTo>
                    <a:pt x="2627902" y="5586"/>
                  </a:lnTo>
                  <a:lnTo>
                    <a:pt x="2672011" y="21479"/>
                  </a:lnTo>
                  <a:lnTo>
                    <a:pt x="2711018" y="46378"/>
                  </a:lnTo>
                  <a:lnTo>
                    <a:pt x="2743621" y="78981"/>
                  </a:lnTo>
                  <a:lnTo>
                    <a:pt x="2768519" y="117987"/>
                  </a:lnTo>
                  <a:lnTo>
                    <a:pt x="2784412" y="162096"/>
                  </a:lnTo>
                  <a:lnTo>
                    <a:pt x="2789999" y="210007"/>
                  </a:lnTo>
                  <a:lnTo>
                    <a:pt x="2789999" y="1049997"/>
                  </a:lnTo>
                  <a:lnTo>
                    <a:pt x="2784412" y="1097904"/>
                  </a:lnTo>
                  <a:lnTo>
                    <a:pt x="2768519" y="1142011"/>
                  </a:lnTo>
                  <a:lnTo>
                    <a:pt x="2743621" y="1181018"/>
                  </a:lnTo>
                  <a:lnTo>
                    <a:pt x="2711018" y="1213622"/>
                  </a:lnTo>
                  <a:lnTo>
                    <a:pt x="2672011" y="1238522"/>
                  </a:lnTo>
                  <a:lnTo>
                    <a:pt x="2627902" y="1254417"/>
                  </a:lnTo>
                  <a:lnTo>
                    <a:pt x="2579992" y="1260005"/>
                  </a:lnTo>
                  <a:lnTo>
                    <a:pt x="210004" y="1260005"/>
                  </a:lnTo>
                  <a:lnTo>
                    <a:pt x="162097" y="1254417"/>
                  </a:lnTo>
                  <a:lnTo>
                    <a:pt x="117989" y="1238522"/>
                  </a:lnTo>
                  <a:lnTo>
                    <a:pt x="78983" y="1213622"/>
                  </a:lnTo>
                  <a:lnTo>
                    <a:pt x="46380" y="1181018"/>
                  </a:lnTo>
                  <a:lnTo>
                    <a:pt x="21481" y="1142011"/>
                  </a:lnTo>
                  <a:lnTo>
                    <a:pt x="5587" y="1097904"/>
                  </a:lnTo>
                  <a:lnTo>
                    <a:pt x="0" y="1049997"/>
                  </a:lnTo>
                  <a:lnTo>
                    <a:pt x="0" y="21000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780002" y="3239960"/>
              <a:ext cx="0" cy="90170"/>
            </a:xfrm>
            <a:custGeom>
              <a:avLst/>
              <a:gdLst/>
              <a:ahLst/>
              <a:cxnLst/>
              <a:rect l="l" t="t" r="r" b="b"/>
              <a:pathLst>
                <a:path w="0" h="90170">
                  <a:moveTo>
                    <a:pt x="0" y="0"/>
                  </a:moveTo>
                  <a:lnTo>
                    <a:pt x="0" y="22507"/>
                  </a:lnTo>
                  <a:lnTo>
                    <a:pt x="0" y="45015"/>
                  </a:lnTo>
                  <a:lnTo>
                    <a:pt x="0" y="67522"/>
                  </a:lnTo>
                  <a:lnTo>
                    <a:pt x="0" y="9003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09998" y="3780002"/>
              <a:ext cx="2070100" cy="360045"/>
            </a:xfrm>
            <a:custGeom>
              <a:avLst/>
              <a:gdLst/>
              <a:ahLst/>
              <a:cxnLst/>
              <a:rect l="l" t="t" r="r" b="b"/>
              <a:pathLst>
                <a:path w="2070100" h="360045">
                  <a:moveTo>
                    <a:pt x="2069998" y="0"/>
                  </a:moveTo>
                  <a:lnTo>
                    <a:pt x="0" y="0"/>
                  </a:lnTo>
                  <a:lnTo>
                    <a:pt x="0" y="360006"/>
                  </a:lnTo>
                  <a:lnTo>
                    <a:pt x="2069998" y="360006"/>
                  </a:lnTo>
                  <a:lnTo>
                    <a:pt x="2069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5399284" y="3349681"/>
            <a:ext cx="540385" cy="36004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73660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580"/>
              </a:spcBef>
            </a:pP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DPI/LI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840004" y="3330003"/>
            <a:ext cx="1260475" cy="360045"/>
          </a:xfrm>
          <a:custGeom>
            <a:avLst/>
            <a:gdLst/>
            <a:ahLst/>
            <a:cxnLst/>
            <a:rect l="l" t="t" r="r" b="b"/>
            <a:pathLst>
              <a:path w="1260475" h="360045">
                <a:moveTo>
                  <a:pt x="1260002" y="0"/>
                </a:moveTo>
                <a:lnTo>
                  <a:pt x="0" y="0"/>
                </a:lnTo>
                <a:lnTo>
                  <a:pt x="0" y="360006"/>
                </a:lnTo>
                <a:lnTo>
                  <a:pt x="1260002" y="360006"/>
                </a:lnTo>
                <a:lnTo>
                  <a:pt x="126000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034491" y="3482140"/>
            <a:ext cx="1065530" cy="227965"/>
          </a:xfrm>
          <a:prstGeom prst="rect">
            <a:avLst/>
          </a:prstGeom>
          <a:solidFill>
            <a:srgbClr val="001F5F"/>
          </a:solidFill>
        </p:spPr>
        <p:txBody>
          <a:bodyPr wrap="square" lIns="0" tIns="0" rIns="0" bIns="0" rtlCol="0" vert="horz">
            <a:spAutoFit/>
          </a:bodyPr>
          <a:lstStyle/>
          <a:p>
            <a:pPr marL="297815">
              <a:lnSpc>
                <a:spcPts val="800"/>
              </a:lnSpc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www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36892" y="3857523"/>
            <a:ext cx="14160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Radio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Arial"/>
                <a:cs typeface="Arial"/>
              </a:rPr>
              <a:t>Access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Network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258357" y="3860520"/>
            <a:ext cx="9334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Core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Network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99841" y="3920540"/>
            <a:ext cx="7810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Roaming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44566" y="4072940"/>
            <a:ext cx="10915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wholesale</a:t>
            </a: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partners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401" y="4844897"/>
            <a:ext cx="1384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1135"/>
                </a:solidFill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5" name="object 65"/>
          <p:cNvGrpSpPr/>
          <p:nvPr/>
        </p:nvGrpSpPr>
        <p:grpSpPr>
          <a:xfrm>
            <a:off x="321050" y="772085"/>
            <a:ext cx="7430134" cy="4371975"/>
            <a:chOff x="321050" y="772085"/>
            <a:chExt cx="7430134" cy="4371975"/>
          </a:xfrm>
        </p:grpSpPr>
        <p:sp>
          <p:nvSpPr>
            <p:cNvPr id="66" name="object 66"/>
            <p:cNvSpPr/>
            <p:nvPr/>
          </p:nvSpPr>
          <p:spPr>
            <a:xfrm>
              <a:off x="4409998" y="3239960"/>
              <a:ext cx="0" cy="90170"/>
            </a:xfrm>
            <a:custGeom>
              <a:avLst/>
              <a:gdLst/>
              <a:ahLst/>
              <a:cxnLst/>
              <a:rect l="l" t="t" r="r" b="b"/>
              <a:pathLst>
                <a:path w="0" h="90170">
                  <a:moveTo>
                    <a:pt x="0" y="0"/>
                  </a:moveTo>
                  <a:lnTo>
                    <a:pt x="0" y="22507"/>
                  </a:lnTo>
                  <a:lnTo>
                    <a:pt x="0" y="45015"/>
                  </a:lnTo>
                  <a:lnTo>
                    <a:pt x="0" y="67522"/>
                  </a:lnTo>
                  <a:lnTo>
                    <a:pt x="0" y="9003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42391" y="4533531"/>
              <a:ext cx="708172" cy="60996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3652" y="1898294"/>
              <a:ext cx="192696" cy="1927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532826" y="1455902"/>
              <a:ext cx="0" cy="377825"/>
            </a:xfrm>
            <a:custGeom>
              <a:avLst/>
              <a:gdLst/>
              <a:ahLst/>
              <a:cxnLst/>
              <a:rect l="l" t="t" r="r" b="b"/>
              <a:pathLst>
                <a:path w="0" h="377825">
                  <a:moveTo>
                    <a:pt x="0" y="0"/>
                  </a:moveTo>
                  <a:lnTo>
                    <a:pt x="0" y="377799"/>
                  </a:lnTo>
                </a:path>
              </a:pathLst>
            </a:custGeom>
            <a:ln w="25399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440002" y="1644802"/>
              <a:ext cx="180340" cy="0"/>
            </a:xfrm>
            <a:custGeom>
              <a:avLst/>
              <a:gdLst/>
              <a:ahLst/>
              <a:cxnLst/>
              <a:rect l="l" t="t" r="r" b="b"/>
              <a:pathLst>
                <a:path w="180340" h="0">
                  <a:moveTo>
                    <a:pt x="0" y="0"/>
                  </a:moveTo>
                  <a:lnTo>
                    <a:pt x="180000" y="0"/>
                  </a:lnTo>
                </a:path>
              </a:pathLst>
            </a:custGeom>
            <a:ln w="12699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1050" y="772085"/>
              <a:ext cx="401637" cy="402961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89569" y="1258417"/>
              <a:ext cx="210820" cy="1680210"/>
            </a:xfrm>
            <a:custGeom>
              <a:avLst/>
              <a:gdLst/>
              <a:ahLst/>
              <a:cxnLst/>
              <a:rect l="l" t="t" r="r" b="b"/>
              <a:pathLst>
                <a:path w="210819" h="1680210">
                  <a:moveTo>
                    <a:pt x="210422" y="1680121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6450" y="3058972"/>
              <a:ext cx="751779" cy="751776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2321" y="4740452"/>
            <a:ext cx="972000" cy="2190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51470" y="1335100"/>
            <a:ext cx="1887855" cy="307340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ctr" marL="12700" marR="5080">
              <a:lnSpc>
                <a:spcPts val="2160"/>
              </a:lnSpc>
              <a:spcBef>
                <a:spcPts val="37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Amal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Abdullah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landed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safely</a:t>
            </a:r>
            <a:r>
              <a:rPr dirty="0" sz="2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now,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LEO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satellite internet,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 they’re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always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connected</a:t>
            </a:r>
            <a:r>
              <a:rPr dirty="0" sz="200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air,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keeping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 parents worry-free!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8452" y="2774334"/>
              <a:ext cx="722092" cy="6065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2053" y="2281443"/>
              <a:ext cx="776772" cy="7044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3709" y="3207803"/>
              <a:ext cx="709142" cy="5867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93383" y="1665953"/>
              <a:ext cx="758315" cy="6672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4774" y="2207551"/>
              <a:ext cx="709142" cy="5867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73131" y="1281189"/>
              <a:ext cx="776772" cy="7044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18588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18588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39995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39995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5005" y="1853006"/>
              <a:ext cx="1455394" cy="13754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86000" y="1853006"/>
              <a:ext cx="1395336" cy="1437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24381" y="134012"/>
              <a:ext cx="722092" cy="6065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93218" y="633261"/>
              <a:ext cx="776772" cy="7044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13457" y="1018022"/>
              <a:ext cx="758315" cy="6672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64861" y="1559622"/>
              <a:ext cx="709142" cy="5867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78228" y="1845075"/>
              <a:ext cx="365771" cy="5499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47065" y="2344321"/>
              <a:ext cx="776772" cy="7044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67316" y="2729083"/>
              <a:ext cx="476682" cy="62443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18708" y="3270693"/>
              <a:ext cx="709142" cy="5867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52321" y="4459099"/>
              <a:ext cx="1391678" cy="6844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45809" y="3292609"/>
              <a:ext cx="722092" cy="6065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14646" y="3791854"/>
              <a:ext cx="776772" cy="7044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86289" y="4718213"/>
              <a:ext cx="700614" cy="42528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703538" y="3959854"/>
              <a:ext cx="440460" cy="5668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80992" y="3385408"/>
              <a:ext cx="722092" cy="6065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770081" y="4269415"/>
              <a:ext cx="758315" cy="6672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49829" y="3884653"/>
              <a:ext cx="776772" cy="70444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21485" y="4811012"/>
              <a:ext cx="683346" cy="33248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04294" y="781939"/>
              <a:ext cx="722092" cy="60654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72305" y="2666205"/>
              <a:ext cx="758315" cy="6672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48763" y="3926999"/>
              <a:ext cx="722092" cy="60654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917600" y="4426257"/>
              <a:ext cx="776772" cy="70444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80860" y="4811019"/>
              <a:ext cx="715306" cy="33248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7290" y="3273580"/>
              <a:ext cx="776772" cy="7044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77539" y="3658342"/>
              <a:ext cx="758315" cy="66723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28933" y="4199939"/>
              <a:ext cx="709142" cy="5867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634898" y="4176616"/>
              <a:ext cx="1115665" cy="96688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79057" y="1272430"/>
              <a:ext cx="722092" cy="60654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68145" y="2156440"/>
              <a:ext cx="758315" cy="66723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0" y="1771678"/>
              <a:ext cx="624666" cy="70444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0" y="2698037"/>
              <a:ext cx="528683" cy="5694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542313" y="1267255"/>
              <a:ext cx="1162995" cy="112149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932815" y="0"/>
              <a:ext cx="776772" cy="56121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753062" y="241523"/>
              <a:ext cx="758315" cy="66723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0" y="0"/>
              <a:ext cx="240123" cy="36916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904458" y="783122"/>
              <a:ext cx="709142" cy="58675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83602" y="206924"/>
              <a:ext cx="758315" cy="6672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0" y="748523"/>
              <a:ext cx="144137" cy="4979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501833" y="0"/>
              <a:ext cx="717747" cy="44819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570670" y="340897"/>
              <a:ext cx="776772" cy="7044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390922" y="725658"/>
              <a:ext cx="758315" cy="66723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637317" y="0"/>
              <a:ext cx="516782" cy="16675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650831" y="41118"/>
              <a:ext cx="709142" cy="58675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496656" y="0"/>
              <a:ext cx="700729" cy="425904"/>
            </a:xfrm>
            <a:prstGeom prst="rect">
              <a:avLst/>
            </a:prstGeom>
          </p:spPr>
        </p:pic>
      </p:grp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15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4898" y="1055488"/>
            <a:ext cx="828357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"/>
                <a:cs typeface="Arial"/>
              </a:rPr>
              <a:t>Fixed</a:t>
            </a:r>
            <a:r>
              <a:rPr dirty="0" spc="-7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Wireless</a:t>
            </a:r>
            <a:r>
              <a:rPr dirty="0" spc="-7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Access</a:t>
            </a:r>
            <a:r>
              <a:rPr dirty="0" spc="-6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(FWA)</a:t>
            </a:r>
            <a:r>
              <a:rPr dirty="0" spc="-70" b="0">
                <a:latin typeface="Arial"/>
                <a:cs typeface="Arial"/>
              </a:rPr>
              <a:t> </a:t>
            </a:r>
            <a:r>
              <a:rPr dirty="0" spc="-25" b="0">
                <a:latin typeface="Arial"/>
                <a:cs typeface="Arial"/>
              </a:rPr>
              <a:t>via </a:t>
            </a:r>
            <a:r>
              <a:rPr dirty="0" spc="-10" b="0">
                <a:latin typeface="Arial"/>
                <a:cs typeface="Arial"/>
              </a:rPr>
              <a:t>Satellites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15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04638" y="155186"/>
            <a:ext cx="40557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Fixed</a:t>
            </a:r>
            <a:r>
              <a:rPr dirty="0" sz="2400" spc="-7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Wireless</a:t>
            </a:r>
            <a:r>
              <a:rPr dirty="0" sz="2400" spc="-65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5AFF"/>
                </a:solidFill>
                <a:latin typeface="Arial"/>
                <a:cs typeface="Arial"/>
              </a:rPr>
              <a:t>Access</a:t>
            </a:r>
            <a:r>
              <a:rPr dirty="0" sz="2400" spc="-60" b="0">
                <a:solidFill>
                  <a:srgbClr val="005AFF"/>
                </a:solidFill>
                <a:latin typeface="Arial"/>
                <a:cs typeface="Arial"/>
              </a:rPr>
              <a:t> </a:t>
            </a:r>
            <a:r>
              <a:rPr dirty="0" sz="2400" spc="-10" b="0">
                <a:solidFill>
                  <a:srgbClr val="005AFF"/>
                </a:solidFill>
                <a:latin typeface="Arial"/>
                <a:cs typeface="Arial"/>
              </a:rPr>
              <a:t>(FWA)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638" y="627423"/>
            <a:ext cx="8308975" cy="38227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09"/>
              </a:spcBef>
            </a:pP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Fixed</a:t>
            </a:r>
            <a:r>
              <a:rPr dirty="0" sz="1300" spc="-3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Wireless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Access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(FWA)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is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wireless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001135"/>
                </a:solidFill>
                <a:latin typeface="Arial"/>
                <a:cs typeface="Arial"/>
              </a:rPr>
              <a:t>connection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that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provides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001135"/>
                </a:solidFill>
                <a:latin typeface="Arial"/>
                <a:cs typeface="Arial"/>
              </a:rPr>
              <a:t>broadband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access</a:t>
            </a:r>
            <a:r>
              <a:rPr dirty="0" sz="1300" spc="-3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a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specific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location</a:t>
            </a:r>
            <a:r>
              <a:rPr dirty="0" sz="1300" spc="-3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001135"/>
                </a:solidFill>
                <a:latin typeface="Arial"/>
                <a:cs typeface="Arial"/>
              </a:rPr>
              <a:t>such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as</a:t>
            </a:r>
            <a:r>
              <a:rPr dirty="0" sz="1300" spc="-20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a</a:t>
            </a:r>
            <a:r>
              <a:rPr dirty="0" sz="13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home</a:t>
            </a:r>
            <a:r>
              <a:rPr dirty="0" sz="13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1135"/>
                </a:solidFill>
                <a:latin typeface="Arial"/>
                <a:cs typeface="Arial"/>
              </a:rPr>
              <a:t>or</a:t>
            </a:r>
            <a:r>
              <a:rPr dirty="0" sz="13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001135"/>
                </a:solidFill>
                <a:latin typeface="Arial"/>
                <a:cs typeface="Arial"/>
              </a:rPr>
              <a:t>enterprise</a:t>
            </a:r>
            <a:r>
              <a:rPr dirty="0" sz="1300" spc="-15">
                <a:solidFill>
                  <a:srgbClr val="001135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001135"/>
                </a:solidFill>
                <a:latin typeface="Arial"/>
                <a:cs typeface="Arial"/>
              </a:rPr>
              <a:t>premises.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8977" y="1176427"/>
            <a:ext cx="8606155" cy="3402329"/>
            <a:chOff x="268977" y="1176427"/>
            <a:chExt cx="8606155" cy="3402329"/>
          </a:xfrm>
        </p:grpSpPr>
        <p:sp>
          <p:nvSpPr>
            <p:cNvPr id="5" name="object 5"/>
            <p:cNvSpPr/>
            <p:nvPr/>
          </p:nvSpPr>
          <p:spPr>
            <a:xfrm>
              <a:off x="275327" y="1182777"/>
              <a:ext cx="8593455" cy="3389629"/>
            </a:xfrm>
            <a:custGeom>
              <a:avLst/>
              <a:gdLst/>
              <a:ahLst/>
              <a:cxnLst/>
              <a:rect l="l" t="t" r="r" b="b"/>
              <a:pathLst>
                <a:path w="8593455" h="3389629">
                  <a:moveTo>
                    <a:pt x="8028406" y="0"/>
                  </a:moveTo>
                  <a:lnTo>
                    <a:pt x="564940" y="0"/>
                  </a:lnTo>
                  <a:lnTo>
                    <a:pt x="516491" y="2090"/>
                  </a:lnTo>
                  <a:lnTo>
                    <a:pt x="469130" y="8243"/>
                  </a:lnTo>
                  <a:lnTo>
                    <a:pt x="423031" y="18286"/>
                  </a:lnTo>
                  <a:lnTo>
                    <a:pt x="378369" y="32042"/>
                  </a:lnTo>
                  <a:lnTo>
                    <a:pt x="335320" y="49336"/>
                  </a:lnTo>
                  <a:lnTo>
                    <a:pt x="294059" y="69993"/>
                  </a:lnTo>
                  <a:lnTo>
                    <a:pt x="254761" y="93839"/>
                  </a:lnTo>
                  <a:lnTo>
                    <a:pt x="217600" y="120697"/>
                  </a:lnTo>
                  <a:lnTo>
                    <a:pt x="182753" y="150394"/>
                  </a:lnTo>
                  <a:lnTo>
                    <a:pt x="150393" y="182754"/>
                  </a:lnTo>
                  <a:lnTo>
                    <a:pt x="120696" y="217601"/>
                  </a:lnTo>
                  <a:lnTo>
                    <a:pt x="93838" y="254762"/>
                  </a:lnTo>
                  <a:lnTo>
                    <a:pt x="69992" y="294059"/>
                  </a:lnTo>
                  <a:lnTo>
                    <a:pt x="49335" y="335320"/>
                  </a:lnTo>
                  <a:lnTo>
                    <a:pt x="32041" y="378368"/>
                  </a:lnTo>
                  <a:lnTo>
                    <a:pt x="18285" y="423029"/>
                  </a:lnTo>
                  <a:lnTo>
                    <a:pt x="8243" y="469126"/>
                  </a:lnTo>
                  <a:lnTo>
                    <a:pt x="2090" y="516486"/>
                  </a:lnTo>
                  <a:lnTo>
                    <a:pt x="0" y="564934"/>
                  </a:lnTo>
                  <a:lnTo>
                    <a:pt x="0" y="2824632"/>
                  </a:lnTo>
                  <a:lnTo>
                    <a:pt x="2090" y="2873081"/>
                  </a:lnTo>
                  <a:lnTo>
                    <a:pt x="8243" y="2920443"/>
                  </a:lnTo>
                  <a:lnTo>
                    <a:pt x="18285" y="2966542"/>
                  </a:lnTo>
                  <a:lnTo>
                    <a:pt x="32041" y="3011204"/>
                  </a:lnTo>
                  <a:lnTo>
                    <a:pt x="49335" y="3054253"/>
                  </a:lnTo>
                  <a:lnTo>
                    <a:pt x="69992" y="3095515"/>
                  </a:lnTo>
                  <a:lnTo>
                    <a:pt x="93838" y="3134813"/>
                  </a:lnTo>
                  <a:lnTo>
                    <a:pt x="120696" y="3171974"/>
                  </a:lnTo>
                  <a:lnTo>
                    <a:pt x="150393" y="3206823"/>
                  </a:lnTo>
                  <a:lnTo>
                    <a:pt x="182753" y="3239183"/>
                  </a:lnTo>
                  <a:lnTo>
                    <a:pt x="217600" y="3268880"/>
                  </a:lnTo>
                  <a:lnTo>
                    <a:pt x="254761" y="3295739"/>
                  </a:lnTo>
                  <a:lnTo>
                    <a:pt x="294059" y="3319585"/>
                  </a:lnTo>
                  <a:lnTo>
                    <a:pt x="335320" y="3340242"/>
                  </a:lnTo>
                  <a:lnTo>
                    <a:pt x="378369" y="3357537"/>
                  </a:lnTo>
                  <a:lnTo>
                    <a:pt x="423031" y="3371292"/>
                  </a:lnTo>
                  <a:lnTo>
                    <a:pt x="469130" y="3381335"/>
                  </a:lnTo>
                  <a:lnTo>
                    <a:pt x="516491" y="3387489"/>
                  </a:lnTo>
                  <a:lnTo>
                    <a:pt x="564940" y="3389579"/>
                  </a:lnTo>
                  <a:lnTo>
                    <a:pt x="8028406" y="3389579"/>
                  </a:lnTo>
                  <a:lnTo>
                    <a:pt x="8076855" y="3387489"/>
                  </a:lnTo>
                  <a:lnTo>
                    <a:pt x="8124217" y="3381335"/>
                  </a:lnTo>
                  <a:lnTo>
                    <a:pt x="8170315" y="3371292"/>
                  </a:lnTo>
                  <a:lnTo>
                    <a:pt x="8214977" y="3357537"/>
                  </a:lnTo>
                  <a:lnTo>
                    <a:pt x="8258025" y="3340242"/>
                  </a:lnTo>
                  <a:lnTo>
                    <a:pt x="8299286" y="3319585"/>
                  </a:lnTo>
                  <a:lnTo>
                    <a:pt x="8338584" y="3295739"/>
                  </a:lnTo>
                  <a:lnTo>
                    <a:pt x="8375744" y="3268880"/>
                  </a:lnTo>
                  <a:lnTo>
                    <a:pt x="8410591" y="3239183"/>
                  </a:lnTo>
                  <a:lnTo>
                    <a:pt x="8442950" y="3206823"/>
                  </a:lnTo>
                  <a:lnTo>
                    <a:pt x="8472646" y="3171974"/>
                  </a:lnTo>
                  <a:lnTo>
                    <a:pt x="8499504" y="3134813"/>
                  </a:lnTo>
                  <a:lnTo>
                    <a:pt x="8523349" y="3095515"/>
                  </a:lnTo>
                  <a:lnTo>
                    <a:pt x="8544006" y="3054253"/>
                  </a:lnTo>
                  <a:lnTo>
                    <a:pt x="8561299" y="3011204"/>
                  </a:lnTo>
                  <a:lnTo>
                    <a:pt x="8575055" y="2966542"/>
                  </a:lnTo>
                  <a:lnTo>
                    <a:pt x="8585097" y="2920443"/>
                  </a:lnTo>
                  <a:lnTo>
                    <a:pt x="8591250" y="2873081"/>
                  </a:lnTo>
                  <a:lnTo>
                    <a:pt x="8593340" y="2824632"/>
                  </a:lnTo>
                  <a:lnTo>
                    <a:pt x="8593340" y="564934"/>
                  </a:lnTo>
                  <a:lnTo>
                    <a:pt x="8591250" y="516486"/>
                  </a:lnTo>
                  <a:lnTo>
                    <a:pt x="8585097" y="469126"/>
                  </a:lnTo>
                  <a:lnTo>
                    <a:pt x="8575055" y="423029"/>
                  </a:lnTo>
                  <a:lnTo>
                    <a:pt x="8561299" y="378368"/>
                  </a:lnTo>
                  <a:lnTo>
                    <a:pt x="8544006" y="335320"/>
                  </a:lnTo>
                  <a:lnTo>
                    <a:pt x="8523349" y="294059"/>
                  </a:lnTo>
                  <a:lnTo>
                    <a:pt x="8499504" y="254762"/>
                  </a:lnTo>
                  <a:lnTo>
                    <a:pt x="8472646" y="217601"/>
                  </a:lnTo>
                  <a:lnTo>
                    <a:pt x="8442950" y="182754"/>
                  </a:lnTo>
                  <a:lnTo>
                    <a:pt x="8410591" y="150394"/>
                  </a:lnTo>
                  <a:lnTo>
                    <a:pt x="8375744" y="120697"/>
                  </a:lnTo>
                  <a:lnTo>
                    <a:pt x="8338584" y="93839"/>
                  </a:lnTo>
                  <a:lnTo>
                    <a:pt x="8299286" y="69993"/>
                  </a:lnTo>
                  <a:lnTo>
                    <a:pt x="8258025" y="49336"/>
                  </a:lnTo>
                  <a:lnTo>
                    <a:pt x="8214977" y="32042"/>
                  </a:lnTo>
                  <a:lnTo>
                    <a:pt x="8170315" y="18286"/>
                  </a:lnTo>
                  <a:lnTo>
                    <a:pt x="8124217" y="8243"/>
                  </a:lnTo>
                  <a:lnTo>
                    <a:pt x="8076855" y="2090"/>
                  </a:lnTo>
                  <a:lnTo>
                    <a:pt x="8028406" y="0"/>
                  </a:lnTo>
                  <a:close/>
                </a:path>
              </a:pathLst>
            </a:custGeom>
            <a:solidFill>
              <a:srgbClr val="CC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5327" y="1182777"/>
              <a:ext cx="8593455" cy="3389629"/>
            </a:xfrm>
            <a:custGeom>
              <a:avLst/>
              <a:gdLst/>
              <a:ahLst/>
              <a:cxnLst/>
              <a:rect l="l" t="t" r="r" b="b"/>
              <a:pathLst>
                <a:path w="8593455" h="3389629">
                  <a:moveTo>
                    <a:pt x="0" y="564934"/>
                  </a:moveTo>
                  <a:lnTo>
                    <a:pt x="2090" y="516486"/>
                  </a:lnTo>
                  <a:lnTo>
                    <a:pt x="8243" y="469126"/>
                  </a:lnTo>
                  <a:lnTo>
                    <a:pt x="18285" y="423029"/>
                  </a:lnTo>
                  <a:lnTo>
                    <a:pt x="32041" y="378368"/>
                  </a:lnTo>
                  <a:lnTo>
                    <a:pt x="49335" y="335320"/>
                  </a:lnTo>
                  <a:lnTo>
                    <a:pt x="69992" y="294059"/>
                  </a:lnTo>
                  <a:lnTo>
                    <a:pt x="93838" y="254762"/>
                  </a:lnTo>
                  <a:lnTo>
                    <a:pt x="120696" y="217601"/>
                  </a:lnTo>
                  <a:lnTo>
                    <a:pt x="150393" y="182754"/>
                  </a:lnTo>
                  <a:lnTo>
                    <a:pt x="182753" y="150394"/>
                  </a:lnTo>
                  <a:lnTo>
                    <a:pt x="217600" y="120697"/>
                  </a:lnTo>
                  <a:lnTo>
                    <a:pt x="254761" y="93839"/>
                  </a:lnTo>
                  <a:lnTo>
                    <a:pt x="294059" y="69993"/>
                  </a:lnTo>
                  <a:lnTo>
                    <a:pt x="335320" y="49336"/>
                  </a:lnTo>
                  <a:lnTo>
                    <a:pt x="378369" y="32042"/>
                  </a:lnTo>
                  <a:lnTo>
                    <a:pt x="423031" y="18286"/>
                  </a:lnTo>
                  <a:lnTo>
                    <a:pt x="469130" y="8243"/>
                  </a:lnTo>
                  <a:lnTo>
                    <a:pt x="516491" y="2090"/>
                  </a:lnTo>
                  <a:lnTo>
                    <a:pt x="564940" y="0"/>
                  </a:lnTo>
                  <a:lnTo>
                    <a:pt x="8028406" y="0"/>
                  </a:lnTo>
                  <a:lnTo>
                    <a:pt x="8076855" y="2090"/>
                  </a:lnTo>
                  <a:lnTo>
                    <a:pt x="8124217" y="8243"/>
                  </a:lnTo>
                  <a:lnTo>
                    <a:pt x="8170315" y="18286"/>
                  </a:lnTo>
                  <a:lnTo>
                    <a:pt x="8214977" y="32042"/>
                  </a:lnTo>
                  <a:lnTo>
                    <a:pt x="8258025" y="49336"/>
                  </a:lnTo>
                  <a:lnTo>
                    <a:pt x="8299286" y="69993"/>
                  </a:lnTo>
                  <a:lnTo>
                    <a:pt x="8338584" y="93839"/>
                  </a:lnTo>
                  <a:lnTo>
                    <a:pt x="8375744" y="120697"/>
                  </a:lnTo>
                  <a:lnTo>
                    <a:pt x="8410591" y="150394"/>
                  </a:lnTo>
                  <a:lnTo>
                    <a:pt x="8442950" y="182754"/>
                  </a:lnTo>
                  <a:lnTo>
                    <a:pt x="8472646" y="217601"/>
                  </a:lnTo>
                  <a:lnTo>
                    <a:pt x="8499504" y="254762"/>
                  </a:lnTo>
                  <a:lnTo>
                    <a:pt x="8523349" y="294059"/>
                  </a:lnTo>
                  <a:lnTo>
                    <a:pt x="8544006" y="335320"/>
                  </a:lnTo>
                  <a:lnTo>
                    <a:pt x="8561299" y="378368"/>
                  </a:lnTo>
                  <a:lnTo>
                    <a:pt x="8575055" y="423029"/>
                  </a:lnTo>
                  <a:lnTo>
                    <a:pt x="8585097" y="469126"/>
                  </a:lnTo>
                  <a:lnTo>
                    <a:pt x="8591250" y="516486"/>
                  </a:lnTo>
                  <a:lnTo>
                    <a:pt x="8593340" y="564934"/>
                  </a:lnTo>
                  <a:lnTo>
                    <a:pt x="8593340" y="2824632"/>
                  </a:lnTo>
                  <a:lnTo>
                    <a:pt x="8591250" y="2873081"/>
                  </a:lnTo>
                  <a:lnTo>
                    <a:pt x="8585097" y="2920443"/>
                  </a:lnTo>
                  <a:lnTo>
                    <a:pt x="8575055" y="2966542"/>
                  </a:lnTo>
                  <a:lnTo>
                    <a:pt x="8561299" y="3011204"/>
                  </a:lnTo>
                  <a:lnTo>
                    <a:pt x="8544006" y="3054253"/>
                  </a:lnTo>
                  <a:lnTo>
                    <a:pt x="8523349" y="3095515"/>
                  </a:lnTo>
                  <a:lnTo>
                    <a:pt x="8499504" y="3134813"/>
                  </a:lnTo>
                  <a:lnTo>
                    <a:pt x="8472646" y="3171974"/>
                  </a:lnTo>
                  <a:lnTo>
                    <a:pt x="8442950" y="3206823"/>
                  </a:lnTo>
                  <a:lnTo>
                    <a:pt x="8410591" y="3239183"/>
                  </a:lnTo>
                  <a:lnTo>
                    <a:pt x="8375744" y="3268880"/>
                  </a:lnTo>
                  <a:lnTo>
                    <a:pt x="8338584" y="3295739"/>
                  </a:lnTo>
                  <a:lnTo>
                    <a:pt x="8299286" y="3319585"/>
                  </a:lnTo>
                  <a:lnTo>
                    <a:pt x="8258025" y="3340242"/>
                  </a:lnTo>
                  <a:lnTo>
                    <a:pt x="8214977" y="3357537"/>
                  </a:lnTo>
                  <a:lnTo>
                    <a:pt x="8170315" y="3371292"/>
                  </a:lnTo>
                  <a:lnTo>
                    <a:pt x="8124217" y="3381335"/>
                  </a:lnTo>
                  <a:lnTo>
                    <a:pt x="8076855" y="3387489"/>
                  </a:lnTo>
                  <a:lnTo>
                    <a:pt x="8028406" y="3389579"/>
                  </a:lnTo>
                  <a:lnTo>
                    <a:pt x="564940" y="3389579"/>
                  </a:lnTo>
                  <a:lnTo>
                    <a:pt x="516491" y="3387489"/>
                  </a:lnTo>
                  <a:lnTo>
                    <a:pt x="469130" y="3381335"/>
                  </a:lnTo>
                  <a:lnTo>
                    <a:pt x="423031" y="3371292"/>
                  </a:lnTo>
                  <a:lnTo>
                    <a:pt x="378369" y="3357537"/>
                  </a:lnTo>
                  <a:lnTo>
                    <a:pt x="335320" y="3340242"/>
                  </a:lnTo>
                  <a:lnTo>
                    <a:pt x="294059" y="3319585"/>
                  </a:lnTo>
                  <a:lnTo>
                    <a:pt x="254761" y="3295739"/>
                  </a:lnTo>
                  <a:lnTo>
                    <a:pt x="217600" y="3268880"/>
                  </a:lnTo>
                  <a:lnTo>
                    <a:pt x="182753" y="3239183"/>
                  </a:lnTo>
                  <a:lnTo>
                    <a:pt x="150393" y="3206823"/>
                  </a:lnTo>
                  <a:lnTo>
                    <a:pt x="120696" y="3171974"/>
                  </a:lnTo>
                  <a:lnTo>
                    <a:pt x="93838" y="3134813"/>
                  </a:lnTo>
                  <a:lnTo>
                    <a:pt x="69992" y="3095515"/>
                  </a:lnTo>
                  <a:lnTo>
                    <a:pt x="49335" y="3054253"/>
                  </a:lnTo>
                  <a:lnTo>
                    <a:pt x="32041" y="3011204"/>
                  </a:lnTo>
                  <a:lnTo>
                    <a:pt x="18285" y="2966542"/>
                  </a:lnTo>
                  <a:lnTo>
                    <a:pt x="8243" y="2920443"/>
                  </a:lnTo>
                  <a:lnTo>
                    <a:pt x="2090" y="2873081"/>
                  </a:lnTo>
                  <a:lnTo>
                    <a:pt x="0" y="2824632"/>
                  </a:lnTo>
                  <a:lnTo>
                    <a:pt x="0" y="564934"/>
                  </a:lnTo>
                  <a:close/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81997" y="1502841"/>
            <a:ext cx="2078355" cy="2678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1400" b="1">
                <a:latin typeface="Arial"/>
                <a:cs typeface="Arial"/>
              </a:rPr>
              <a:t>4G/5G</a:t>
            </a:r>
            <a:r>
              <a:rPr dirty="0" sz="1400" spc="-10" b="1">
                <a:latin typeface="Arial"/>
                <a:cs typeface="Arial"/>
              </a:rPr>
              <a:t> Support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1400" b="1">
                <a:latin typeface="Arial"/>
                <a:cs typeface="Arial"/>
              </a:rPr>
              <a:t>No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cables</a:t>
            </a:r>
            <a:r>
              <a:rPr dirty="0" sz="1400" spc="-10" b="1">
                <a:latin typeface="Arial"/>
                <a:cs typeface="Arial"/>
              </a:rPr>
              <a:t> needed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 spc="-10" b="1">
                <a:latin typeface="Arial"/>
                <a:cs typeface="Arial"/>
              </a:rPr>
              <a:t>Fiber-</a:t>
            </a:r>
            <a:r>
              <a:rPr dirty="0" sz="1400" b="1">
                <a:latin typeface="Arial"/>
                <a:cs typeface="Arial"/>
              </a:rPr>
              <a:t>like</a:t>
            </a:r>
            <a:r>
              <a:rPr dirty="0" sz="1400" spc="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speeds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298450" marR="311150" indent="-285750">
              <a:lnSpc>
                <a:spcPts val="151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b="1">
                <a:latin typeface="Arial"/>
                <a:cs typeface="Arial"/>
              </a:rPr>
              <a:t>Urban/Rural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Cost </a:t>
            </a:r>
            <a:r>
              <a:rPr dirty="0" sz="1400" spc="-10" b="1">
                <a:latin typeface="Arial"/>
                <a:cs typeface="Arial"/>
              </a:rPr>
              <a:t>Advantages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0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 b="1">
                <a:latin typeface="Arial"/>
                <a:cs typeface="Arial"/>
              </a:rPr>
              <a:t>Remote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Connectivity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401" y="4844897"/>
            <a:ext cx="1384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1135"/>
                </a:solidFill>
                <a:latin typeface="Arial"/>
                <a:cs typeface="Arial"/>
              </a:rPr>
              <a:t>17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2321" y="4740452"/>
            <a:ext cx="972000" cy="21901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156252" y="1059351"/>
            <a:ext cx="3990975" cy="4084320"/>
            <a:chOff x="4156252" y="1059351"/>
            <a:chExt cx="3990975" cy="408432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6252" y="1059351"/>
              <a:ext cx="3990975" cy="32385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2391" y="4533531"/>
              <a:ext cx="708172" cy="6099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59998"/>
              <a:ext cx="9144000" cy="3883660"/>
            </a:xfrm>
            <a:custGeom>
              <a:avLst/>
              <a:gdLst/>
              <a:ahLst/>
              <a:cxnLst/>
              <a:rect l="l" t="t" r="r" b="b"/>
              <a:pathLst>
                <a:path w="9144000" h="3883660">
                  <a:moveTo>
                    <a:pt x="9144000" y="0"/>
                  </a:moveTo>
                  <a:lnTo>
                    <a:pt x="0" y="0"/>
                  </a:lnTo>
                  <a:lnTo>
                    <a:pt x="0" y="3883501"/>
                  </a:lnTo>
                  <a:lnTo>
                    <a:pt x="9144000" y="388350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135">
                <a:alpha val="9803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0909" rIns="0" bIns="0" rtlCol="0" vert="horz">
            <a:spAutoFit/>
          </a:bodyPr>
          <a:lstStyle/>
          <a:p>
            <a:pPr marL="419734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latin typeface="Arial"/>
                <a:cs typeface="Arial"/>
              </a:rPr>
              <a:t>Why</a:t>
            </a:r>
            <a:r>
              <a:rPr dirty="0" sz="2700" spc="-20" b="0">
                <a:latin typeface="Arial"/>
                <a:cs typeface="Arial"/>
              </a:rPr>
              <a:t> </a:t>
            </a:r>
            <a:r>
              <a:rPr dirty="0" sz="2700" b="0">
                <a:latin typeface="Arial"/>
                <a:cs typeface="Arial"/>
              </a:rPr>
              <a:t>Satellites</a:t>
            </a:r>
            <a:r>
              <a:rPr dirty="0" sz="2700" spc="-15" b="0">
                <a:latin typeface="Arial"/>
                <a:cs typeface="Arial"/>
              </a:rPr>
              <a:t> </a:t>
            </a:r>
            <a:r>
              <a:rPr dirty="0" sz="2700" b="0">
                <a:latin typeface="Arial"/>
                <a:cs typeface="Arial"/>
              </a:rPr>
              <a:t>for</a:t>
            </a:r>
            <a:r>
              <a:rPr dirty="0" sz="2700" spc="-20" b="0">
                <a:latin typeface="Arial"/>
                <a:cs typeface="Arial"/>
              </a:rPr>
              <a:t> FWA?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79370" y="2013115"/>
            <a:ext cx="7745095" cy="3130550"/>
            <a:chOff x="979370" y="2013115"/>
            <a:chExt cx="7745095" cy="31305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9370" y="2013115"/>
              <a:ext cx="1097281" cy="10972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8673" y="2013115"/>
              <a:ext cx="1097281" cy="10972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7973" y="2013115"/>
              <a:ext cx="1097281" cy="10972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272" y="2013115"/>
              <a:ext cx="1098664" cy="10972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2391" y="4533531"/>
              <a:ext cx="1681930" cy="60996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35281" y="3394570"/>
            <a:ext cx="9937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Overcomes Physical Barriers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99077" y="3394570"/>
            <a:ext cx="9048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215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Stronger Resilience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99265" y="3394570"/>
            <a:ext cx="133921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Supports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Wide-Area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Deployments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8277" y="3393490"/>
            <a:ext cx="15951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7034" marR="5080" indent="-39497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Complements,</a:t>
            </a: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Not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Replaces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18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2321" y="4740465"/>
              <a:ext cx="971999" cy="21901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18589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18589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039995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039995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8165" y="1716493"/>
              <a:ext cx="1389062" cy="15779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4216" y="1693608"/>
              <a:ext cx="1334160" cy="1600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4199" y="0"/>
              <a:ext cx="2108200" cy="11824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4584" y="3422929"/>
              <a:ext cx="4013581" cy="17205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42391" y="4533531"/>
              <a:ext cx="708172" cy="609968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18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4898" y="1055488"/>
            <a:ext cx="483679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"/>
                <a:cs typeface="Arial"/>
              </a:rPr>
              <a:t>Direct</a:t>
            </a:r>
            <a:r>
              <a:rPr dirty="0" spc="-3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to</a:t>
            </a:r>
            <a:r>
              <a:rPr dirty="0" spc="-3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Device</a:t>
            </a:r>
            <a:r>
              <a:rPr dirty="0" spc="-30" b="0">
                <a:latin typeface="Arial"/>
                <a:cs typeface="Arial"/>
              </a:rPr>
              <a:t> </a:t>
            </a:r>
            <a:r>
              <a:rPr dirty="0" spc="-50" b="0">
                <a:latin typeface="Arial"/>
                <a:cs typeface="Arial"/>
              </a:rPr>
              <a:t>- </a:t>
            </a:r>
            <a:r>
              <a:rPr dirty="0" b="0">
                <a:latin typeface="Arial"/>
                <a:cs typeface="Arial"/>
              </a:rPr>
              <a:t>Anytime,</a:t>
            </a:r>
            <a:r>
              <a:rPr dirty="0" spc="-210" b="0">
                <a:latin typeface="Arial"/>
                <a:cs typeface="Arial"/>
              </a:rPr>
              <a:t> </a:t>
            </a:r>
            <a:r>
              <a:rPr dirty="0" spc="-10" b="0">
                <a:latin typeface="Arial"/>
                <a:cs typeface="Arial"/>
              </a:rPr>
              <a:t>Anywhere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17386" y="2381885"/>
            <a:ext cx="2198370" cy="2124710"/>
            <a:chOff x="6317386" y="2381885"/>
            <a:chExt cx="2198370" cy="2124710"/>
          </a:xfrm>
        </p:grpSpPr>
        <p:sp>
          <p:nvSpPr>
            <p:cNvPr id="4" name="object 4"/>
            <p:cNvSpPr/>
            <p:nvPr/>
          </p:nvSpPr>
          <p:spPr>
            <a:xfrm>
              <a:off x="6323736" y="2388234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23736" y="2388234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2877" y="2656992"/>
              <a:ext cx="1367193" cy="158926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18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2321" y="4740452"/>
            <a:ext cx="972000" cy="2190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47309" y="220925"/>
            <a:ext cx="3191510" cy="4923155"/>
            <a:chOff x="5547309" y="220925"/>
            <a:chExt cx="3191510" cy="4923155"/>
          </a:xfrm>
        </p:grpSpPr>
        <p:sp>
          <p:nvSpPr>
            <p:cNvPr id="5" name="object 5"/>
            <p:cNvSpPr/>
            <p:nvPr/>
          </p:nvSpPr>
          <p:spPr>
            <a:xfrm>
              <a:off x="6704977" y="1257772"/>
              <a:ext cx="1317625" cy="1691005"/>
            </a:xfrm>
            <a:custGeom>
              <a:avLst/>
              <a:gdLst/>
              <a:ahLst/>
              <a:cxnLst/>
              <a:rect l="l" t="t" r="r" b="b"/>
              <a:pathLst>
                <a:path w="1317625" h="1691005">
                  <a:moveTo>
                    <a:pt x="0" y="0"/>
                  </a:moveTo>
                  <a:lnTo>
                    <a:pt x="1317193" y="1690382"/>
                  </a:lnTo>
                </a:path>
              </a:pathLst>
            </a:custGeom>
            <a:ln w="6349">
              <a:solidFill>
                <a:srgbClr val="0011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6909" y="2866672"/>
              <a:ext cx="78436" cy="8465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57555" y="1270596"/>
              <a:ext cx="1100455" cy="1913889"/>
            </a:xfrm>
            <a:custGeom>
              <a:avLst/>
              <a:gdLst/>
              <a:ahLst/>
              <a:cxnLst/>
              <a:rect l="l" t="t" r="r" b="b"/>
              <a:pathLst>
                <a:path w="1100454" h="1913889">
                  <a:moveTo>
                    <a:pt x="0" y="0"/>
                  </a:moveTo>
                  <a:lnTo>
                    <a:pt x="1100154" y="1913470"/>
                  </a:lnTo>
                </a:path>
              </a:pathLst>
            </a:custGeom>
            <a:ln w="6349">
              <a:solidFill>
                <a:srgbClr val="0011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7962" y="3101162"/>
              <a:ext cx="72921" cy="860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03377" y="1280617"/>
              <a:ext cx="950594" cy="2078989"/>
            </a:xfrm>
            <a:custGeom>
              <a:avLst/>
              <a:gdLst/>
              <a:ahLst/>
              <a:cxnLst/>
              <a:rect l="l" t="t" r="r" b="b"/>
              <a:pathLst>
                <a:path w="950595" h="2078989">
                  <a:moveTo>
                    <a:pt x="0" y="0"/>
                  </a:moveTo>
                  <a:lnTo>
                    <a:pt x="950471" y="2078659"/>
                  </a:lnTo>
                </a:path>
              </a:pathLst>
            </a:custGeom>
            <a:ln w="6349">
              <a:solidFill>
                <a:srgbClr val="0011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8483" y="3276282"/>
              <a:ext cx="71317" cy="861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65791" y="1221237"/>
              <a:ext cx="90170" cy="2399030"/>
            </a:xfrm>
            <a:custGeom>
              <a:avLst/>
              <a:gdLst/>
              <a:ahLst/>
              <a:cxnLst/>
              <a:rect l="l" t="t" r="r" b="b"/>
              <a:pathLst>
                <a:path w="90170" h="2399029">
                  <a:moveTo>
                    <a:pt x="89808" y="0"/>
                  </a:moveTo>
                  <a:lnTo>
                    <a:pt x="0" y="2399030"/>
                  </a:lnTo>
                </a:path>
              </a:pathLst>
            </a:custGeom>
            <a:ln w="6349">
              <a:solidFill>
                <a:srgbClr val="0011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9595" y="3544372"/>
              <a:ext cx="77737" cy="790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576491" y="1163970"/>
              <a:ext cx="546100" cy="2416175"/>
            </a:xfrm>
            <a:custGeom>
              <a:avLst/>
              <a:gdLst/>
              <a:ahLst/>
              <a:cxnLst/>
              <a:rect l="l" t="t" r="r" b="b"/>
              <a:pathLst>
                <a:path w="546100" h="2416175">
                  <a:moveTo>
                    <a:pt x="0" y="0"/>
                  </a:moveTo>
                  <a:lnTo>
                    <a:pt x="546103" y="2415654"/>
                  </a:lnTo>
                </a:path>
              </a:pathLst>
            </a:custGeom>
            <a:ln w="6349">
              <a:solidFill>
                <a:srgbClr val="0011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8828" y="3498890"/>
              <a:ext cx="76028" cy="839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70508" y="2660091"/>
              <a:ext cx="1128226" cy="17567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7844" y="3475939"/>
              <a:ext cx="1932719" cy="16675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7309" y="220925"/>
              <a:ext cx="1660321" cy="166032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53849" y="3359277"/>
              <a:ext cx="1159510" cy="1057910"/>
            </a:xfrm>
            <a:custGeom>
              <a:avLst/>
              <a:gdLst/>
              <a:ahLst/>
              <a:cxnLst/>
              <a:rect l="l" t="t" r="r" b="b"/>
              <a:pathLst>
                <a:path w="1159509" h="1057910">
                  <a:moveTo>
                    <a:pt x="1159404" y="0"/>
                  </a:moveTo>
                  <a:lnTo>
                    <a:pt x="0" y="1057592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614018" y="3389363"/>
              <a:ext cx="1075690" cy="993775"/>
            </a:xfrm>
            <a:custGeom>
              <a:avLst/>
              <a:gdLst/>
              <a:ahLst/>
              <a:cxnLst/>
              <a:rect l="l" t="t" r="r" b="b"/>
              <a:pathLst>
                <a:path w="1075690" h="993775">
                  <a:moveTo>
                    <a:pt x="0" y="0"/>
                  </a:moveTo>
                  <a:lnTo>
                    <a:pt x="1075517" y="993559"/>
                  </a:lnTo>
                </a:path>
              </a:pathLst>
            </a:custGeom>
            <a:ln w="507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061" rIns="0" bIns="0" rtlCol="0" vert="horz">
            <a:spAutoFit/>
          </a:bodyPr>
          <a:lstStyle/>
          <a:p>
            <a:pPr marL="379095">
              <a:lnSpc>
                <a:spcPct val="100000"/>
              </a:lnSpc>
              <a:spcBef>
                <a:spcPts val="100"/>
              </a:spcBef>
            </a:pPr>
            <a:r>
              <a:rPr dirty="0" sz="2000" spc="-20" b="0">
                <a:solidFill>
                  <a:srgbClr val="0044BE"/>
                </a:solidFill>
                <a:latin typeface="Arial"/>
                <a:cs typeface="Arial"/>
              </a:rPr>
              <a:t>Direct-</a:t>
            </a:r>
            <a:r>
              <a:rPr dirty="0" sz="2000" spc="-10" b="0">
                <a:solidFill>
                  <a:srgbClr val="0044BE"/>
                </a:solidFill>
                <a:latin typeface="Arial"/>
                <a:cs typeface="Arial"/>
              </a:rPr>
              <a:t>To-</a:t>
            </a: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Device</a:t>
            </a:r>
            <a:r>
              <a:rPr dirty="0" sz="2000" spc="-15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/</a:t>
            </a:r>
            <a:r>
              <a:rPr dirty="0" sz="2000" spc="-15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IoT</a:t>
            </a:r>
            <a:r>
              <a:rPr dirty="0" sz="2000" spc="-15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spc="-10" b="0">
                <a:solidFill>
                  <a:srgbClr val="0044BE"/>
                </a:solidFill>
                <a:latin typeface="Arial"/>
                <a:cs typeface="Arial"/>
              </a:rPr>
              <a:t>SatCom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6919" y="1436649"/>
            <a:ext cx="4291965" cy="2922905"/>
            <a:chOff x="286919" y="1436649"/>
            <a:chExt cx="4291965" cy="2922905"/>
          </a:xfrm>
        </p:grpSpPr>
        <p:sp>
          <p:nvSpPr>
            <p:cNvPr id="22" name="object 22"/>
            <p:cNvSpPr/>
            <p:nvPr/>
          </p:nvSpPr>
          <p:spPr>
            <a:xfrm>
              <a:off x="293269" y="1442999"/>
              <a:ext cx="4279265" cy="2910205"/>
            </a:xfrm>
            <a:custGeom>
              <a:avLst/>
              <a:gdLst/>
              <a:ahLst/>
              <a:cxnLst/>
              <a:rect l="l" t="t" r="r" b="b"/>
              <a:pathLst>
                <a:path w="4279265" h="2910204">
                  <a:moveTo>
                    <a:pt x="3793744" y="0"/>
                  </a:moveTo>
                  <a:lnTo>
                    <a:pt x="484985" y="0"/>
                  </a:lnTo>
                  <a:lnTo>
                    <a:pt x="438558" y="2237"/>
                  </a:lnTo>
                  <a:lnTo>
                    <a:pt x="393319" y="8810"/>
                  </a:lnTo>
                  <a:lnTo>
                    <a:pt x="349479" y="19509"/>
                  </a:lnTo>
                  <a:lnTo>
                    <a:pt x="307246" y="34124"/>
                  </a:lnTo>
                  <a:lnTo>
                    <a:pt x="266831" y="52445"/>
                  </a:lnTo>
                  <a:lnTo>
                    <a:pt x="228443" y="74262"/>
                  </a:lnTo>
                  <a:lnTo>
                    <a:pt x="192293" y="99366"/>
                  </a:lnTo>
                  <a:lnTo>
                    <a:pt x="158590" y="127546"/>
                  </a:lnTo>
                  <a:lnTo>
                    <a:pt x="127544" y="158592"/>
                  </a:lnTo>
                  <a:lnTo>
                    <a:pt x="99364" y="192296"/>
                  </a:lnTo>
                  <a:lnTo>
                    <a:pt x="74261" y="228446"/>
                  </a:lnTo>
                  <a:lnTo>
                    <a:pt x="52444" y="266834"/>
                  </a:lnTo>
                  <a:lnTo>
                    <a:pt x="34124" y="307249"/>
                  </a:lnTo>
                  <a:lnTo>
                    <a:pt x="19509" y="349482"/>
                  </a:lnTo>
                  <a:lnTo>
                    <a:pt x="8810" y="393322"/>
                  </a:lnTo>
                  <a:lnTo>
                    <a:pt x="2237" y="438561"/>
                  </a:lnTo>
                  <a:lnTo>
                    <a:pt x="0" y="484987"/>
                  </a:lnTo>
                  <a:lnTo>
                    <a:pt x="0" y="2424861"/>
                  </a:lnTo>
                  <a:lnTo>
                    <a:pt x="2237" y="2471288"/>
                  </a:lnTo>
                  <a:lnTo>
                    <a:pt x="8810" y="2516526"/>
                  </a:lnTo>
                  <a:lnTo>
                    <a:pt x="19509" y="2560366"/>
                  </a:lnTo>
                  <a:lnTo>
                    <a:pt x="34124" y="2602599"/>
                  </a:lnTo>
                  <a:lnTo>
                    <a:pt x="52444" y="2643014"/>
                  </a:lnTo>
                  <a:lnTo>
                    <a:pt x="74261" y="2681402"/>
                  </a:lnTo>
                  <a:lnTo>
                    <a:pt x="99364" y="2717553"/>
                  </a:lnTo>
                  <a:lnTo>
                    <a:pt x="127544" y="2751256"/>
                  </a:lnTo>
                  <a:lnTo>
                    <a:pt x="158590" y="2782303"/>
                  </a:lnTo>
                  <a:lnTo>
                    <a:pt x="192293" y="2810483"/>
                  </a:lnTo>
                  <a:lnTo>
                    <a:pt x="228443" y="2835586"/>
                  </a:lnTo>
                  <a:lnTo>
                    <a:pt x="266831" y="2857403"/>
                  </a:lnTo>
                  <a:lnTo>
                    <a:pt x="307246" y="2875724"/>
                  </a:lnTo>
                  <a:lnTo>
                    <a:pt x="349479" y="2890339"/>
                  </a:lnTo>
                  <a:lnTo>
                    <a:pt x="393319" y="2901038"/>
                  </a:lnTo>
                  <a:lnTo>
                    <a:pt x="438558" y="2907611"/>
                  </a:lnTo>
                  <a:lnTo>
                    <a:pt x="484985" y="2909849"/>
                  </a:lnTo>
                  <a:lnTo>
                    <a:pt x="3793744" y="2909849"/>
                  </a:lnTo>
                  <a:lnTo>
                    <a:pt x="3840170" y="2907611"/>
                  </a:lnTo>
                  <a:lnTo>
                    <a:pt x="3885408" y="2901038"/>
                  </a:lnTo>
                  <a:lnTo>
                    <a:pt x="3929249" y="2890339"/>
                  </a:lnTo>
                  <a:lnTo>
                    <a:pt x="3971481" y="2875724"/>
                  </a:lnTo>
                  <a:lnTo>
                    <a:pt x="4011896" y="2857403"/>
                  </a:lnTo>
                  <a:lnTo>
                    <a:pt x="4050284" y="2835586"/>
                  </a:lnTo>
                  <a:lnTo>
                    <a:pt x="4086435" y="2810483"/>
                  </a:lnTo>
                  <a:lnTo>
                    <a:pt x="4120138" y="2782303"/>
                  </a:lnTo>
                  <a:lnTo>
                    <a:pt x="4151185" y="2751256"/>
                  </a:lnTo>
                  <a:lnTo>
                    <a:pt x="4179365" y="2717553"/>
                  </a:lnTo>
                  <a:lnTo>
                    <a:pt x="4204468" y="2681402"/>
                  </a:lnTo>
                  <a:lnTo>
                    <a:pt x="4226286" y="2643014"/>
                  </a:lnTo>
                  <a:lnTo>
                    <a:pt x="4244606" y="2602599"/>
                  </a:lnTo>
                  <a:lnTo>
                    <a:pt x="4259221" y="2560366"/>
                  </a:lnTo>
                  <a:lnTo>
                    <a:pt x="4269920" y="2516526"/>
                  </a:lnTo>
                  <a:lnTo>
                    <a:pt x="4276493" y="2471288"/>
                  </a:lnTo>
                  <a:lnTo>
                    <a:pt x="4278731" y="2424861"/>
                  </a:lnTo>
                  <a:lnTo>
                    <a:pt x="4278731" y="484987"/>
                  </a:lnTo>
                  <a:lnTo>
                    <a:pt x="4276493" y="438561"/>
                  </a:lnTo>
                  <a:lnTo>
                    <a:pt x="4269920" y="393322"/>
                  </a:lnTo>
                  <a:lnTo>
                    <a:pt x="4259221" y="349482"/>
                  </a:lnTo>
                  <a:lnTo>
                    <a:pt x="4244606" y="307249"/>
                  </a:lnTo>
                  <a:lnTo>
                    <a:pt x="4226286" y="266834"/>
                  </a:lnTo>
                  <a:lnTo>
                    <a:pt x="4204468" y="228446"/>
                  </a:lnTo>
                  <a:lnTo>
                    <a:pt x="4179365" y="192296"/>
                  </a:lnTo>
                  <a:lnTo>
                    <a:pt x="4151185" y="158592"/>
                  </a:lnTo>
                  <a:lnTo>
                    <a:pt x="4120138" y="127546"/>
                  </a:lnTo>
                  <a:lnTo>
                    <a:pt x="4086435" y="99366"/>
                  </a:lnTo>
                  <a:lnTo>
                    <a:pt x="4050284" y="74262"/>
                  </a:lnTo>
                  <a:lnTo>
                    <a:pt x="4011896" y="52445"/>
                  </a:lnTo>
                  <a:lnTo>
                    <a:pt x="3971481" y="34124"/>
                  </a:lnTo>
                  <a:lnTo>
                    <a:pt x="3929249" y="19509"/>
                  </a:lnTo>
                  <a:lnTo>
                    <a:pt x="3885408" y="8810"/>
                  </a:lnTo>
                  <a:lnTo>
                    <a:pt x="3840170" y="2237"/>
                  </a:lnTo>
                  <a:lnTo>
                    <a:pt x="379374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93269" y="1442999"/>
              <a:ext cx="4279265" cy="2910205"/>
            </a:xfrm>
            <a:custGeom>
              <a:avLst/>
              <a:gdLst/>
              <a:ahLst/>
              <a:cxnLst/>
              <a:rect l="l" t="t" r="r" b="b"/>
              <a:pathLst>
                <a:path w="4279265" h="2910204">
                  <a:moveTo>
                    <a:pt x="0" y="484987"/>
                  </a:moveTo>
                  <a:lnTo>
                    <a:pt x="2237" y="438561"/>
                  </a:lnTo>
                  <a:lnTo>
                    <a:pt x="8810" y="393322"/>
                  </a:lnTo>
                  <a:lnTo>
                    <a:pt x="19509" y="349482"/>
                  </a:lnTo>
                  <a:lnTo>
                    <a:pt x="34124" y="307249"/>
                  </a:lnTo>
                  <a:lnTo>
                    <a:pt x="52444" y="266834"/>
                  </a:lnTo>
                  <a:lnTo>
                    <a:pt x="74261" y="228446"/>
                  </a:lnTo>
                  <a:lnTo>
                    <a:pt x="99364" y="192296"/>
                  </a:lnTo>
                  <a:lnTo>
                    <a:pt x="127544" y="158592"/>
                  </a:lnTo>
                  <a:lnTo>
                    <a:pt x="158590" y="127546"/>
                  </a:lnTo>
                  <a:lnTo>
                    <a:pt x="192293" y="99366"/>
                  </a:lnTo>
                  <a:lnTo>
                    <a:pt x="228443" y="74262"/>
                  </a:lnTo>
                  <a:lnTo>
                    <a:pt x="266831" y="52445"/>
                  </a:lnTo>
                  <a:lnTo>
                    <a:pt x="307246" y="34124"/>
                  </a:lnTo>
                  <a:lnTo>
                    <a:pt x="349479" y="19509"/>
                  </a:lnTo>
                  <a:lnTo>
                    <a:pt x="393319" y="8810"/>
                  </a:lnTo>
                  <a:lnTo>
                    <a:pt x="438558" y="2237"/>
                  </a:lnTo>
                  <a:lnTo>
                    <a:pt x="484985" y="0"/>
                  </a:lnTo>
                  <a:lnTo>
                    <a:pt x="3793744" y="0"/>
                  </a:lnTo>
                  <a:lnTo>
                    <a:pt x="3840170" y="2237"/>
                  </a:lnTo>
                  <a:lnTo>
                    <a:pt x="3885408" y="8810"/>
                  </a:lnTo>
                  <a:lnTo>
                    <a:pt x="3929249" y="19509"/>
                  </a:lnTo>
                  <a:lnTo>
                    <a:pt x="3971481" y="34124"/>
                  </a:lnTo>
                  <a:lnTo>
                    <a:pt x="4011896" y="52445"/>
                  </a:lnTo>
                  <a:lnTo>
                    <a:pt x="4050284" y="74262"/>
                  </a:lnTo>
                  <a:lnTo>
                    <a:pt x="4086435" y="99366"/>
                  </a:lnTo>
                  <a:lnTo>
                    <a:pt x="4120138" y="127546"/>
                  </a:lnTo>
                  <a:lnTo>
                    <a:pt x="4151185" y="158592"/>
                  </a:lnTo>
                  <a:lnTo>
                    <a:pt x="4179365" y="192296"/>
                  </a:lnTo>
                  <a:lnTo>
                    <a:pt x="4204468" y="228446"/>
                  </a:lnTo>
                  <a:lnTo>
                    <a:pt x="4226286" y="266834"/>
                  </a:lnTo>
                  <a:lnTo>
                    <a:pt x="4244606" y="307249"/>
                  </a:lnTo>
                  <a:lnTo>
                    <a:pt x="4259221" y="349482"/>
                  </a:lnTo>
                  <a:lnTo>
                    <a:pt x="4269920" y="393322"/>
                  </a:lnTo>
                  <a:lnTo>
                    <a:pt x="4276493" y="438561"/>
                  </a:lnTo>
                  <a:lnTo>
                    <a:pt x="4278731" y="484987"/>
                  </a:lnTo>
                  <a:lnTo>
                    <a:pt x="4278731" y="2424861"/>
                  </a:lnTo>
                  <a:lnTo>
                    <a:pt x="4276493" y="2471288"/>
                  </a:lnTo>
                  <a:lnTo>
                    <a:pt x="4269920" y="2516526"/>
                  </a:lnTo>
                  <a:lnTo>
                    <a:pt x="4259221" y="2560366"/>
                  </a:lnTo>
                  <a:lnTo>
                    <a:pt x="4244606" y="2602599"/>
                  </a:lnTo>
                  <a:lnTo>
                    <a:pt x="4226286" y="2643014"/>
                  </a:lnTo>
                  <a:lnTo>
                    <a:pt x="4204468" y="2681402"/>
                  </a:lnTo>
                  <a:lnTo>
                    <a:pt x="4179365" y="2717553"/>
                  </a:lnTo>
                  <a:lnTo>
                    <a:pt x="4151185" y="2751256"/>
                  </a:lnTo>
                  <a:lnTo>
                    <a:pt x="4120138" y="2782303"/>
                  </a:lnTo>
                  <a:lnTo>
                    <a:pt x="4086435" y="2810483"/>
                  </a:lnTo>
                  <a:lnTo>
                    <a:pt x="4050284" y="2835586"/>
                  </a:lnTo>
                  <a:lnTo>
                    <a:pt x="4011896" y="2857403"/>
                  </a:lnTo>
                  <a:lnTo>
                    <a:pt x="3971481" y="2875724"/>
                  </a:lnTo>
                  <a:lnTo>
                    <a:pt x="3929249" y="2890339"/>
                  </a:lnTo>
                  <a:lnTo>
                    <a:pt x="3885408" y="2901038"/>
                  </a:lnTo>
                  <a:lnTo>
                    <a:pt x="3840170" y="2907611"/>
                  </a:lnTo>
                  <a:lnTo>
                    <a:pt x="3793744" y="2909849"/>
                  </a:lnTo>
                  <a:lnTo>
                    <a:pt x="484985" y="2909849"/>
                  </a:lnTo>
                  <a:lnTo>
                    <a:pt x="438558" y="2907611"/>
                  </a:lnTo>
                  <a:lnTo>
                    <a:pt x="393319" y="2901038"/>
                  </a:lnTo>
                  <a:lnTo>
                    <a:pt x="349479" y="2890339"/>
                  </a:lnTo>
                  <a:lnTo>
                    <a:pt x="307246" y="2875724"/>
                  </a:lnTo>
                  <a:lnTo>
                    <a:pt x="266831" y="2857403"/>
                  </a:lnTo>
                  <a:lnTo>
                    <a:pt x="228443" y="2835586"/>
                  </a:lnTo>
                  <a:lnTo>
                    <a:pt x="192293" y="2810483"/>
                  </a:lnTo>
                  <a:lnTo>
                    <a:pt x="158590" y="2782303"/>
                  </a:lnTo>
                  <a:lnTo>
                    <a:pt x="127544" y="2751256"/>
                  </a:lnTo>
                  <a:lnTo>
                    <a:pt x="99364" y="2717553"/>
                  </a:lnTo>
                  <a:lnTo>
                    <a:pt x="74261" y="2681402"/>
                  </a:lnTo>
                  <a:lnTo>
                    <a:pt x="52444" y="2643014"/>
                  </a:lnTo>
                  <a:lnTo>
                    <a:pt x="34124" y="2602599"/>
                  </a:lnTo>
                  <a:lnTo>
                    <a:pt x="19509" y="2560366"/>
                  </a:lnTo>
                  <a:lnTo>
                    <a:pt x="8810" y="2516526"/>
                  </a:lnTo>
                  <a:lnTo>
                    <a:pt x="2237" y="2471288"/>
                  </a:lnTo>
                  <a:lnTo>
                    <a:pt x="0" y="2424861"/>
                  </a:lnTo>
                  <a:lnTo>
                    <a:pt x="0" y="484987"/>
                  </a:lnTo>
                  <a:close/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29790" y="2074062"/>
            <a:ext cx="3761104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ability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satellites,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particularly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Low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Earth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Orbit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(LEO)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connect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directly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to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standard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mobile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smartphones—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without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need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specialized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satellite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phones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ground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infrastructure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towers.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>
                <a:solidFill>
                  <a:srgbClr val="001135"/>
                </a:solidFill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26189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95171" y="1159967"/>
            <a:ext cx="4368800" cy="807720"/>
          </a:xfrm>
          <a:prstGeom prst="rect"/>
        </p:spPr>
        <p:txBody>
          <a:bodyPr wrap="square" lIns="0" tIns="58419" rIns="0" bIns="0" rtlCol="0" vert="horz">
            <a:spAutoFit/>
          </a:bodyPr>
          <a:lstStyle/>
          <a:p>
            <a:pPr marL="12700" marR="5080">
              <a:lnSpc>
                <a:spcPts val="2920"/>
              </a:lnSpc>
              <a:spcBef>
                <a:spcPts val="459"/>
              </a:spcBef>
            </a:pPr>
            <a:r>
              <a:rPr dirty="0" sz="2700"/>
              <a:t>The</a:t>
            </a:r>
            <a:r>
              <a:rPr dirty="0" sz="2700" spc="-25"/>
              <a:t> </a:t>
            </a:r>
            <a:r>
              <a:rPr dirty="0" sz="2700"/>
              <a:t>Power</a:t>
            </a:r>
            <a:r>
              <a:rPr dirty="0" sz="2700" spc="-20"/>
              <a:t> </a:t>
            </a:r>
            <a:r>
              <a:rPr dirty="0" sz="2700"/>
              <a:t>of</a:t>
            </a:r>
            <a:r>
              <a:rPr dirty="0" sz="2700" spc="-25"/>
              <a:t> </a:t>
            </a:r>
            <a:r>
              <a:rPr dirty="0" sz="2700"/>
              <a:t>D2D</a:t>
            </a:r>
            <a:r>
              <a:rPr dirty="0" sz="2700" spc="-20"/>
              <a:t> </a:t>
            </a:r>
            <a:r>
              <a:rPr dirty="0" sz="2700" spc="-10"/>
              <a:t>Satellite Connectivity</a:t>
            </a:r>
            <a:endParaRPr sz="2700"/>
          </a:p>
        </p:txBody>
      </p:sp>
      <p:sp>
        <p:nvSpPr>
          <p:cNvPr id="6" name="object 6"/>
          <p:cNvSpPr txBox="1"/>
          <p:nvPr/>
        </p:nvSpPr>
        <p:spPr>
          <a:xfrm>
            <a:off x="303664" y="3801871"/>
            <a:ext cx="14801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384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Global</a:t>
            </a:r>
            <a:r>
              <a:rPr dirty="0" sz="1000" spc="4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Coverage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(100%</a:t>
            </a:r>
            <a:r>
              <a:rPr dirty="0" sz="1000" spc="4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territory</a:t>
            </a:r>
            <a:r>
              <a:rPr dirty="0" sz="1000" spc="4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coverage)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6187" y="3131984"/>
            <a:ext cx="1097281" cy="10972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27686" y="3790010"/>
            <a:ext cx="1287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860" marR="5080" indent="-13779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Bridging</a:t>
            </a:r>
            <a:r>
              <a:rPr dirty="0" sz="1000" spc="4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Digital</a:t>
            </a:r>
            <a:r>
              <a:rPr dirty="0" sz="1000" spc="4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Divide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(Coverage</a:t>
            </a:r>
            <a:r>
              <a:rPr dirty="0" sz="1000" spc="55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Gaps)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5872" y="4293349"/>
            <a:ext cx="15436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827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No</a:t>
            </a:r>
            <a:r>
              <a:rPr dirty="0" sz="1000" spc="2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Need</a:t>
            </a:r>
            <a:r>
              <a:rPr dirty="0" sz="1000" spc="2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For</a:t>
            </a:r>
            <a:r>
              <a:rPr dirty="0" sz="1000" spc="2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Special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Devices</a:t>
            </a:r>
            <a:r>
              <a:rPr dirty="0" sz="1000" spc="5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(Standard</a:t>
            </a:r>
            <a:r>
              <a:rPr dirty="0" sz="1000" spc="55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Mobile)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1974" y="4260431"/>
            <a:ext cx="11283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" marR="5080" indent="-14604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Disaster</a:t>
            </a:r>
            <a:r>
              <a:rPr dirty="0" sz="1000" spc="4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Resilience </a:t>
            </a:r>
            <a:r>
              <a:rPr dirty="0" sz="1000">
                <a:solidFill>
                  <a:srgbClr val="1B63FF"/>
                </a:solidFill>
                <a:latin typeface="Arial"/>
                <a:cs typeface="Arial"/>
              </a:rPr>
              <a:t>(24/7</a:t>
            </a:r>
            <a:r>
              <a:rPr dirty="0" sz="1000" spc="40">
                <a:solidFill>
                  <a:srgbClr val="1B63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B63FF"/>
                </a:solidFill>
                <a:latin typeface="Arial"/>
                <a:cs typeface="Arial"/>
              </a:rPr>
              <a:t>Connectivity)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>
                <a:solidFill>
                  <a:srgbClr val="001135"/>
                </a:solidFill>
              </a:rPr>
              <a:t>21</a:t>
            </a:fld>
          </a:p>
        </p:txBody>
      </p:sp>
      <p:sp>
        <p:nvSpPr>
          <p:cNvPr id="2" name="object 2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2391" y="4533531"/>
            <a:ext cx="1681930" cy="6099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68950" y="303038"/>
            <a:ext cx="6572250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Functionality</a:t>
            </a:r>
            <a:r>
              <a:rPr dirty="0" sz="2000" spc="-55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of</a:t>
            </a:r>
            <a:r>
              <a:rPr dirty="0" sz="2000" spc="-55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spc="-20" b="0">
                <a:solidFill>
                  <a:srgbClr val="0044BE"/>
                </a:solidFill>
                <a:latin typeface="Arial"/>
                <a:cs typeface="Arial"/>
              </a:rPr>
              <a:t>Space-</a:t>
            </a: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Based</a:t>
            </a:r>
            <a:r>
              <a:rPr dirty="0" sz="2000" spc="-60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Cellular</a:t>
            </a:r>
            <a:r>
              <a:rPr dirty="0" sz="2000" spc="-55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0044BE"/>
                </a:solidFill>
                <a:latin typeface="Arial"/>
                <a:cs typeface="Arial"/>
              </a:rPr>
              <a:t>Broadband</a:t>
            </a:r>
            <a:r>
              <a:rPr dirty="0" sz="2000" spc="-55" b="0">
                <a:solidFill>
                  <a:srgbClr val="0044BE"/>
                </a:solidFill>
                <a:latin typeface="Arial"/>
                <a:cs typeface="Arial"/>
              </a:rPr>
              <a:t> </a:t>
            </a:r>
            <a:r>
              <a:rPr dirty="0" sz="2000" spc="-10" b="0">
                <a:solidFill>
                  <a:srgbClr val="0044BE"/>
                </a:solidFill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2021" y="947954"/>
            <a:ext cx="5735955" cy="3681095"/>
            <a:chOff x="352021" y="947954"/>
            <a:chExt cx="5735955" cy="3681095"/>
          </a:xfrm>
        </p:grpSpPr>
        <p:sp>
          <p:nvSpPr>
            <p:cNvPr id="17" name="object 17"/>
            <p:cNvSpPr/>
            <p:nvPr/>
          </p:nvSpPr>
          <p:spPr>
            <a:xfrm>
              <a:off x="352021" y="947954"/>
              <a:ext cx="5735955" cy="3681095"/>
            </a:xfrm>
            <a:custGeom>
              <a:avLst/>
              <a:gdLst/>
              <a:ahLst/>
              <a:cxnLst/>
              <a:rect l="l" t="t" r="r" b="b"/>
              <a:pathLst>
                <a:path w="5735955" h="3681095">
                  <a:moveTo>
                    <a:pt x="5735370" y="0"/>
                  </a:moveTo>
                  <a:lnTo>
                    <a:pt x="0" y="0"/>
                  </a:lnTo>
                  <a:lnTo>
                    <a:pt x="0" y="3680815"/>
                  </a:lnTo>
                  <a:lnTo>
                    <a:pt x="5735370" y="3680815"/>
                  </a:lnTo>
                  <a:lnTo>
                    <a:pt x="5735370" y="0"/>
                  </a:lnTo>
                  <a:close/>
                </a:path>
              </a:pathLst>
            </a:custGeom>
            <a:solidFill>
              <a:srgbClr val="99B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343731" y="1391208"/>
              <a:ext cx="1045844" cy="1978660"/>
            </a:xfrm>
            <a:custGeom>
              <a:avLst/>
              <a:gdLst/>
              <a:ahLst/>
              <a:cxnLst/>
              <a:rect l="l" t="t" r="r" b="b"/>
              <a:pathLst>
                <a:path w="1045844" h="1978660">
                  <a:moveTo>
                    <a:pt x="1045240" y="19785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" name="object 3"/>
          <p:cNvGrpSpPr/>
          <p:nvPr/>
        </p:nvGrpSpPr>
        <p:grpSpPr>
          <a:xfrm>
            <a:off x="6419176" y="1654479"/>
            <a:ext cx="720090" cy="720090"/>
            <a:chOff x="6419176" y="1654479"/>
            <a:chExt cx="720090" cy="720090"/>
          </a:xfrm>
        </p:grpSpPr>
        <p:sp>
          <p:nvSpPr>
            <p:cNvPr id="4" name="object 4"/>
            <p:cNvSpPr/>
            <p:nvPr/>
          </p:nvSpPr>
          <p:spPr>
            <a:xfrm>
              <a:off x="6419176" y="1654479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90" h="720089">
                  <a:moveTo>
                    <a:pt x="360000" y="0"/>
                  </a:moveTo>
                  <a:lnTo>
                    <a:pt x="311430" y="3311"/>
                  </a:lnTo>
                  <a:lnTo>
                    <a:pt x="264760" y="12952"/>
                  </a:lnTo>
                  <a:lnTo>
                    <a:pt x="220433" y="28477"/>
                  </a:lnTo>
                  <a:lnTo>
                    <a:pt x="178893" y="49446"/>
                  </a:lnTo>
                  <a:lnTo>
                    <a:pt x="140581" y="75414"/>
                  </a:lnTo>
                  <a:lnTo>
                    <a:pt x="105941" y="105940"/>
                  </a:lnTo>
                  <a:lnTo>
                    <a:pt x="75415" y="140580"/>
                  </a:lnTo>
                  <a:lnTo>
                    <a:pt x="49446" y="178891"/>
                  </a:lnTo>
                  <a:lnTo>
                    <a:pt x="28477" y="220431"/>
                  </a:lnTo>
                  <a:lnTo>
                    <a:pt x="12952" y="264756"/>
                  </a:lnTo>
                  <a:lnTo>
                    <a:pt x="3311" y="311425"/>
                  </a:lnTo>
                  <a:lnTo>
                    <a:pt x="0" y="359994"/>
                  </a:lnTo>
                  <a:lnTo>
                    <a:pt x="3311" y="408565"/>
                  </a:lnTo>
                  <a:lnTo>
                    <a:pt x="12952" y="455236"/>
                  </a:lnTo>
                  <a:lnTo>
                    <a:pt x="28477" y="499564"/>
                  </a:lnTo>
                  <a:lnTo>
                    <a:pt x="49446" y="541106"/>
                  </a:lnTo>
                  <a:lnTo>
                    <a:pt x="75415" y="579418"/>
                  </a:lnTo>
                  <a:lnTo>
                    <a:pt x="105941" y="614059"/>
                  </a:lnTo>
                  <a:lnTo>
                    <a:pt x="140581" y="644585"/>
                  </a:lnTo>
                  <a:lnTo>
                    <a:pt x="178893" y="670554"/>
                  </a:lnTo>
                  <a:lnTo>
                    <a:pt x="220433" y="691523"/>
                  </a:lnTo>
                  <a:lnTo>
                    <a:pt x="264760" y="707049"/>
                  </a:lnTo>
                  <a:lnTo>
                    <a:pt x="311430" y="716689"/>
                  </a:lnTo>
                  <a:lnTo>
                    <a:pt x="360000" y="720001"/>
                  </a:lnTo>
                  <a:lnTo>
                    <a:pt x="408570" y="716689"/>
                  </a:lnTo>
                  <a:lnTo>
                    <a:pt x="455240" y="707049"/>
                  </a:lnTo>
                  <a:lnTo>
                    <a:pt x="499566" y="691523"/>
                  </a:lnTo>
                  <a:lnTo>
                    <a:pt x="541107" y="670554"/>
                  </a:lnTo>
                  <a:lnTo>
                    <a:pt x="579419" y="644585"/>
                  </a:lnTo>
                  <a:lnTo>
                    <a:pt x="614059" y="614059"/>
                  </a:lnTo>
                  <a:lnTo>
                    <a:pt x="644585" y="579418"/>
                  </a:lnTo>
                  <a:lnTo>
                    <a:pt x="670554" y="541106"/>
                  </a:lnTo>
                  <a:lnTo>
                    <a:pt x="691523" y="499564"/>
                  </a:lnTo>
                  <a:lnTo>
                    <a:pt x="707048" y="455236"/>
                  </a:lnTo>
                  <a:lnTo>
                    <a:pt x="716689" y="408565"/>
                  </a:lnTo>
                  <a:lnTo>
                    <a:pt x="720001" y="359994"/>
                  </a:lnTo>
                  <a:lnTo>
                    <a:pt x="716689" y="311425"/>
                  </a:lnTo>
                  <a:lnTo>
                    <a:pt x="707048" y="264756"/>
                  </a:lnTo>
                  <a:lnTo>
                    <a:pt x="691523" y="220431"/>
                  </a:lnTo>
                  <a:lnTo>
                    <a:pt x="670554" y="178891"/>
                  </a:lnTo>
                  <a:lnTo>
                    <a:pt x="644585" y="140580"/>
                  </a:lnTo>
                  <a:lnTo>
                    <a:pt x="614059" y="105940"/>
                  </a:lnTo>
                  <a:lnTo>
                    <a:pt x="579419" y="75414"/>
                  </a:lnTo>
                  <a:lnTo>
                    <a:pt x="541107" y="49446"/>
                  </a:lnTo>
                  <a:lnTo>
                    <a:pt x="499566" y="28477"/>
                  </a:lnTo>
                  <a:lnTo>
                    <a:pt x="455240" y="12952"/>
                  </a:lnTo>
                  <a:lnTo>
                    <a:pt x="408570" y="3311"/>
                  </a:lnTo>
                  <a:lnTo>
                    <a:pt x="360000" y="0"/>
                  </a:lnTo>
                  <a:close/>
                </a:path>
              </a:pathLst>
            </a:custGeom>
            <a:solidFill>
              <a:srgbClr val="0036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8500" y="1799488"/>
              <a:ext cx="461352" cy="46135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203275" y="1739683"/>
            <a:ext cx="1425575" cy="5314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20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dirty="0" sz="12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66666"/>
                </a:solidFill>
                <a:latin typeface="Arial"/>
                <a:cs typeface="Arial"/>
              </a:rPr>
              <a:t>Link</a:t>
            </a:r>
            <a:endParaRPr sz="1200">
              <a:latin typeface="Arial"/>
              <a:cs typeface="Arial"/>
            </a:endParaRPr>
          </a:p>
          <a:p>
            <a:pPr marL="14604" marR="5080">
              <a:lnSpc>
                <a:spcPct val="100000"/>
              </a:lnSpc>
              <a:spcBef>
                <a:spcPts val="165"/>
              </a:spcBef>
            </a:pP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MNO</a:t>
            </a:r>
            <a:r>
              <a:rPr dirty="0" sz="9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Existing</a:t>
            </a:r>
            <a:r>
              <a:rPr dirty="0" sz="9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666666"/>
                </a:solidFill>
                <a:latin typeface="Arial"/>
                <a:cs typeface="Arial"/>
              </a:rPr>
              <a:t>spectrum 698-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960 MHz / </a:t>
            </a:r>
            <a:r>
              <a:rPr dirty="0" sz="900" spc="-10">
                <a:solidFill>
                  <a:srgbClr val="666666"/>
                </a:solidFill>
                <a:latin typeface="Arial"/>
                <a:cs typeface="Arial"/>
              </a:rPr>
              <a:t>1.7-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2.5 </a:t>
            </a:r>
            <a:r>
              <a:rPr dirty="0" sz="900" spc="-25">
                <a:solidFill>
                  <a:srgbClr val="666666"/>
                </a:solidFill>
                <a:latin typeface="Arial"/>
                <a:cs typeface="Arial"/>
              </a:rPr>
              <a:t>GHz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35586" y="2346528"/>
            <a:ext cx="3346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310" marR="5080" indent="-67945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Feeder 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Link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9719" y="2469299"/>
            <a:ext cx="3517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 marR="5080" indent="-762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Service 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Link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19176" y="2491790"/>
            <a:ext cx="720090" cy="720090"/>
            <a:chOff x="6419176" y="2491790"/>
            <a:chExt cx="720090" cy="720090"/>
          </a:xfrm>
        </p:grpSpPr>
        <p:sp>
          <p:nvSpPr>
            <p:cNvPr id="8" name="object 8"/>
            <p:cNvSpPr/>
            <p:nvPr/>
          </p:nvSpPr>
          <p:spPr>
            <a:xfrm>
              <a:off x="6419176" y="2491790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90" h="720089">
                  <a:moveTo>
                    <a:pt x="360000" y="0"/>
                  </a:moveTo>
                  <a:lnTo>
                    <a:pt x="311430" y="3311"/>
                  </a:lnTo>
                  <a:lnTo>
                    <a:pt x="264760" y="12952"/>
                  </a:lnTo>
                  <a:lnTo>
                    <a:pt x="220433" y="28477"/>
                  </a:lnTo>
                  <a:lnTo>
                    <a:pt x="178893" y="49446"/>
                  </a:lnTo>
                  <a:lnTo>
                    <a:pt x="140581" y="75414"/>
                  </a:lnTo>
                  <a:lnTo>
                    <a:pt x="105941" y="105940"/>
                  </a:lnTo>
                  <a:lnTo>
                    <a:pt x="75415" y="140580"/>
                  </a:lnTo>
                  <a:lnTo>
                    <a:pt x="49446" y="178891"/>
                  </a:lnTo>
                  <a:lnTo>
                    <a:pt x="28477" y="220431"/>
                  </a:lnTo>
                  <a:lnTo>
                    <a:pt x="12952" y="264756"/>
                  </a:lnTo>
                  <a:lnTo>
                    <a:pt x="3311" y="311425"/>
                  </a:lnTo>
                  <a:lnTo>
                    <a:pt x="0" y="359994"/>
                  </a:lnTo>
                  <a:lnTo>
                    <a:pt x="3311" y="408565"/>
                  </a:lnTo>
                  <a:lnTo>
                    <a:pt x="12952" y="455236"/>
                  </a:lnTo>
                  <a:lnTo>
                    <a:pt x="28477" y="499564"/>
                  </a:lnTo>
                  <a:lnTo>
                    <a:pt x="49446" y="541106"/>
                  </a:lnTo>
                  <a:lnTo>
                    <a:pt x="75415" y="579418"/>
                  </a:lnTo>
                  <a:lnTo>
                    <a:pt x="105941" y="614059"/>
                  </a:lnTo>
                  <a:lnTo>
                    <a:pt x="140581" y="644585"/>
                  </a:lnTo>
                  <a:lnTo>
                    <a:pt x="178893" y="670554"/>
                  </a:lnTo>
                  <a:lnTo>
                    <a:pt x="220433" y="691523"/>
                  </a:lnTo>
                  <a:lnTo>
                    <a:pt x="264760" y="707049"/>
                  </a:lnTo>
                  <a:lnTo>
                    <a:pt x="311430" y="716689"/>
                  </a:lnTo>
                  <a:lnTo>
                    <a:pt x="360000" y="720001"/>
                  </a:lnTo>
                  <a:lnTo>
                    <a:pt x="408570" y="716689"/>
                  </a:lnTo>
                  <a:lnTo>
                    <a:pt x="455240" y="707049"/>
                  </a:lnTo>
                  <a:lnTo>
                    <a:pt x="499566" y="691523"/>
                  </a:lnTo>
                  <a:lnTo>
                    <a:pt x="541107" y="670554"/>
                  </a:lnTo>
                  <a:lnTo>
                    <a:pt x="579419" y="644585"/>
                  </a:lnTo>
                  <a:lnTo>
                    <a:pt x="614059" y="614059"/>
                  </a:lnTo>
                  <a:lnTo>
                    <a:pt x="644585" y="579418"/>
                  </a:lnTo>
                  <a:lnTo>
                    <a:pt x="670554" y="541106"/>
                  </a:lnTo>
                  <a:lnTo>
                    <a:pt x="691523" y="499564"/>
                  </a:lnTo>
                  <a:lnTo>
                    <a:pt x="707048" y="455236"/>
                  </a:lnTo>
                  <a:lnTo>
                    <a:pt x="716689" y="408565"/>
                  </a:lnTo>
                  <a:lnTo>
                    <a:pt x="720001" y="359994"/>
                  </a:lnTo>
                  <a:lnTo>
                    <a:pt x="716689" y="311425"/>
                  </a:lnTo>
                  <a:lnTo>
                    <a:pt x="707048" y="264756"/>
                  </a:lnTo>
                  <a:lnTo>
                    <a:pt x="691523" y="220431"/>
                  </a:lnTo>
                  <a:lnTo>
                    <a:pt x="670554" y="178891"/>
                  </a:lnTo>
                  <a:lnTo>
                    <a:pt x="644585" y="140580"/>
                  </a:lnTo>
                  <a:lnTo>
                    <a:pt x="614059" y="105940"/>
                  </a:lnTo>
                  <a:lnTo>
                    <a:pt x="579419" y="75414"/>
                  </a:lnTo>
                  <a:lnTo>
                    <a:pt x="541107" y="49446"/>
                  </a:lnTo>
                  <a:lnTo>
                    <a:pt x="499566" y="28477"/>
                  </a:lnTo>
                  <a:lnTo>
                    <a:pt x="455240" y="12952"/>
                  </a:lnTo>
                  <a:lnTo>
                    <a:pt x="408570" y="3311"/>
                  </a:lnTo>
                  <a:lnTo>
                    <a:pt x="360000" y="0"/>
                  </a:lnTo>
                  <a:close/>
                </a:path>
              </a:pathLst>
            </a:custGeom>
            <a:solidFill>
              <a:srgbClr val="0036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9976" y="2577071"/>
              <a:ext cx="523831" cy="52383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229982" y="2557424"/>
            <a:ext cx="1654175" cy="5314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200">
                <a:solidFill>
                  <a:srgbClr val="666666"/>
                </a:solidFill>
                <a:latin typeface="Arial"/>
                <a:cs typeface="Arial"/>
              </a:rPr>
              <a:t>Feeder</a:t>
            </a:r>
            <a:r>
              <a:rPr dirty="0" sz="120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66666"/>
                </a:solidFill>
                <a:latin typeface="Arial"/>
                <a:cs typeface="Arial"/>
              </a:rPr>
              <a:t>Link</a:t>
            </a:r>
            <a:endParaRPr sz="1200">
              <a:latin typeface="Arial"/>
              <a:cs typeface="Arial"/>
            </a:endParaRPr>
          </a:p>
          <a:p>
            <a:pPr marL="14604" marR="5080">
              <a:lnSpc>
                <a:spcPct val="100000"/>
              </a:lnSpc>
              <a:spcBef>
                <a:spcPts val="165"/>
              </a:spcBef>
            </a:pP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Q</a:t>
            </a:r>
            <a:r>
              <a:rPr dirty="0" sz="9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band </a:t>
            </a:r>
            <a:r>
              <a:rPr dirty="0" sz="900" spc="-10">
                <a:solidFill>
                  <a:srgbClr val="666666"/>
                </a:solidFill>
                <a:latin typeface="Arial"/>
                <a:cs typeface="Arial"/>
              </a:rPr>
              <a:t>37.5-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42.5 GHz (DL) </a:t>
            </a:r>
            <a:r>
              <a:rPr dirty="0" sz="900" spc="-25">
                <a:solidFill>
                  <a:srgbClr val="666666"/>
                </a:solidFill>
                <a:latin typeface="Arial"/>
                <a:cs typeface="Arial"/>
              </a:rPr>
              <a:t>and </a:t>
            </a:r>
            <a:r>
              <a:rPr dirty="0" sz="900" spc="-10">
                <a:solidFill>
                  <a:srgbClr val="666666"/>
                </a:solidFill>
                <a:latin typeface="Arial"/>
                <a:cs typeface="Arial"/>
              </a:rPr>
              <a:t>47.2-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52.4</a:t>
            </a:r>
            <a:r>
              <a:rPr dirty="0" sz="900" spc="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GHz</a:t>
            </a:r>
            <a:r>
              <a:rPr dirty="0" sz="900" spc="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666666"/>
                </a:solidFill>
                <a:latin typeface="Arial"/>
                <a:cs typeface="Arial"/>
              </a:rPr>
              <a:t>(UL)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8569" y="3320961"/>
            <a:ext cx="502921" cy="502920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2176017" y="3122688"/>
            <a:ext cx="2323465" cy="1148080"/>
            <a:chOff x="2176017" y="3122688"/>
            <a:chExt cx="2323465" cy="1148080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0168" y="3345243"/>
              <a:ext cx="454342" cy="45434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672676" y="3569931"/>
              <a:ext cx="406400" cy="1905"/>
            </a:xfrm>
            <a:custGeom>
              <a:avLst/>
              <a:gdLst/>
              <a:ahLst/>
              <a:cxnLst/>
              <a:rect l="l" t="t" r="r" b="b"/>
              <a:pathLst>
                <a:path w="406400" h="1904">
                  <a:moveTo>
                    <a:pt x="0" y="1841"/>
                  </a:moveTo>
                  <a:lnTo>
                    <a:pt x="406341" y="0"/>
                  </a:lnTo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34497" y="3572408"/>
              <a:ext cx="457200" cy="2540"/>
            </a:xfrm>
            <a:custGeom>
              <a:avLst/>
              <a:gdLst/>
              <a:ahLst/>
              <a:cxnLst/>
              <a:rect l="l" t="t" r="r" b="b"/>
              <a:pathLst>
                <a:path w="457200" h="2539">
                  <a:moveTo>
                    <a:pt x="0" y="0"/>
                  </a:moveTo>
                  <a:lnTo>
                    <a:pt x="456813" y="2425"/>
                  </a:lnTo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357344" y="3360356"/>
              <a:ext cx="0" cy="433705"/>
            </a:xfrm>
            <a:custGeom>
              <a:avLst/>
              <a:gdLst/>
              <a:ahLst/>
              <a:cxnLst/>
              <a:rect l="l" t="t" r="r" b="b"/>
              <a:pathLst>
                <a:path w="0" h="433704">
                  <a:moveTo>
                    <a:pt x="0" y="0"/>
                  </a:moveTo>
                  <a:lnTo>
                    <a:pt x="0" y="433616"/>
                  </a:lnTo>
                </a:path>
              </a:pathLst>
            </a:custGeom>
            <a:ln w="634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82367" y="3129038"/>
              <a:ext cx="2084070" cy="1135380"/>
            </a:xfrm>
            <a:custGeom>
              <a:avLst/>
              <a:gdLst/>
              <a:ahLst/>
              <a:cxnLst/>
              <a:rect l="l" t="t" r="r" b="b"/>
              <a:pathLst>
                <a:path w="2084070" h="1135379">
                  <a:moveTo>
                    <a:pt x="0" y="0"/>
                  </a:moveTo>
                  <a:lnTo>
                    <a:pt x="2084057" y="0"/>
                  </a:lnTo>
                  <a:lnTo>
                    <a:pt x="2084057" y="1134960"/>
                  </a:lnTo>
                  <a:lnTo>
                    <a:pt x="0" y="113496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448748" y="1232814"/>
            <a:ext cx="3562350" cy="3048000"/>
            <a:chOff x="448748" y="1232814"/>
            <a:chExt cx="3562350" cy="3048000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20555" y="3337001"/>
              <a:ext cx="465184" cy="46518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27273" y="3569919"/>
              <a:ext cx="461645" cy="2540"/>
            </a:xfrm>
            <a:custGeom>
              <a:avLst/>
              <a:gdLst/>
              <a:ahLst/>
              <a:cxnLst/>
              <a:rect l="l" t="t" r="r" b="b"/>
              <a:pathLst>
                <a:path w="461645" h="2539">
                  <a:moveTo>
                    <a:pt x="461027" y="1993"/>
                  </a:moveTo>
                  <a:lnTo>
                    <a:pt x="0" y="0"/>
                  </a:lnTo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87025" y="3568915"/>
              <a:ext cx="1668145" cy="679450"/>
            </a:xfrm>
            <a:custGeom>
              <a:avLst/>
              <a:gdLst/>
              <a:ahLst/>
              <a:cxnLst/>
              <a:rect l="l" t="t" r="r" b="b"/>
              <a:pathLst>
                <a:path w="1668145" h="679450">
                  <a:moveTo>
                    <a:pt x="833823" y="0"/>
                  </a:moveTo>
                  <a:lnTo>
                    <a:pt x="769060" y="1029"/>
                  </a:lnTo>
                  <a:lnTo>
                    <a:pt x="705591" y="4066"/>
                  </a:lnTo>
                  <a:lnTo>
                    <a:pt x="643607" y="9032"/>
                  </a:lnTo>
                  <a:lnTo>
                    <a:pt x="583299" y="15849"/>
                  </a:lnTo>
                  <a:lnTo>
                    <a:pt x="524859" y="24439"/>
                  </a:lnTo>
                  <a:lnTo>
                    <a:pt x="468478" y="34725"/>
                  </a:lnTo>
                  <a:lnTo>
                    <a:pt x="414348" y="46629"/>
                  </a:lnTo>
                  <a:lnTo>
                    <a:pt x="362659" y="60072"/>
                  </a:lnTo>
                  <a:lnTo>
                    <a:pt x="313604" y="74977"/>
                  </a:lnTo>
                  <a:lnTo>
                    <a:pt x="267374" y="91265"/>
                  </a:lnTo>
                  <a:lnTo>
                    <a:pt x="224160" y="108860"/>
                  </a:lnTo>
                  <a:lnTo>
                    <a:pt x="184153" y="127682"/>
                  </a:lnTo>
                  <a:lnTo>
                    <a:pt x="147545" y="147654"/>
                  </a:lnTo>
                  <a:lnTo>
                    <a:pt x="114527" y="168699"/>
                  </a:lnTo>
                  <a:lnTo>
                    <a:pt x="60026" y="213692"/>
                  </a:lnTo>
                  <a:lnTo>
                    <a:pt x="22183" y="262039"/>
                  </a:lnTo>
                  <a:lnTo>
                    <a:pt x="2528" y="313116"/>
                  </a:lnTo>
                  <a:lnTo>
                    <a:pt x="0" y="339483"/>
                  </a:lnTo>
                  <a:lnTo>
                    <a:pt x="2528" y="365851"/>
                  </a:lnTo>
                  <a:lnTo>
                    <a:pt x="22183" y="416927"/>
                  </a:lnTo>
                  <a:lnTo>
                    <a:pt x="60026" y="465274"/>
                  </a:lnTo>
                  <a:lnTo>
                    <a:pt x="114527" y="510268"/>
                  </a:lnTo>
                  <a:lnTo>
                    <a:pt x="147545" y="531312"/>
                  </a:lnTo>
                  <a:lnTo>
                    <a:pt x="184153" y="551284"/>
                  </a:lnTo>
                  <a:lnTo>
                    <a:pt x="224160" y="570107"/>
                  </a:lnTo>
                  <a:lnTo>
                    <a:pt x="267374" y="587701"/>
                  </a:lnTo>
                  <a:lnTo>
                    <a:pt x="313604" y="603990"/>
                  </a:lnTo>
                  <a:lnTo>
                    <a:pt x="362659" y="618895"/>
                  </a:lnTo>
                  <a:lnTo>
                    <a:pt x="414348" y="632338"/>
                  </a:lnTo>
                  <a:lnTo>
                    <a:pt x="468478" y="644241"/>
                  </a:lnTo>
                  <a:lnTo>
                    <a:pt x="524859" y="654527"/>
                  </a:lnTo>
                  <a:lnTo>
                    <a:pt x="583299" y="663118"/>
                  </a:lnTo>
                  <a:lnTo>
                    <a:pt x="643607" y="669935"/>
                  </a:lnTo>
                  <a:lnTo>
                    <a:pt x="705591" y="674901"/>
                  </a:lnTo>
                  <a:lnTo>
                    <a:pt x="769060" y="677937"/>
                  </a:lnTo>
                  <a:lnTo>
                    <a:pt x="833823" y="678967"/>
                  </a:lnTo>
                  <a:lnTo>
                    <a:pt x="898586" y="677937"/>
                  </a:lnTo>
                  <a:lnTo>
                    <a:pt x="962056" y="674901"/>
                  </a:lnTo>
                  <a:lnTo>
                    <a:pt x="1024040" y="669935"/>
                  </a:lnTo>
                  <a:lnTo>
                    <a:pt x="1084348" y="663118"/>
                  </a:lnTo>
                  <a:lnTo>
                    <a:pt x="1142788" y="654527"/>
                  </a:lnTo>
                  <a:lnTo>
                    <a:pt x="1199169" y="644241"/>
                  </a:lnTo>
                  <a:lnTo>
                    <a:pt x="1253300" y="632338"/>
                  </a:lnTo>
                  <a:lnTo>
                    <a:pt x="1304988" y="618895"/>
                  </a:lnTo>
                  <a:lnTo>
                    <a:pt x="1354043" y="603990"/>
                  </a:lnTo>
                  <a:lnTo>
                    <a:pt x="1400274" y="587701"/>
                  </a:lnTo>
                  <a:lnTo>
                    <a:pt x="1443488" y="570107"/>
                  </a:lnTo>
                  <a:lnTo>
                    <a:pt x="1483495" y="551284"/>
                  </a:lnTo>
                  <a:lnTo>
                    <a:pt x="1520104" y="531312"/>
                  </a:lnTo>
                  <a:lnTo>
                    <a:pt x="1553122" y="510268"/>
                  </a:lnTo>
                  <a:lnTo>
                    <a:pt x="1607622" y="465274"/>
                  </a:lnTo>
                  <a:lnTo>
                    <a:pt x="1645465" y="416927"/>
                  </a:lnTo>
                  <a:lnTo>
                    <a:pt x="1665121" y="365851"/>
                  </a:lnTo>
                  <a:lnTo>
                    <a:pt x="1667649" y="339483"/>
                  </a:lnTo>
                  <a:lnTo>
                    <a:pt x="1665121" y="313116"/>
                  </a:lnTo>
                  <a:lnTo>
                    <a:pt x="1645465" y="262039"/>
                  </a:lnTo>
                  <a:lnTo>
                    <a:pt x="1607622" y="213692"/>
                  </a:lnTo>
                  <a:lnTo>
                    <a:pt x="1553122" y="168699"/>
                  </a:lnTo>
                  <a:lnTo>
                    <a:pt x="1520104" y="147654"/>
                  </a:lnTo>
                  <a:lnTo>
                    <a:pt x="1483495" y="127682"/>
                  </a:lnTo>
                  <a:lnTo>
                    <a:pt x="1443488" y="108860"/>
                  </a:lnTo>
                  <a:lnTo>
                    <a:pt x="1400274" y="91265"/>
                  </a:lnTo>
                  <a:lnTo>
                    <a:pt x="1354043" y="74977"/>
                  </a:lnTo>
                  <a:lnTo>
                    <a:pt x="1304988" y="60072"/>
                  </a:lnTo>
                  <a:lnTo>
                    <a:pt x="1253300" y="46629"/>
                  </a:lnTo>
                  <a:lnTo>
                    <a:pt x="1199169" y="34725"/>
                  </a:lnTo>
                  <a:lnTo>
                    <a:pt x="1142788" y="24439"/>
                  </a:lnTo>
                  <a:lnTo>
                    <a:pt x="1084348" y="15849"/>
                  </a:lnTo>
                  <a:lnTo>
                    <a:pt x="1024040" y="9032"/>
                  </a:lnTo>
                  <a:lnTo>
                    <a:pt x="962056" y="4066"/>
                  </a:lnTo>
                  <a:lnTo>
                    <a:pt x="898586" y="1029"/>
                  </a:lnTo>
                  <a:lnTo>
                    <a:pt x="833823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7025" y="3568915"/>
              <a:ext cx="1668145" cy="679450"/>
            </a:xfrm>
            <a:custGeom>
              <a:avLst/>
              <a:gdLst/>
              <a:ahLst/>
              <a:cxnLst/>
              <a:rect l="l" t="t" r="r" b="b"/>
              <a:pathLst>
                <a:path w="1668145" h="679450">
                  <a:moveTo>
                    <a:pt x="0" y="339483"/>
                  </a:moveTo>
                  <a:lnTo>
                    <a:pt x="9987" y="287275"/>
                  </a:lnTo>
                  <a:lnTo>
                    <a:pt x="38927" y="237485"/>
                  </a:lnTo>
                  <a:lnTo>
                    <a:pt x="85290" y="190737"/>
                  </a:lnTo>
                  <a:lnTo>
                    <a:pt x="147545" y="147654"/>
                  </a:lnTo>
                  <a:lnTo>
                    <a:pt x="184153" y="127682"/>
                  </a:lnTo>
                  <a:lnTo>
                    <a:pt x="224160" y="108860"/>
                  </a:lnTo>
                  <a:lnTo>
                    <a:pt x="267374" y="91265"/>
                  </a:lnTo>
                  <a:lnTo>
                    <a:pt x="313604" y="74977"/>
                  </a:lnTo>
                  <a:lnTo>
                    <a:pt x="362659" y="60072"/>
                  </a:lnTo>
                  <a:lnTo>
                    <a:pt x="414348" y="46629"/>
                  </a:lnTo>
                  <a:lnTo>
                    <a:pt x="468478" y="34725"/>
                  </a:lnTo>
                  <a:lnTo>
                    <a:pt x="524859" y="24439"/>
                  </a:lnTo>
                  <a:lnTo>
                    <a:pt x="583299" y="15849"/>
                  </a:lnTo>
                  <a:lnTo>
                    <a:pt x="643607" y="9032"/>
                  </a:lnTo>
                  <a:lnTo>
                    <a:pt x="705591" y="4066"/>
                  </a:lnTo>
                  <a:lnTo>
                    <a:pt x="769060" y="1029"/>
                  </a:lnTo>
                  <a:lnTo>
                    <a:pt x="833823" y="0"/>
                  </a:lnTo>
                  <a:lnTo>
                    <a:pt x="898586" y="1029"/>
                  </a:lnTo>
                  <a:lnTo>
                    <a:pt x="962056" y="4066"/>
                  </a:lnTo>
                  <a:lnTo>
                    <a:pt x="1024040" y="9032"/>
                  </a:lnTo>
                  <a:lnTo>
                    <a:pt x="1084348" y="15849"/>
                  </a:lnTo>
                  <a:lnTo>
                    <a:pt x="1142788" y="24439"/>
                  </a:lnTo>
                  <a:lnTo>
                    <a:pt x="1199169" y="34725"/>
                  </a:lnTo>
                  <a:lnTo>
                    <a:pt x="1253300" y="46629"/>
                  </a:lnTo>
                  <a:lnTo>
                    <a:pt x="1304988" y="60072"/>
                  </a:lnTo>
                  <a:lnTo>
                    <a:pt x="1354043" y="74977"/>
                  </a:lnTo>
                  <a:lnTo>
                    <a:pt x="1400274" y="91265"/>
                  </a:lnTo>
                  <a:lnTo>
                    <a:pt x="1443488" y="108860"/>
                  </a:lnTo>
                  <a:lnTo>
                    <a:pt x="1483495" y="127682"/>
                  </a:lnTo>
                  <a:lnTo>
                    <a:pt x="1520104" y="147654"/>
                  </a:lnTo>
                  <a:lnTo>
                    <a:pt x="1553122" y="168699"/>
                  </a:lnTo>
                  <a:lnTo>
                    <a:pt x="1607622" y="213692"/>
                  </a:lnTo>
                  <a:lnTo>
                    <a:pt x="1645465" y="262039"/>
                  </a:lnTo>
                  <a:lnTo>
                    <a:pt x="1665121" y="313116"/>
                  </a:lnTo>
                  <a:lnTo>
                    <a:pt x="1667649" y="339483"/>
                  </a:lnTo>
                  <a:lnTo>
                    <a:pt x="1665121" y="365851"/>
                  </a:lnTo>
                  <a:lnTo>
                    <a:pt x="1657662" y="391691"/>
                  </a:lnTo>
                  <a:lnTo>
                    <a:pt x="1628722" y="441481"/>
                  </a:lnTo>
                  <a:lnTo>
                    <a:pt x="1582358" y="488229"/>
                  </a:lnTo>
                  <a:lnTo>
                    <a:pt x="1520104" y="531312"/>
                  </a:lnTo>
                  <a:lnTo>
                    <a:pt x="1483495" y="551284"/>
                  </a:lnTo>
                  <a:lnTo>
                    <a:pt x="1443488" y="570107"/>
                  </a:lnTo>
                  <a:lnTo>
                    <a:pt x="1400274" y="587701"/>
                  </a:lnTo>
                  <a:lnTo>
                    <a:pt x="1354043" y="603990"/>
                  </a:lnTo>
                  <a:lnTo>
                    <a:pt x="1304988" y="618895"/>
                  </a:lnTo>
                  <a:lnTo>
                    <a:pt x="1253300" y="632338"/>
                  </a:lnTo>
                  <a:lnTo>
                    <a:pt x="1199169" y="644241"/>
                  </a:lnTo>
                  <a:lnTo>
                    <a:pt x="1142788" y="654527"/>
                  </a:lnTo>
                  <a:lnTo>
                    <a:pt x="1084348" y="663118"/>
                  </a:lnTo>
                  <a:lnTo>
                    <a:pt x="1024040" y="669935"/>
                  </a:lnTo>
                  <a:lnTo>
                    <a:pt x="962056" y="674901"/>
                  </a:lnTo>
                  <a:lnTo>
                    <a:pt x="898586" y="677937"/>
                  </a:lnTo>
                  <a:lnTo>
                    <a:pt x="833823" y="678967"/>
                  </a:lnTo>
                  <a:lnTo>
                    <a:pt x="769060" y="677937"/>
                  </a:lnTo>
                  <a:lnTo>
                    <a:pt x="705591" y="674901"/>
                  </a:lnTo>
                  <a:lnTo>
                    <a:pt x="643607" y="669935"/>
                  </a:lnTo>
                  <a:lnTo>
                    <a:pt x="583299" y="663118"/>
                  </a:lnTo>
                  <a:lnTo>
                    <a:pt x="524859" y="654527"/>
                  </a:lnTo>
                  <a:lnTo>
                    <a:pt x="468478" y="644241"/>
                  </a:lnTo>
                  <a:lnTo>
                    <a:pt x="414348" y="632338"/>
                  </a:lnTo>
                  <a:lnTo>
                    <a:pt x="362659" y="618895"/>
                  </a:lnTo>
                  <a:lnTo>
                    <a:pt x="313604" y="603990"/>
                  </a:lnTo>
                  <a:lnTo>
                    <a:pt x="267374" y="587701"/>
                  </a:lnTo>
                  <a:lnTo>
                    <a:pt x="224160" y="570107"/>
                  </a:lnTo>
                  <a:lnTo>
                    <a:pt x="184153" y="551284"/>
                  </a:lnTo>
                  <a:lnTo>
                    <a:pt x="147545" y="531312"/>
                  </a:lnTo>
                  <a:lnTo>
                    <a:pt x="114527" y="510268"/>
                  </a:lnTo>
                  <a:lnTo>
                    <a:pt x="60026" y="465274"/>
                  </a:lnTo>
                  <a:lnTo>
                    <a:pt x="22183" y="416927"/>
                  </a:lnTo>
                  <a:lnTo>
                    <a:pt x="2528" y="365851"/>
                  </a:lnTo>
                  <a:lnTo>
                    <a:pt x="0" y="33948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45617" y="366518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45617" y="366518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25237" y="355046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5237" y="355046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25237" y="379119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25237" y="379119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09197" y="3670947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09197" y="3670947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31505" y="402572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31505" y="402572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41276" y="391161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41276" y="391161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195086" y="4031487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195086" y="4031487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188817" y="3548418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188817" y="3548418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188817" y="3789146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188817" y="3789146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372781" y="366890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372781" y="3668902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372781" y="3909313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372781" y="3909313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550466" y="3542626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50466" y="3542626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730095" y="3668649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730095" y="3668649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736356" y="3903167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736356" y="3903167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546123" y="3789070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546123" y="3789070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914055" y="3790200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914055" y="3790200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558950" y="403442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558950" y="403442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4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677" y="1232814"/>
              <a:ext cx="880303" cy="92520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55098" y="3789070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55098" y="3789070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008556" y="391184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180689" y="0"/>
                  </a:moveTo>
                  <a:lnTo>
                    <a:pt x="59932" y="0"/>
                  </a:lnTo>
                  <a:lnTo>
                    <a:pt x="0" y="119875"/>
                  </a:lnTo>
                  <a:lnTo>
                    <a:pt x="59932" y="239737"/>
                  </a:lnTo>
                  <a:lnTo>
                    <a:pt x="180689" y="239737"/>
                  </a:lnTo>
                  <a:lnTo>
                    <a:pt x="240621" y="119875"/>
                  </a:lnTo>
                  <a:lnTo>
                    <a:pt x="180689" y="0"/>
                  </a:lnTo>
                  <a:close/>
                </a:path>
              </a:pathLst>
            </a:custGeom>
            <a:solidFill>
              <a:srgbClr val="D1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08556" y="3911841"/>
              <a:ext cx="240665" cy="240029"/>
            </a:xfrm>
            <a:custGeom>
              <a:avLst/>
              <a:gdLst/>
              <a:ahLst/>
              <a:cxnLst/>
              <a:rect l="l" t="t" r="r" b="b"/>
              <a:pathLst>
                <a:path w="240665" h="240029">
                  <a:moveTo>
                    <a:pt x="0" y="119875"/>
                  </a:moveTo>
                  <a:lnTo>
                    <a:pt x="59932" y="0"/>
                  </a:lnTo>
                  <a:lnTo>
                    <a:pt x="180689" y="0"/>
                  </a:lnTo>
                  <a:lnTo>
                    <a:pt x="240621" y="119875"/>
                  </a:lnTo>
                  <a:lnTo>
                    <a:pt x="180689" y="239737"/>
                  </a:lnTo>
                  <a:lnTo>
                    <a:pt x="59932" y="239737"/>
                  </a:lnTo>
                  <a:lnTo>
                    <a:pt x="0" y="119875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31679" y="3799039"/>
              <a:ext cx="379162" cy="85432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1505562" y="1233493"/>
            <a:ext cx="10223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SAT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endParaRPr sz="1000">
              <a:latin typeface="Arial"/>
              <a:cs typeface="Arial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~2800</a:t>
            </a: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km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diameter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22009" y="3328123"/>
            <a:ext cx="720090" cy="720090"/>
            <a:chOff x="6422009" y="3328123"/>
            <a:chExt cx="720090" cy="720090"/>
          </a:xfrm>
        </p:grpSpPr>
        <p:sp>
          <p:nvSpPr>
            <p:cNvPr id="12" name="object 12"/>
            <p:cNvSpPr/>
            <p:nvPr/>
          </p:nvSpPr>
          <p:spPr>
            <a:xfrm>
              <a:off x="6422009" y="3328123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90" h="720089">
                  <a:moveTo>
                    <a:pt x="360000" y="0"/>
                  </a:moveTo>
                  <a:lnTo>
                    <a:pt x="311430" y="3311"/>
                  </a:lnTo>
                  <a:lnTo>
                    <a:pt x="264760" y="12952"/>
                  </a:lnTo>
                  <a:lnTo>
                    <a:pt x="220433" y="28477"/>
                  </a:lnTo>
                  <a:lnTo>
                    <a:pt x="178893" y="49446"/>
                  </a:lnTo>
                  <a:lnTo>
                    <a:pt x="140581" y="75414"/>
                  </a:lnTo>
                  <a:lnTo>
                    <a:pt x="105941" y="105940"/>
                  </a:lnTo>
                  <a:lnTo>
                    <a:pt x="75415" y="140580"/>
                  </a:lnTo>
                  <a:lnTo>
                    <a:pt x="49446" y="178891"/>
                  </a:lnTo>
                  <a:lnTo>
                    <a:pt x="28477" y="220431"/>
                  </a:lnTo>
                  <a:lnTo>
                    <a:pt x="12952" y="264756"/>
                  </a:lnTo>
                  <a:lnTo>
                    <a:pt x="3311" y="311425"/>
                  </a:lnTo>
                  <a:lnTo>
                    <a:pt x="0" y="359994"/>
                  </a:lnTo>
                  <a:lnTo>
                    <a:pt x="3311" y="408565"/>
                  </a:lnTo>
                  <a:lnTo>
                    <a:pt x="12952" y="455236"/>
                  </a:lnTo>
                  <a:lnTo>
                    <a:pt x="28477" y="499564"/>
                  </a:lnTo>
                  <a:lnTo>
                    <a:pt x="49446" y="541106"/>
                  </a:lnTo>
                  <a:lnTo>
                    <a:pt x="75415" y="579418"/>
                  </a:lnTo>
                  <a:lnTo>
                    <a:pt x="105941" y="614059"/>
                  </a:lnTo>
                  <a:lnTo>
                    <a:pt x="140581" y="644585"/>
                  </a:lnTo>
                  <a:lnTo>
                    <a:pt x="178893" y="670554"/>
                  </a:lnTo>
                  <a:lnTo>
                    <a:pt x="220433" y="691523"/>
                  </a:lnTo>
                  <a:lnTo>
                    <a:pt x="264760" y="707049"/>
                  </a:lnTo>
                  <a:lnTo>
                    <a:pt x="311430" y="716689"/>
                  </a:lnTo>
                  <a:lnTo>
                    <a:pt x="360000" y="720001"/>
                  </a:lnTo>
                  <a:lnTo>
                    <a:pt x="408570" y="716689"/>
                  </a:lnTo>
                  <a:lnTo>
                    <a:pt x="455240" y="707049"/>
                  </a:lnTo>
                  <a:lnTo>
                    <a:pt x="499566" y="691523"/>
                  </a:lnTo>
                  <a:lnTo>
                    <a:pt x="541107" y="670554"/>
                  </a:lnTo>
                  <a:lnTo>
                    <a:pt x="579419" y="644585"/>
                  </a:lnTo>
                  <a:lnTo>
                    <a:pt x="614059" y="614059"/>
                  </a:lnTo>
                  <a:lnTo>
                    <a:pt x="644585" y="579418"/>
                  </a:lnTo>
                  <a:lnTo>
                    <a:pt x="670554" y="541106"/>
                  </a:lnTo>
                  <a:lnTo>
                    <a:pt x="691523" y="499564"/>
                  </a:lnTo>
                  <a:lnTo>
                    <a:pt x="707048" y="455236"/>
                  </a:lnTo>
                  <a:lnTo>
                    <a:pt x="716689" y="408565"/>
                  </a:lnTo>
                  <a:lnTo>
                    <a:pt x="720001" y="359994"/>
                  </a:lnTo>
                  <a:lnTo>
                    <a:pt x="716689" y="311425"/>
                  </a:lnTo>
                  <a:lnTo>
                    <a:pt x="707048" y="264756"/>
                  </a:lnTo>
                  <a:lnTo>
                    <a:pt x="691523" y="220431"/>
                  </a:lnTo>
                  <a:lnTo>
                    <a:pt x="670554" y="178891"/>
                  </a:lnTo>
                  <a:lnTo>
                    <a:pt x="644585" y="140580"/>
                  </a:lnTo>
                  <a:lnTo>
                    <a:pt x="614059" y="105940"/>
                  </a:lnTo>
                  <a:lnTo>
                    <a:pt x="579419" y="75414"/>
                  </a:lnTo>
                  <a:lnTo>
                    <a:pt x="541107" y="49446"/>
                  </a:lnTo>
                  <a:lnTo>
                    <a:pt x="499566" y="28477"/>
                  </a:lnTo>
                  <a:lnTo>
                    <a:pt x="455240" y="12952"/>
                  </a:lnTo>
                  <a:lnTo>
                    <a:pt x="408570" y="3311"/>
                  </a:lnTo>
                  <a:lnTo>
                    <a:pt x="360000" y="0"/>
                  </a:lnTo>
                  <a:close/>
                </a:path>
              </a:pathLst>
            </a:custGeom>
            <a:solidFill>
              <a:srgbClr val="0036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4851" y="3452304"/>
              <a:ext cx="405887" cy="47392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232281" y="3421354"/>
            <a:ext cx="1067435" cy="4864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66666"/>
                </a:solidFill>
                <a:latin typeface="Arial"/>
                <a:cs typeface="Arial"/>
              </a:rPr>
              <a:t>Cell</a:t>
            </a:r>
            <a:r>
              <a:rPr dirty="0" sz="12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66666"/>
                </a:solidFill>
                <a:latin typeface="Arial"/>
                <a:cs typeface="Arial"/>
              </a:rPr>
              <a:t>Coverage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48Km</a:t>
            </a:r>
            <a:r>
              <a:rPr dirty="0" sz="90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dirty="0" sz="9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low</a:t>
            </a:r>
            <a:r>
              <a:rPr dirty="0" sz="90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band</a:t>
            </a:r>
            <a:r>
              <a:rPr dirty="0" sz="9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Arial"/>
                <a:cs typeface="Arial"/>
              </a:rPr>
              <a:t>or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24km</a:t>
            </a:r>
            <a:r>
              <a:rPr dirty="0" sz="9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dirty="0" sz="9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666666"/>
                </a:solidFill>
                <a:latin typeface="Arial"/>
                <a:cs typeface="Arial"/>
              </a:rPr>
              <a:t>mid</a:t>
            </a:r>
            <a:r>
              <a:rPr dirty="0" sz="9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666666"/>
                </a:solidFill>
                <a:latin typeface="Arial"/>
                <a:cs typeface="Arial"/>
              </a:rPr>
              <a:t>band</a:t>
            </a:r>
            <a:endParaRPr sz="9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520417" y="3774414"/>
            <a:ext cx="555625" cy="285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Transport</a:t>
            </a:r>
            <a:endParaRPr sz="1000">
              <a:latin typeface="Arial"/>
              <a:cs typeface="Arial"/>
            </a:endParaRPr>
          </a:p>
          <a:p>
            <a:pPr marL="61594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(IP/Optics)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19467" y="3765753"/>
            <a:ext cx="462280" cy="285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endParaRPr sz="100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(5GC,</a:t>
            </a:r>
            <a:r>
              <a:rPr dirty="0" sz="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Arial"/>
                <a:cs typeface="Arial"/>
              </a:rPr>
              <a:t>IMS)</a:t>
            </a:r>
            <a:endParaRPr sz="7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64047" y="3903929"/>
            <a:ext cx="527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445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AirScale Baseband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988085" y="1794825"/>
            <a:ext cx="4935855" cy="2475865"/>
            <a:chOff x="988085" y="1794825"/>
            <a:chExt cx="4935855" cy="2475865"/>
          </a:xfrm>
        </p:grpSpPr>
        <p:sp>
          <p:nvSpPr>
            <p:cNvPr id="80" name="object 80"/>
            <p:cNvSpPr/>
            <p:nvPr/>
          </p:nvSpPr>
          <p:spPr>
            <a:xfrm>
              <a:off x="5033810" y="3568077"/>
              <a:ext cx="257175" cy="0"/>
            </a:xfrm>
            <a:custGeom>
              <a:avLst/>
              <a:gdLst/>
              <a:ahLst/>
              <a:cxnLst/>
              <a:rect l="l" t="t" r="r" b="b"/>
              <a:pathLst>
                <a:path w="257175" h="0">
                  <a:moveTo>
                    <a:pt x="0" y="0"/>
                  </a:moveTo>
                  <a:lnTo>
                    <a:pt x="257042" y="0"/>
                  </a:lnTo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88085" y="1794827"/>
              <a:ext cx="640715" cy="2205990"/>
            </a:xfrm>
            <a:custGeom>
              <a:avLst/>
              <a:gdLst/>
              <a:ahLst/>
              <a:cxnLst/>
              <a:rect l="l" t="t" r="r" b="b"/>
              <a:pathLst>
                <a:path w="640714" h="2205990">
                  <a:moveTo>
                    <a:pt x="640219" y="1973656"/>
                  </a:moveTo>
                  <a:lnTo>
                    <a:pt x="66840" y="31597"/>
                  </a:lnTo>
                  <a:lnTo>
                    <a:pt x="61226" y="0"/>
                  </a:lnTo>
                  <a:lnTo>
                    <a:pt x="61988" y="15176"/>
                  </a:lnTo>
                  <a:lnTo>
                    <a:pt x="58966" y="4914"/>
                  </a:lnTo>
                  <a:lnTo>
                    <a:pt x="62687" y="29095"/>
                  </a:lnTo>
                  <a:lnTo>
                    <a:pt x="63868" y="52552"/>
                  </a:lnTo>
                  <a:lnTo>
                    <a:pt x="61239" y="23202"/>
                  </a:lnTo>
                  <a:lnTo>
                    <a:pt x="0" y="1956079"/>
                  </a:lnTo>
                  <a:lnTo>
                    <a:pt x="36576" y="2038870"/>
                  </a:lnTo>
                  <a:lnTo>
                    <a:pt x="57886" y="2056066"/>
                  </a:lnTo>
                  <a:lnTo>
                    <a:pt x="108508" y="2078266"/>
                  </a:lnTo>
                  <a:lnTo>
                    <a:pt x="129832" y="2095461"/>
                  </a:lnTo>
                  <a:lnTo>
                    <a:pt x="179743" y="2095715"/>
                  </a:lnTo>
                  <a:lnTo>
                    <a:pt x="213804" y="2155952"/>
                  </a:lnTo>
                  <a:lnTo>
                    <a:pt x="238823" y="2171941"/>
                  </a:lnTo>
                  <a:lnTo>
                    <a:pt x="296557" y="2190000"/>
                  </a:lnTo>
                  <a:lnTo>
                    <a:pt x="321576" y="2205990"/>
                  </a:lnTo>
                  <a:lnTo>
                    <a:pt x="399478" y="2198446"/>
                  </a:lnTo>
                  <a:lnTo>
                    <a:pt x="411200" y="2191639"/>
                  </a:lnTo>
                  <a:lnTo>
                    <a:pt x="434441" y="2172233"/>
                  </a:lnTo>
                  <a:lnTo>
                    <a:pt x="446151" y="2165413"/>
                  </a:lnTo>
                  <a:lnTo>
                    <a:pt x="417004" y="2001469"/>
                  </a:lnTo>
                  <a:lnTo>
                    <a:pt x="436714" y="2009990"/>
                  </a:lnTo>
                  <a:lnTo>
                    <a:pt x="495236" y="2018461"/>
                  </a:lnTo>
                  <a:lnTo>
                    <a:pt x="521373" y="2029752"/>
                  </a:lnTo>
                  <a:lnTo>
                    <a:pt x="597357" y="2011337"/>
                  </a:lnTo>
                  <a:lnTo>
                    <a:pt x="608253" y="2003259"/>
                  </a:lnTo>
                  <a:lnTo>
                    <a:pt x="629335" y="1981720"/>
                  </a:lnTo>
                  <a:lnTo>
                    <a:pt x="640219" y="1973656"/>
                  </a:lnTo>
                  <a:close/>
                </a:path>
              </a:pathLst>
            </a:custGeom>
            <a:solidFill>
              <a:srgbClr val="0036A7">
                <a:alpha val="4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448327" y="3129038"/>
              <a:ext cx="1468755" cy="1135380"/>
            </a:xfrm>
            <a:custGeom>
              <a:avLst/>
              <a:gdLst/>
              <a:ahLst/>
              <a:cxnLst/>
              <a:rect l="l" t="t" r="r" b="b"/>
              <a:pathLst>
                <a:path w="1468754" h="1135379">
                  <a:moveTo>
                    <a:pt x="0" y="0"/>
                  </a:moveTo>
                  <a:lnTo>
                    <a:pt x="1468653" y="0"/>
                  </a:lnTo>
                  <a:lnTo>
                    <a:pt x="1468653" y="1134960"/>
                  </a:lnTo>
                  <a:lnTo>
                    <a:pt x="0" y="113496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2380657" y="3792435"/>
            <a:ext cx="9753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02615" algn="l"/>
              </a:tabLst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Antenna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BPMS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012784" y="3374148"/>
            <a:ext cx="4728210" cy="624840"/>
            <a:chOff x="1012784" y="3374148"/>
            <a:chExt cx="4728210" cy="624840"/>
          </a:xfrm>
        </p:grpSpPr>
        <p:pic>
          <p:nvPicPr>
            <p:cNvPr id="87" name="object 8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2784" y="3744772"/>
              <a:ext cx="139705" cy="1397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1463" y="3859225"/>
              <a:ext cx="139705" cy="13970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28757" y="3585565"/>
              <a:ext cx="139705" cy="13970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6248" y="3795826"/>
              <a:ext cx="139705" cy="1397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72903" y="3602520"/>
              <a:ext cx="139705" cy="1397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84357" y="3374148"/>
              <a:ext cx="368301" cy="3937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72468" y="3376472"/>
              <a:ext cx="368301" cy="368300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928737" y="4297832"/>
            <a:ext cx="7258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Beams/Cells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96509" y="4284726"/>
            <a:ext cx="866775" cy="285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Ground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Station</a:t>
            </a:r>
            <a:endParaRPr sz="1000">
              <a:latin typeface="Arial"/>
              <a:cs typeface="Arial"/>
            </a:endParaRPr>
          </a:p>
          <a:p>
            <a:pPr algn="ctr" marR="4445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(MNO</a:t>
            </a:r>
            <a:r>
              <a:rPr dirty="0" sz="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designated)</a:t>
            </a:r>
            <a:endParaRPr sz="7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810964" y="4284014"/>
            <a:ext cx="734060" cy="285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MNO</a:t>
            </a:r>
            <a:endParaRPr sz="100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(Existing</a:t>
            </a:r>
            <a:r>
              <a:rPr dirty="0" sz="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Network)</a:t>
            </a:r>
            <a:endParaRPr sz="700">
              <a:latin typeface="Arial"/>
              <a:cs typeface="Arial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>
                <a:solidFill>
                  <a:srgbClr val="001135"/>
                </a:solidFill>
              </a:rPr>
              <a:t>21</a:t>
            </a:fld>
          </a:p>
        </p:txBody>
      </p:sp>
      <p:sp>
        <p:nvSpPr>
          <p:cNvPr id="2" name="object 2"/>
          <p:cNvSpPr/>
          <p:nvPr/>
        </p:nvSpPr>
        <p:spPr>
          <a:xfrm>
            <a:off x="1403603" y="4842903"/>
            <a:ext cx="0" cy="144145"/>
          </a:xfrm>
          <a:custGeom>
            <a:avLst/>
            <a:gdLst/>
            <a:ahLst/>
            <a:cxnLst/>
            <a:rect l="l" t="t" r="r" b="b"/>
            <a:pathLst>
              <a:path w="0" h="144145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6349">
            <a:solidFill>
              <a:srgbClr val="00113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6" name="object 7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42391" y="4533531"/>
            <a:ext cx="1681930" cy="6099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6401" y="54778"/>
            <a:ext cx="537273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solidFill>
                  <a:srgbClr val="124191"/>
                </a:solidFill>
                <a:latin typeface="Arial"/>
                <a:cs typeface="Arial"/>
              </a:rPr>
              <a:t>World’s</a:t>
            </a:r>
            <a:r>
              <a:rPr dirty="0" sz="2000" spc="-40" b="0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124191"/>
                </a:solidFill>
                <a:latin typeface="Arial"/>
                <a:cs typeface="Arial"/>
              </a:rPr>
              <a:t>First</a:t>
            </a:r>
            <a:r>
              <a:rPr dirty="0" sz="2000" spc="-35" b="0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spc="-20" b="0">
                <a:solidFill>
                  <a:srgbClr val="124191"/>
                </a:solidFill>
                <a:latin typeface="Arial"/>
                <a:cs typeface="Arial"/>
              </a:rPr>
              <a:t>Space-</a:t>
            </a:r>
            <a:r>
              <a:rPr dirty="0" sz="2000" b="0">
                <a:solidFill>
                  <a:srgbClr val="124191"/>
                </a:solidFill>
                <a:latin typeface="Arial"/>
                <a:cs typeface="Arial"/>
              </a:rPr>
              <a:t>Based</a:t>
            </a:r>
            <a:r>
              <a:rPr dirty="0" sz="2000" spc="-45" b="0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124191"/>
                </a:solidFill>
                <a:latin typeface="Arial"/>
                <a:cs typeface="Arial"/>
              </a:rPr>
              <a:t>5G</a:t>
            </a:r>
            <a:r>
              <a:rPr dirty="0" sz="2000" spc="-40" b="0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b="0">
                <a:solidFill>
                  <a:srgbClr val="124191"/>
                </a:solidFill>
                <a:latin typeface="Arial"/>
                <a:cs typeface="Arial"/>
              </a:rPr>
              <a:t>Cellular</a:t>
            </a:r>
            <a:r>
              <a:rPr dirty="0" sz="2000" spc="-35" b="0">
                <a:solidFill>
                  <a:srgbClr val="124191"/>
                </a:solidFill>
                <a:latin typeface="Arial"/>
                <a:cs typeface="Arial"/>
              </a:rPr>
              <a:t> </a:t>
            </a:r>
            <a:r>
              <a:rPr dirty="0" sz="2000" spc="-10" b="0">
                <a:solidFill>
                  <a:srgbClr val="124191"/>
                </a:solidFill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2931" y="441657"/>
            <a:ext cx="360552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8DB0FF"/>
                </a:solidFill>
                <a:latin typeface="Arial"/>
                <a:cs typeface="Arial"/>
              </a:rPr>
              <a:t>Achieved</a:t>
            </a:r>
            <a:r>
              <a:rPr dirty="0" sz="1600" spc="-15">
                <a:solidFill>
                  <a:srgbClr val="8DB0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8DB0FF"/>
                </a:solidFill>
                <a:latin typeface="Arial"/>
                <a:cs typeface="Arial"/>
              </a:rPr>
              <a:t>By</a:t>
            </a:r>
            <a:r>
              <a:rPr dirty="0" sz="1600" spc="-15">
                <a:solidFill>
                  <a:srgbClr val="8DB0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8DB0FF"/>
                </a:solidFill>
                <a:latin typeface="Arial"/>
                <a:cs typeface="Arial"/>
              </a:rPr>
              <a:t>AST</a:t>
            </a:r>
            <a:r>
              <a:rPr dirty="0" sz="1600" spc="-15">
                <a:solidFill>
                  <a:srgbClr val="8DB0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8DB0FF"/>
                </a:solidFill>
                <a:latin typeface="Arial"/>
                <a:cs typeface="Arial"/>
              </a:rPr>
              <a:t>SpaceMobile</a:t>
            </a:r>
            <a:r>
              <a:rPr dirty="0" sz="1600" spc="-15">
                <a:solidFill>
                  <a:srgbClr val="8DB0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8DB0FF"/>
                </a:solidFill>
                <a:latin typeface="Arial"/>
                <a:cs typeface="Arial"/>
              </a:rPr>
              <a:t>&amp;</a:t>
            </a:r>
            <a:r>
              <a:rPr dirty="0" sz="1600" spc="-15">
                <a:solidFill>
                  <a:srgbClr val="8DB0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8DB0FF"/>
                </a:solidFill>
                <a:latin typeface="Arial"/>
                <a:cs typeface="Arial"/>
              </a:rPr>
              <a:t>Nokia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2751" y="1381163"/>
            <a:ext cx="4782820" cy="3023235"/>
            <a:chOff x="412751" y="1381163"/>
            <a:chExt cx="4782820" cy="3023235"/>
          </a:xfrm>
        </p:grpSpPr>
        <p:sp>
          <p:nvSpPr>
            <p:cNvPr id="6" name="object 6"/>
            <p:cNvSpPr/>
            <p:nvPr/>
          </p:nvSpPr>
          <p:spPr>
            <a:xfrm>
              <a:off x="419101" y="1387513"/>
              <a:ext cx="4770120" cy="3010535"/>
            </a:xfrm>
            <a:custGeom>
              <a:avLst/>
              <a:gdLst/>
              <a:ahLst/>
              <a:cxnLst/>
              <a:rect l="l" t="t" r="r" b="b"/>
              <a:pathLst>
                <a:path w="4770120" h="3010535">
                  <a:moveTo>
                    <a:pt x="4268165" y="0"/>
                  </a:moveTo>
                  <a:lnTo>
                    <a:pt x="501728" y="0"/>
                  </a:lnTo>
                  <a:lnTo>
                    <a:pt x="453699" y="2314"/>
                  </a:lnTo>
                  <a:lnTo>
                    <a:pt x="406898" y="9115"/>
                  </a:lnTo>
                  <a:lnTo>
                    <a:pt x="361544" y="20183"/>
                  </a:lnTo>
                  <a:lnTo>
                    <a:pt x="317853" y="35302"/>
                  </a:lnTo>
                  <a:lnTo>
                    <a:pt x="276043" y="54255"/>
                  </a:lnTo>
                  <a:lnTo>
                    <a:pt x="236330" y="76825"/>
                  </a:lnTo>
                  <a:lnTo>
                    <a:pt x="198932" y="102795"/>
                  </a:lnTo>
                  <a:lnTo>
                    <a:pt x="164065" y="131948"/>
                  </a:lnTo>
                  <a:lnTo>
                    <a:pt x="131947" y="164066"/>
                  </a:lnTo>
                  <a:lnTo>
                    <a:pt x="102794" y="198933"/>
                  </a:lnTo>
                  <a:lnTo>
                    <a:pt x="76824" y="236331"/>
                  </a:lnTo>
                  <a:lnTo>
                    <a:pt x="54255" y="276044"/>
                  </a:lnTo>
                  <a:lnTo>
                    <a:pt x="35302" y="317854"/>
                  </a:lnTo>
                  <a:lnTo>
                    <a:pt x="20183" y="361544"/>
                  </a:lnTo>
                  <a:lnTo>
                    <a:pt x="9114" y="406897"/>
                  </a:lnTo>
                  <a:lnTo>
                    <a:pt x="2314" y="453697"/>
                  </a:lnTo>
                  <a:lnTo>
                    <a:pt x="0" y="501726"/>
                  </a:lnTo>
                  <a:lnTo>
                    <a:pt x="0" y="2508580"/>
                  </a:lnTo>
                  <a:lnTo>
                    <a:pt x="2314" y="2556610"/>
                  </a:lnTo>
                  <a:lnTo>
                    <a:pt x="9114" y="2603411"/>
                  </a:lnTo>
                  <a:lnTo>
                    <a:pt x="20183" y="2648766"/>
                  </a:lnTo>
                  <a:lnTo>
                    <a:pt x="35302" y="2692457"/>
                  </a:lnTo>
                  <a:lnTo>
                    <a:pt x="54255" y="2734267"/>
                  </a:lnTo>
                  <a:lnTo>
                    <a:pt x="76824" y="2773980"/>
                  </a:lnTo>
                  <a:lnTo>
                    <a:pt x="102794" y="2811378"/>
                  </a:lnTo>
                  <a:lnTo>
                    <a:pt x="131947" y="2846244"/>
                  </a:lnTo>
                  <a:lnTo>
                    <a:pt x="164065" y="2878362"/>
                  </a:lnTo>
                  <a:lnTo>
                    <a:pt x="198932" y="2907514"/>
                  </a:lnTo>
                  <a:lnTo>
                    <a:pt x="236330" y="2933483"/>
                  </a:lnTo>
                  <a:lnTo>
                    <a:pt x="276043" y="2956052"/>
                  </a:lnTo>
                  <a:lnTo>
                    <a:pt x="317853" y="2975005"/>
                  </a:lnTo>
                  <a:lnTo>
                    <a:pt x="361544" y="2990124"/>
                  </a:lnTo>
                  <a:lnTo>
                    <a:pt x="406898" y="3001191"/>
                  </a:lnTo>
                  <a:lnTo>
                    <a:pt x="453699" y="3007991"/>
                  </a:lnTo>
                  <a:lnTo>
                    <a:pt x="501728" y="3010306"/>
                  </a:lnTo>
                  <a:lnTo>
                    <a:pt x="4268165" y="3010306"/>
                  </a:lnTo>
                  <a:lnTo>
                    <a:pt x="4316193" y="3007991"/>
                  </a:lnTo>
                  <a:lnTo>
                    <a:pt x="4362993" y="3001191"/>
                  </a:lnTo>
                  <a:lnTo>
                    <a:pt x="4408346" y="2990124"/>
                  </a:lnTo>
                  <a:lnTo>
                    <a:pt x="4452037" y="2975005"/>
                  </a:lnTo>
                  <a:lnTo>
                    <a:pt x="4493847" y="2956052"/>
                  </a:lnTo>
                  <a:lnTo>
                    <a:pt x="4533559" y="2933483"/>
                  </a:lnTo>
                  <a:lnTo>
                    <a:pt x="4570958" y="2907514"/>
                  </a:lnTo>
                  <a:lnTo>
                    <a:pt x="4605824" y="2878362"/>
                  </a:lnTo>
                  <a:lnTo>
                    <a:pt x="4637943" y="2846244"/>
                  </a:lnTo>
                  <a:lnTo>
                    <a:pt x="4667095" y="2811378"/>
                  </a:lnTo>
                  <a:lnTo>
                    <a:pt x="4693065" y="2773980"/>
                  </a:lnTo>
                  <a:lnTo>
                    <a:pt x="4715635" y="2734267"/>
                  </a:lnTo>
                  <a:lnTo>
                    <a:pt x="4734588" y="2692457"/>
                  </a:lnTo>
                  <a:lnTo>
                    <a:pt x="4749708" y="2648766"/>
                  </a:lnTo>
                  <a:lnTo>
                    <a:pt x="4760776" y="2603411"/>
                  </a:lnTo>
                  <a:lnTo>
                    <a:pt x="4767576" y="2556610"/>
                  </a:lnTo>
                  <a:lnTo>
                    <a:pt x="4769891" y="2508580"/>
                  </a:lnTo>
                  <a:lnTo>
                    <a:pt x="4769891" y="501726"/>
                  </a:lnTo>
                  <a:lnTo>
                    <a:pt x="4767576" y="453697"/>
                  </a:lnTo>
                  <a:lnTo>
                    <a:pt x="4760776" y="406897"/>
                  </a:lnTo>
                  <a:lnTo>
                    <a:pt x="4749708" y="361544"/>
                  </a:lnTo>
                  <a:lnTo>
                    <a:pt x="4734588" y="317854"/>
                  </a:lnTo>
                  <a:lnTo>
                    <a:pt x="4715635" y="276044"/>
                  </a:lnTo>
                  <a:lnTo>
                    <a:pt x="4693065" y="236331"/>
                  </a:lnTo>
                  <a:lnTo>
                    <a:pt x="4667095" y="198933"/>
                  </a:lnTo>
                  <a:lnTo>
                    <a:pt x="4637943" y="164066"/>
                  </a:lnTo>
                  <a:lnTo>
                    <a:pt x="4605824" y="131948"/>
                  </a:lnTo>
                  <a:lnTo>
                    <a:pt x="4570958" y="102795"/>
                  </a:lnTo>
                  <a:lnTo>
                    <a:pt x="4533559" y="76825"/>
                  </a:lnTo>
                  <a:lnTo>
                    <a:pt x="4493847" y="54255"/>
                  </a:lnTo>
                  <a:lnTo>
                    <a:pt x="4452037" y="35302"/>
                  </a:lnTo>
                  <a:lnTo>
                    <a:pt x="4408346" y="20183"/>
                  </a:lnTo>
                  <a:lnTo>
                    <a:pt x="4362993" y="9115"/>
                  </a:lnTo>
                  <a:lnTo>
                    <a:pt x="4316193" y="2314"/>
                  </a:lnTo>
                  <a:lnTo>
                    <a:pt x="426816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9101" y="1387513"/>
              <a:ext cx="4770120" cy="3010535"/>
            </a:xfrm>
            <a:custGeom>
              <a:avLst/>
              <a:gdLst/>
              <a:ahLst/>
              <a:cxnLst/>
              <a:rect l="l" t="t" r="r" b="b"/>
              <a:pathLst>
                <a:path w="4770120" h="3010535">
                  <a:moveTo>
                    <a:pt x="0" y="501726"/>
                  </a:moveTo>
                  <a:lnTo>
                    <a:pt x="2314" y="453697"/>
                  </a:lnTo>
                  <a:lnTo>
                    <a:pt x="9114" y="406897"/>
                  </a:lnTo>
                  <a:lnTo>
                    <a:pt x="20183" y="361544"/>
                  </a:lnTo>
                  <a:lnTo>
                    <a:pt x="35302" y="317854"/>
                  </a:lnTo>
                  <a:lnTo>
                    <a:pt x="54255" y="276044"/>
                  </a:lnTo>
                  <a:lnTo>
                    <a:pt x="76824" y="236331"/>
                  </a:lnTo>
                  <a:lnTo>
                    <a:pt x="102794" y="198933"/>
                  </a:lnTo>
                  <a:lnTo>
                    <a:pt x="131947" y="164066"/>
                  </a:lnTo>
                  <a:lnTo>
                    <a:pt x="164065" y="131948"/>
                  </a:lnTo>
                  <a:lnTo>
                    <a:pt x="198932" y="102795"/>
                  </a:lnTo>
                  <a:lnTo>
                    <a:pt x="236330" y="76825"/>
                  </a:lnTo>
                  <a:lnTo>
                    <a:pt x="276043" y="54255"/>
                  </a:lnTo>
                  <a:lnTo>
                    <a:pt x="317853" y="35302"/>
                  </a:lnTo>
                  <a:lnTo>
                    <a:pt x="361544" y="20183"/>
                  </a:lnTo>
                  <a:lnTo>
                    <a:pt x="406898" y="9115"/>
                  </a:lnTo>
                  <a:lnTo>
                    <a:pt x="453699" y="2314"/>
                  </a:lnTo>
                  <a:lnTo>
                    <a:pt x="501728" y="0"/>
                  </a:lnTo>
                  <a:lnTo>
                    <a:pt x="4268165" y="0"/>
                  </a:lnTo>
                  <a:lnTo>
                    <a:pt x="4316193" y="2314"/>
                  </a:lnTo>
                  <a:lnTo>
                    <a:pt x="4362993" y="9115"/>
                  </a:lnTo>
                  <a:lnTo>
                    <a:pt x="4408346" y="20183"/>
                  </a:lnTo>
                  <a:lnTo>
                    <a:pt x="4452037" y="35302"/>
                  </a:lnTo>
                  <a:lnTo>
                    <a:pt x="4493847" y="54255"/>
                  </a:lnTo>
                  <a:lnTo>
                    <a:pt x="4533559" y="76825"/>
                  </a:lnTo>
                  <a:lnTo>
                    <a:pt x="4570958" y="102795"/>
                  </a:lnTo>
                  <a:lnTo>
                    <a:pt x="4605824" y="131948"/>
                  </a:lnTo>
                  <a:lnTo>
                    <a:pt x="4637943" y="164066"/>
                  </a:lnTo>
                  <a:lnTo>
                    <a:pt x="4667095" y="198933"/>
                  </a:lnTo>
                  <a:lnTo>
                    <a:pt x="4693065" y="236331"/>
                  </a:lnTo>
                  <a:lnTo>
                    <a:pt x="4715635" y="276044"/>
                  </a:lnTo>
                  <a:lnTo>
                    <a:pt x="4734588" y="317854"/>
                  </a:lnTo>
                  <a:lnTo>
                    <a:pt x="4749708" y="361544"/>
                  </a:lnTo>
                  <a:lnTo>
                    <a:pt x="4760776" y="406897"/>
                  </a:lnTo>
                  <a:lnTo>
                    <a:pt x="4767576" y="453697"/>
                  </a:lnTo>
                  <a:lnTo>
                    <a:pt x="4769891" y="501726"/>
                  </a:lnTo>
                  <a:lnTo>
                    <a:pt x="4769891" y="2508580"/>
                  </a:lnTo>
                  <a:lnTo>
                    <a:pt x="4767576" y="2556610"/>
                  </a:lnTo>
                  <a:lnTo>
                    <a:pt x="4760776" y="2603411"/>
                  </a:lnTo>
                  <a:lnTo>
                    <a:pt x="4749708" y="2648766"/>
                  </a:lnTo>
                  <a:lnTo>
                    <a:pt x="4734588" y="2692457"/>
                  </a:lnTo>
                  <a:lnTo>
                    <a:pt x="4715635" y="2734267"/>
                  </a:lnTo>
                  <a:lnTo>
                    <a:pt x="4693065" y="2773980"/>
                  </a:lnTo>
                  <a:lnTo>
                    <a:pt x="4667095" y="2811378"/>
                  </a:lnTo>
                  <a:lnTo>
                    <a:pt x="4637943" y="2846244"/>
                  </a:lnTo>
                  <a:lnTo>
                    <a:pt x="4605824" y="2878362"/>
                  </a:lnTo>
                  <a:lnTo>
                    <a:pt x="4570958" y="2907514"/>
                  </a:lnTo>
                  <a:lnTo>
                    <a:pt x="4533559" y="2933483"/>
                  </a:lnTo>
                  <a:lnTo>
                    <a:pt x="4493847" y="2956052"/>
                  </a:lnTo>
                  <a:lnTo>
                    <a:pt x="4452037" y="2975005"/>
                  </a:lnTo>
                  <a:lnTo>
                    <a:pt x="4408346" y="2990124"/>
                  </a:lnTo>
                  <a:lnTo>
                    <a:pt x="4362993" y="3001191"/>
                  </a:lnTo>
                  <a:lnTo>
                    <a:pt x="4316193" y="3007991"/>
                  </a:lnTo>
                  <a:lnTo>
                    <a:pt x="4268165" y="3010306"/>
                  </a:lnTo>
                  <a:lnTo>
                    <a:pt x="501728" y="3010306"/>
                  </a:lnTo>
                  <a:lnTo>
                    <a:pt x="453699" y="3007991"/>
                  </a:lnTo>
                  <a:lnTo>
                    <a:pt x="406898" y="3001191"/>
                  </a:lnTo>
                  <a:lnTo>
                    <a:pt x="361544" y="2990124"/>
                  </a:lnTo>
                  <a:lnTo>
                    <a:pt x="317853" y="2975005"/>
                  </a:lnTo>
                  <a:lnTo>
                    <a:pt x="276043" y="2956052"/>
                  </a:lnTo>
                  <a:lnTo>
                    <a:pt x="236330" y="2933483"/>
                  </a:lnTo>
                  <a:lnTo>
                    <a:pt x="198932" y="2907514"/>
                  </a:lnTo>
                  <a:lnTo>
                    <a:pt x="164065" y="2878362"/>
                  </a:lnTo>
                  <a:lnTo>
                    <a:pt x="131947" y="2846244"/>
                  </a:lnTo>
                  <a:lnTo>
                    <a:pt x="102794" y="2811378"/>
                  </a:lnTo>
                  <a:lnTo>
                    <a:pt x="76824" y="2773980"/>
                  </a:lnTo>
                  <a:lnTo>
                    <a:pt x="54255" y="2734267"/>
                  </a:lnTo>
                  <a:lnTo>
                    <a:pt x="35302" y="2692457"/>
                  </a:lnTo>
                  <a:lnTo>
                    <a:pt x="20183" y="2648766"/>
                  </a:lnTo>
                  <a:lnTo>
                    <a:pt x="9114" y="2603411"/>
                  </a:lnTo>
                  <a:lnTo>
                    <a:pt x="2314" y="2556610"/>
                  </a:lnTo>
                  <a:lnTo>
                    <a:pt x="0" y="2508580"/>
                  </a:lnTo>
                  <a:lnTo>
                    <a:pt x="0" y="501726"/>
                  </a:lnTo>
                  <a:close/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317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BlueWalker 3</a:t>
            </a:r>
            <a:r>
              <a:rPr dirty="0"/>
              <a:t>, a </a:t>
            </a:r>
            <a:r>
              <a:rPr dirty="0" spc="-10"/>
              <a:t>693-square-</a:t>
            </a:r>
            <a:r>
              <a:rPr dirty="0"/>
              <a:t>foot test— the</a:t>
            </a:r>
            <a:r>
              <a:rPr dirty="0" spc="5"/>
              <a:t> </a:t>
            </a:r>
            <a:r>
              <a:rPr dirty="0" spc="-10"/>
              <a:t>largest </a:t>
            </a:r>
            <a:r>
              <a:rPr dirty="0"/>
              <a:t>such</a:t>
            </a:r>
            <a:r>
              <a:rPr dirty="0" spc="-25"/>
              <a:t> </a:t>
            </a:r>
            <a:r>
              <a:rPr dirty="0"/>
              <a:t>commercial</a:t>
            </a:r>
            <a:r>
              <a:rPr dirty="0" spc="-25"/>
              <a:t> </a:t>
            </a:r>
            <a:r>
              <a:rPr dirty="0"/>
              <a:t>telecommunications</a:t>
            </a:r>
            <a:r>
              <a:rPr dirty="0" spc="-25"/>
              <a:t> </a:t>
            </a:r>
            <a:r>
              <a:rPr dirty="0"/>
              <a:t>array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low </a:t>
            </a:r>
            <a:r>
              <a:rPr dirty="0"/>
              <a:t>Earth</a:t>
            </a:r>
            <a:r>
              <a:rPr dirty="0" spc="-20"/>
              <a:t> </a:t>
            </a:r>
            <a:r>
              <a:rPr dirty="0"/>
              <a:t>orbit.</a:t>
            </a:r>
            <a:r>
              <a:rPr dirty="0" spc="-20"/>
              <a:t> </a:t>
            </a:r>
            <a:r>
              <a:rPr dirty="0"/>
              <a:t>Which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designed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 spc="-10"/>
              <a:t>communicate </a:t>
            </a:r>
            <a:r>
              <a:rPr dirty="0"/>
              <a:t>directly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cellular</a:t>
            </a:r>
            <a:r>
              <a:rPr dirty="0" spc="-15"/>
              <a:t> </a:t>
            </a:r>
            <a:r>
              <a:rPr dirty="0"/>
              <a:t>devices</a:t>
            </a:r>
            <a:r>
              <a:rPr dirty="0" spc="-15"/>
              <a:t> </a:t>
            </a:r>
            <a:r>
              <a:rPr dirty="0"/>
              <a:t>via</a:t>
            </a:r>
            <a:r>
              <a:rPr dirty="0" spc="-15"/>
              <a:t> </a:t>
            </a:r>
            <a:r>
              <a:rPr dirty="0"/>
              <a:t>3GPP</a:t>
            </a:r>
            <a:r>
              <a:rPr dirty="0" spc="-20"/>
              <a:t> </a:t>
            </a:r>
            <a:r>
              <a:rPr dirty="0" spc="-10"/>
              <a:t>standard </a:t>
            </a:r>
            <a:r>
              <a:rPr dirty="0"/>
              <a:t>frequencies.</a:t>
            </a:r>
            <a:r>
              <a:rPr dirty="0" spc="-25"/>
              <a:t> </a:t>
            </a:r>
            <a:r>
              <a:rPr dirty="0"/>
              <a:t>Engineers</a:t>
            </a:r>
            <a:r>
              <a:rPr dirty="0" spc="-25"/>
              <a:t> </a:t>
            </a:r>
            <a:r>
              <a:rPr dirty="0"/>
              <a:t>at</a:t>
            </a:r>
            <a:r>
              <a:rPr dirty="0" spc="-15"/>
              <a:t> </a:t>
            </a:r>
            <a:r>
              <a:rPr dirty="0" b="1">
                <a:latin typeface="Arial"/>
                <a:cs typeface="Arial"/>
              </a:rPr>
              <a:t>AST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SpaceMobile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20"/>
              <a:t>made </a:t>
            </a:r>
            <a:r>
              <a:rPr dirty="0"/>
              <a:t>history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 b="1">
                <a:latin typeface="Arial"/>
                <a:cs typeface="Arial"/>
              </a:rPr>
              <a:t>September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8,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2023</a:t>
            </a:r>
            <a:r>
              <a:rPr dirty="0"/>
              <a:t>,</a:t>
            </a:r>
            <a:r>
              <a:rPr dirty="0" spc="-10"/>
              <a:t> </a:t>
            </a:r>
            <a:r>
              <a:rPr dirty="0"/>
              <a:t>by</a:t>
            </a:r>
            <a:r>
              <a:rPr dirty="0" spc="-15"/>
              <a:t> </a:t>
            </a:r>
            <a:r>
              <a:rPr dirty="0" spc="-10"/>
              <a:t>demonstrating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0"/>
              <a:t>first-</a:t>
            </a:r>
            <a:r>
              <a:rPr dirty="0"/>
              <a:t>ever</a:t>
            </a:r>
            <a:r>
              <a:rPr dirty="0" spc="-5"/>
              <a:t> </a:t>
            </a:r>
            <a:r>
              <a:rPr dirty="0"/>
              <a:t>5G</a:t>
            </a:r>
            <a:r>
              <a:rPr dirty="0" spc="-5"/>
              <a:t> </a:t>
            </a:r>
            <a:r>
              <a:rPr dirty="0"/>
              <a:t>cellular</a:t>
            </a:r>
            <a:r>
              <a:rPr dirty="0" spc="-5"/>
              <a:t> </a:t>
            </a:r>
            <a:r>
              <a:rPr dirty="0"/>
              <a:t>connectivity</a:t>
            </a:r>
            <a:r>
              <a:rPr dirty="0" spc="-5"/>
              <a:t> </a:t>
            </a:r>
            <a:r>
              <a:rPr dirty="0"/>
              <a:t>from</a:t>
            </a:r>
            <a:r>
              <a:rPr dirty="0" spc="-5"/>
              <a:t> </a:t>
            </a:r>
            <a:r>
              <a:rPr dirty="0" spc="-10"/>
              <a:t>space </a:t>
            </a:r>
            <a:r>
              <a:rPr dirty="0"/>
              <a:t>directly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everyday</a:t>
            </a:r>
            <a:r>
              <a:rPr dirty="0" spc="-15"/>
              <a:t> </a:t>
            </a:r>
            <a:r>
              <a:rPr dirty="0"/>
              <a:t>smartphones.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company </a:t>
            </a:r>
            <a:r>
              <a:rPr dirty="0"/>
              <a:t>proved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feat</a:t>
            </a:r>
            <a:r>
              <a:rPr dirty="0" spc="-10"/>
              <a:t> </a:t>
            </a:r>
            <a:r>
              <a:rPr dirty="0"/>
              <a:t>using</a:t>
            </a:r>
            <a:r>
              <a:rPr dirty="0" spc="-15"/>
              <a:t> </a:t>
            </a:r>
            <a:r>
              <a:rPr dirty="0" b="1">
                <a:latin typeface="Arial"/>
                <a:cs typeface="Arial"/>
              </a:rPr>
              <a:t>AT&amp;T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/>
              <a:t>cellular</a:t>
            </a:r>
            <a:r>
              <a:rPr dirty="0" spc="-15"/>
              <a:t> </a:t>
            </a:r>
            <a:r>
              <a:rPr dirty="0"/>
              <a:t>spectrum</a:t>
            </a:r>
            <a:r>
              <a:rPr dirty="0" spc="-10"/>
              <a:t> </a:t>
            </a:r>
            <a:r>
              <a:rPr dirty="0" spc="-25"/>
              <a:t>in </a:t>
            </a:r>
            <a:r>
              <a:rPr dirty="0"/>
              <a:t>Maui,</a:t>
            </a:r>
            <a:r>
              <a:rPr dirty="0" spc="-15"/>
              <a:t> </a:t>
            </a:r>
            <a:r>
              <a:rPr dirty="0"/>
              <a:t>Hawaii,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make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voice</a:t>
            </a:r>
            <a:r>
              <a:rPr dirty="0" spc="-10"/>
              <a:t> </a:t>
            </a:r>
            <a:r>
              <a:rPr dirty="0"/>
              <a:t>call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b="1">
                <a:latin typeface="Arial"/>
                <a:cs typeface="Arial"/>
              </a:rPr>
              <a:t>Vodafone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spc="-25"/>
              <a:t>in </a:t>
            </a:r>
            <a:r>
              <a:rPr dirty="0"/>
              <a:t>Madrid,</a:t>
            </a:r>
            <a:r>
              <a:rPr dirty="0" spc="-20"/>
              <a:t> </a:t>
            </a:r>
            <a:r>
              <a:rPr dirty="0"/>
              <a:t>Spain.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call</a:t>
            </a:r>
            <a:r>
              <a:rPr dirty="0" spc="-15"/>
              <a:t> </a:t>
            </a:r>
            <a:r>
              <a:rPr dirty="0"/>
              <a:t>was</a:t>
            </a:r>
            <a:r>
              <a:rPr dirty="0" spc="-20"/>
              <a:t> </a:t>
            </a:r>
            <a:r>
              <a:rPr dirty="0"/>
              <a:t>facilitated</a:t>
            </a:r>
            <a:r>
              <a:rPr dirty="0" spc="-15"/>
              <a:t> </a:t>
            </a:r>
            <a:r>
              <a:rPr dirty="0"/>
              <a:t>by </a:t>
            </a:r>
            <a:r>
              <a:rPr dirty="0" spc="-10" b="1">
                <a:latin typeface="Arial"/>
                <a:cs typeface="Arial"/>
              </a:rPr>
              <a:t>Nokia’s </a:t>
            </a:r>
            <a:r>
              <a:rPr dirty="0"/>
              <a:t>network</a:t>
            </a:r>
            <a:r>
              <a:rPr dirty="0" spc="-10"/>
              <a:t> core.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>
                <a:solidFill>
                  <a:srgbClr val="001135"/>
                </a:solidFill>
              </a:rPr>
              <a:t>21</a:t>
            </a:fld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8528" y="0"/>
            <a:ext cx="3445471" cy="51435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834" y="2078113"/>
            <a:ext cx="303593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400" spc="-10">
                <a:solidFill>
                  <a:srgbClr val="FFFFFF"/>
                </a:solidFill>
                <a:latin typeface="Arial"/>
                <a:cs typeface="Arial"/>
              </a:rPr>
              <a:t>Conclusio </a:t>
            </a:r>
            <a:r>
              <a:rPr dirty="0" sz="5400" spc="-5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5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>
                <a:solidFill>
                  <a:srgbClr val="001135"/>
                </a:solidFill>
              </a:rPr>
              <a:t>21</a:t>
            </a:fld>
          </a:p>
        </p:txBody>
      </p:sp>
      <p:grpSp>
        <p:nvGrpSpPr>
          <p:cNvPr id="4" name="object 4"/>
          <p:cNvGrpSpPr/>
          <p:nvPr/>
        </p:nvGrpSpPr>
        <p:grpSpPr>
          <a:xfrm>
            <a:off x="5424627" y="1327204"/>
            <a:ext cx="3726179" cy="3822700"/>
            <a:chOff x="5424627" y="1327204"/>
            <a:chExt cx="3726179" cy="38227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4627" y="1327204"/>
              <a:ext cx="3725722" cy="382264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7166" y="1509496"/>
              <a:ext cx="2664853" cy="26323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27166" y="1509496"/>
              <a:ext cx="2665095" cy="2632710"/>
            </a:xfrm>
            <a:custGeom>
              <a:avLst/>
              <a:gdLst/>
              <a:ahLst/>
              <a:cxnLst/>
              <a:rect l="l" t="t" r="r" b="b"/>
              <a:pathLst>
                <a:path w="2665095" h="2632710">
                  <a:moveTo>
                    <a:pt x="0" y="1316177"/>
                  </a:moveTo>
                  <a:lnTo>
                    <a:pt x="885" y="1268236"/>
                  </a:lnTo>
                  <a:lnTo>
                    <a:pt x="3522" y="1220704"/>
                  </a:lnTo>
                  <a:lnTo>
                    <a:pt x="7879" y="1173613"/>
                  </a:lnTo>
                  <a:lnTo>
                    <a:pt x="13925" y="1126993"/>
                  </a:lnTo>
                  <a:lnTo>
                    <a:pt x="21629" y="1080875"/>
                  </a:lnTo>
                  <a:lnTo>
                    <a:pt x="30960" y="1035289"/>
                  </a:lnTo>
                  <a:lnTo>
                    <a:pt x="41886" y="990267"/>
                  </a:lnTo>
                  <a:lnTo>
                    <a:pt x="54377" y="945838"/>
                  </a:lnTo>
                  <a:lnTo>
                    <a:pt x="68401" y="902034"/>
                  </a:lnTo>
                  <a:lnTo>
                    <a:pt x="83928" y="858884"/>
                  </a:lnTo>
                  <a:lnTo>
                    <a:pt x="100926" y="816421"/>
                  </a:lnTo>
                  <a:lnTo>
                    <a:pt x="119365" y="774675"/>
                  </a:lnTo>
                  <a:lnTo>
                    <a:pt x="139212" y="733676"/>
                  </a:lnTo>
                  <a:lnTo>
                    <a:pt x="160438" y="693454"/>
                  </a:lnTo>
                  <a:lnTo>
                    <a:pt x="183011" y="654042"/>
                  </a:lnTo>
                  <a:lnTo>
                    <a:pt x="206900" y="615469"/>
                  </a:lnTo>
                  <a:lnTo>
                    <a:pt x="232074" y="577766"/>
                  </a:lnTo>
                  <a:lnTo>
                    <a:pt x="258501" y="540964"/>
                  </a:lnTo>
                  <a:lnTo>
                    <a:pt x="286152" y="505094"/>
                  </a:lnTo>
                  <a:lnTo>
                    <a:pt x="314994" y="470185"/>
                  </a:lnTo>
                  <a:lnTo>
                    <a:pt x="344996" y="436270"/>
                  </a:lnTo>
                  <a:lnTo>
                    <a:pt x="376129" y="403378"/>
                  </a:lnTo>
                  <a:lnTo>
                    <a:pt x="408359" y="371541"/>
                  </a:lnTo>
                  <a:lnTo>
                    <a:pt x="441657" y="340788"/>
                  </a:lnTo>
                  <a:lnTo>
                    <a:pt x="475991" y="311152"/>
                  </a:lnTo>
                  <a:lnTo>
                    <a:pt x="511331" y="282661"/>
                  </a:lnTo>
                  <a:lnTo>
                    <a:pt x="547644" y="255348"/>
                  </a:lnTo>
                  <a:lnTo>
                    <a:pt x="584901" y="229243"/>
                  </a:lnTo>
                  <a:lnTo>
                    <a:pt x="623069" y="204376"/>
                  </a:lnTo>
                  <a:lnTo>
                    <a:pt x="662119" y="180779"/>
                  </a:lnTo>
                  <a:lnTo>
                    <a:pt x="702018" y="158481"/>
                  </a:lnTo>
                  <a:lnTo>
                    <a:pt x="742736" y="137514"/>
                  </a:lnTo>
                  <a:lnTo>
                    <a:pt x="784242" y="117909"/>
                  </a:lnTo>
                  <a:lnTo>
                    <a:pt x="826504" y="99695"/>
                  </a:lnTo>
                  <a:lnTo>
                    <a:pt x="869491" y="82904"/>
                  </a:lnTo>
                  <a:lnTo>
                    <a:pt x="913173" y="67567"/>
                  </a:lnTo>
                  <a:lnTo>
                    <a:pt x="957519" y="53713"/>
                  </a:lnTo>
                  <a:lnTo>
                    <a:pt x="1002497" y="41375"/>
                  </a:lnTo>
                  <a:lnTo>
                    <a:pt x="1048075" y="30582"/>
                  </a:lnTo>
                  <a:lnTo>
                    <a:pt x="1094224" y="21365"/>
                  </a:lnTo>
                  <a:lnTo>
                    <a:pt x="1140912" y="13755"/>
                  </a:lnTo>
                  <a:lnTo>
                    <a:pt x="1188108" y="7783"/>
                  </a:lnTo>
                  <a:lnTo>
                    <a:pt x="1235781" y="3479"/>
                  </a:lnTo>
                  <a:lnTo>
                    <a:pt x="1283899" y="875"/>
                  </a:lnTo>
                  <a:lnTo>
                    <a:pt x="1332433" y="0"/>
                  </a:lnTo>
                  <a:lnTo>
                    <a:pt x="1380965" y="875"/>
                  </a:lnTo>
                  <a:lnTo>
                    <a:pt x="1429082" y="3479"/>
                  </a:lnTo>
                  <a:lnTo>
                    <a:pt x="1476754" y="7783"/>
                  </a:lnTo>
                  <a:lnTo>
                    <a:pt x="1523949" y="13755"/>
                  </a:lnTo>
                  <a:lnTo>
                    <a:pt x="1570636" y="21365"/>
                  </a:lnTo>
                  <a:lnTo>
                    <a:pt x="1616784" y="30582"/>
                  </a:lnTo>
                  <a:lnTo>
                    <a:pt x="1662362" y="41375"/>
                  </a:lnTo>
                  <a:lnTo>
                    <a:pt x="1707339" y="53713"/>
                  </a:lnTo>
                  <a:lnTo>
                    <a:pt x="1751684" y="67567"/>
                  </a:lnTo>
                  <a:lnTo>
                    <a:pt x="1795365" y="82904"/>
                  </a:lnTo>
                  <a:lnTo>
                    <a:pt x="1838352" y="99695"/>
                  </a:lnTo>
                  <a:lnTo>
                    <a:pt x="1880614" y="117909"/>
                  </a:lnTo>
                  <a:lnTo>
                    <a:pt x="1922119" y="137514"/>
                  </a:lnTo>
                  <a:lnTo>
                    <a:pt x="1962837" y="158481"/>
                  </a:lnTo>
                  <a:lnTo>
                    <a:pt x="2002735" y="180779"/>
                  </a:lnTo>
                  <a:lnTo>
                    <a:pt x="2041784" y="204376"/>
                  </a:lnTo>
                  <a:lnTo>
                    <a:pt x="2079953" y="229243"/>
                  </a:lnTo>
                  <a:lnTo>
                    <a:pt x="2117209" y="255348"/>
                  </a:lnTo>
                  <a:lnTo>
                    <a:pt x="2153522" y="282661"/>
                  </a:lnTo>
                  <a:lnTo>
                    <a:pt x="2188861" y="311152"/>
                  </a:lnTo>
                  <a:lnTo>
                    <a:pt x="2223196" y="340788"/>
                  </a:lnTo>
                  <a:lnTo>
                    <a:pt x="2256493" y="371541"/>
                  </a:lnTo>
                  <a:lnTo>
                    <a:pt x="2288724" y="403378"/>
                  </a:lnTo>
                  <a:lnTo>
                    <a:pt x="2319856" y="436270"/>
                  </a:lnTo>
                  <a:lnTo>
                    <a:pt x="2349858" y="470185"/>
                  </a:lnTo>
                  <a:lnTo>
                    <a:pt x="2378700" y="505094"/>
                  </a:lnTo>
                  <a:lnTo>
                    <a:pt x="2406351" y="540964"/>
                  </a:lnTo>
                  <a:lnTo>
                    <a:pt x="2432778" y="577766"/>
                  </a:lnTo>
                  <a:lnTo>
                    <a:pt x="2457952" y="615469"/>
                  </a:lnTo>
                  <a:lnTo>
                    <a:pt x="2481841" y="654042"/>
                  </a:lnTo>
                  <a:lnTo>
                    <a:pt x="2504414" y="693454"/>
                  </a:lnTo>
                  <a:lnTo>
                    <a:pt x="2525640" y="733676"/>
                  </a:lnTo>
                  <a:lnTo>
                    <a:pt x="2545488" y="774675"/>
                  </a:lnTo>
                  <a:lnTo>
                    <a:pt x="2563926" y="816421"/>
                  </a:lnTo>
                  <a:lnTo>
                    <a:pt x="2580924" y="858884"/>
                  </a:lnTo>
                  <a:lnTo>
                    <a:pt x="2596451" y="902034"/>
                  </a:lnTo>
                  <a:lnTo>
                    <a:pt x="2610476" y="945838"/>
                  </a:lnTo>
                  <a:lnTo>
                    <a:pt x="2622967" y="990267"/>
                  </a:lnTo>
                  <a:lnTo>
                    <a:pt x="2633893" y="1035289"/>
                  </a:lnTo>
                  <a:lnTo>
                    <a:pt x="2643223" y="1080875"/>
                  </a:lnTo>
                  <a:lnTo>
                    <a:pt x="2650927" y="1126993"/>
                  </a:lnTo>
                  <a:lnTo>
                    <a:pt x="2656973" y="1173613"/>
                  </a:lnTo>
                  <a:lnTo>
                    <a:pt x="2661330" y="1220704"/>
                  </a:lnTo>
                  <a:lnTo>
                    <a:pt x="2663967" y="1268236"/>
                  </a:lnTo>
                  <a:lnTo>
                    <a:pt x="2664853" y="1316177"/>
                  </a:lnTo>
                  <a:lnTo>
                    <a:pt x="2663967" y="1364118"/>
                  </a:lnTo>
                  <a:lnTo>
                    <a:pt x="2661330" y="1411651"/>
                  </a:lnTo>
                  <a:lnTo>
                    <a:pt x="2656973" y="1458742"/>
                  </a:lnTo>
                  <a:lnTo>
                    <a:pt x="2650927" y="1505363"/>
                  </a:lnTo>
                  <a:lnTo>
                    <a:pt x="2643223" y="1551482"/>
                  </a:lnTo>
                  <a:lnTo>
                    <a:pt x="2633893" y="1597068"/>
                  </a:lnTo>
                  <a:lnTo>
                    <a:pt x="2622967" y="1642092"/>
                  </a:lnTo>
                  <a:lnTo>
                    <a:pt x="2610476" y="1686521"/>
                  </a:lnTo>
                  <a:lnTo>
                    <a:pt x="2596451" y="1730326"/>
                  </a:lnTo>
                  <a:lnTo>
                    <a:pt x="2580924" y="1773476"/>
                  </a:lnTo>
                  <a:lnTo>
                    <a:pt x="2563926" y="1815939"/>
                  </a:lnTo>
                  <a:lnTo>
                    <a:pt x="2545488" y="1857686"/>
                  </a:lnTo>
                  <a:lnTo>
                    <a:pt x="2525640" y="1898686"/>
                  </a:lnTo>
                  <a:lnTo>
                    <a:pt x="2504414" y="1938908"/>
                  </a:lnTo>
                  <a:lnTo>
                    <a:pt x="2481841" y="1978320"/>
                  </a:lnTo>
                  <a:lnTo>
                    <a:pt x="2457952" y="2016894"/>
                  </a:lnTo>
                  <a:lnTo>
                    <a:pt x="2432778" y="2054597"/>
                  </a:lnTo>
                  <a:lnTo>
                    <a:pt x="2406351" y="2091399"/>
                  </a:lnTo>
                  <a:lnTo>
                    <a:pt x="2378700" y="2127270"/>
                  </a:lnTo>
                  <a:lnTo>
                    <a:pt x="2349858" y="2162179"/>
                  </a:lnTo>
                  <a:lnTo>
                    <a:pt x="2319856" y="2196094"/>
                  </a:lnTo>
                  <a:lnTo>
                    <a:pt x="2288724" y="2228986"/>
                  </a:lnTo>
                  <a:lnTo>
                    <a:pt x="2256493" y="2260824"/>
                  </a:lnTo>
                  <a:lnTo>
                    <a:pt x="2223196" y="2291576"/>
                  </a:lnTo>
                  <a:lnTo>
                    <a:pt x="2188861" y="2321213"/>
                  </a:lnTo>
                  <a:lnTo>
                    <a:pt x="2153522" y="2349704"/>
                  </a:lnTo>
                  <a:lnTo>
                    <a:pt x="2117209" y="2377017"/>
                  </a:lnTo>
                  <a:lnTo>
                    <a:pt x="2079953" y="2403122"/>
                  </a:lnTo>
                  <a:lnTo>
                    <a:pt x="2041784" y="2427989"/>
                  </a:lnTo>
                  <a:lnTo>
                    <a:pt x="2002735" y="2451587"/>
                  </a:lnTo>
                  <a:lnTo>
                    <a:pt x="1962837" y="2473884"/>
                  </a:lnTo>
                  <a:lnTo>
                    <a:pt x="1922119" y="2494852"/>
                  </a:lnTo>
                  <a:lnTo>
                    <a:pt x="1880614" y="2514457"/>
                  </a:lnTo>
                  <a:lnTo>
                    <a:pt x="1838352" y="2532671"/>
                  </a:lnTo>
                  <a:lnTo>
                    <a:pt x="1795365" y="2549462"/>
                  </a:lnTo>
                  <a:lnTo>
                    <a:pt x="1751684" y="2564799"/>
                  </a:lnTo>
                  <a:lnTo>
                    <a:pt x="1707339" y="2578653"/>
                  </a:lnTo>
                  <a:lnTo>
                    <a:pt x="1662362" y="2590991"/>
                  </a:lnTo>
                  <a:lnTo>
                    <a:pt x="1616784" y="2601784"/>
                  </a:lnTo>
                  <a:lnTo>
                    <a:pt x="1570636" y="2611001"/>
                  </a:lnTo>
                  <a:lnTo>
                    <a:pt x="1523949" y="2618611"/>
                  </a:lnTo>
                  <a:lnTo>
                    <a:pt x="1476754" y="2624583"/>
                  </a:lnTo>
                  <a:lnTo>
                    <a:pt x="1429082" y="2628887"/>
                  </a:lnTo>
                  <a:lnTo>
                    <a:pt x="1380965" y="2631492"/>
                  </a:lnTo>
                  <a:lnTo>
                    <a:pt x="1332433" y="2632367"/>
                  </a:lnTo>
                  <a:lnTo>
                    <a:pt x="1283899" y="2631492"/>
                  </a:lnTo>
                  <a:lnTo>
                    <a:pt x="1235781" y="2628887"/>
                  </a:lnTo>
                  <a:lnTo>
                    <a:pt x="1188108" y="2624583"/>
                  </a:lnTo>
                  <a:lnTo>
                    <a:pt x="1140912" y="2618611"/>
                  </a:lnTo>
                  <a:lnTo>
                    <a:pt x="1094224" y="2611001"/>
                  </a:lnTo>
                  <a:lnTo>
                    <a:pt x="1048075" y="2601784"/>
                  </a:lnTo>
                  <a:lnTo>
                    <a:pt x="1002497" y="2590991"/>
                  </a:lnTo>
                  <a:lnTo>
                    <a:pt x="957519" y="2578653"/>
                  </a:lnTo>
                  <a:lnTo>
                    <a:pt x="913173" y="2564799"/>
                  </a:lnTo>
                  <a:lnTo>
                    <a:pt x="869491" y="2549462"/>
                  </a:lnTo>
                  <a:lnTo>
                    <a:pt x="826504" y="2532671"/>
                  </a:lnTo>
                  <a:lnTo>
                    <a:pt x="784242" y="2514457"/>
                  </a:lnTo>
                  <a:lnTo>
                    <a:pt x="742736" y="2494852"/>
                  </a:lnTo>
                  <a:lnTo>
                    <a:pt x="702018" y="2473884"/>
                  </a:lnTo>
                  <a:lnTo>
                    <a:pt x="662119" y="2451587"/>
                  </a:lnTo>
                  <a:lnTo>
                    <a:pt x="623069" y="2427989"/>
                  </a:lnTo>
                  <a:lnTo>
                    <a:pt x="584901" y="2403122"/>
                  </a:lnTo>
                  <a:lnTo>
                    <a:pt x="547644" y="2377017"/>
                  </a:lnTo>
                  <a:lnTo>
                    <a:pt x="511331" y="2349704"/>
                  </a:lnTo>
                  <a:lnTo>
                    <a:pt x="475991" y="2321213"/>
                  </a:lnTo>
                  <a:lnTo>
                    <a:pt x="441657" y="2291576"/>
                  </a:lnTo>
                  <a:lnTo>
                    <a:pt x="408359" y="2260824"/>
                  </a:lnTo>
                  <a:lnTo>
                    <a:pt x="376129" y="2228986"/>
                  </a:lnTo>
                  <a:lnTo>
                    <a:pt x="344996" y="2196094"/>
                  </a:lnTo>
                  <a:lnTo>
                    <a:pt x="314994" y="2162179"/>
                  </a:lnTo>
                  <a:lnTo>
                    <a:pt x="286152" y="2127270"/>
                  </a:lnTo>
                  <a:lnTo>
                    <a:pt x="258501" y="2091399"/>
                  </a:lnTo>
                  <a:lnTo>
                    <a:pt x="232074" y="2054597"/>
                  </a:lnTo>
                  <a:lnTo>
                    <a:pt x="206900" y="2016894"/>
                  </a:lnTo>
                  <a:lnTo>
                    <a:pt x="183011" y="1978320"/>
                  </a:lnTo>
                  <a:lnTo>
                    <a:pt x="160438" y="1938908"/>
                  </a:lnTo>
                  <a:lnTo>
                    <a:pt x="139212" y="1898686"/>
                  </a:lnTo>
                  <a:lnTo>
                    <a:pt x="119365" y="1857686"/>
                  </a:lnTo>
                  <a:lnTo>
                    <a:pt x="100926" y="1815939"/>
                  </a:lnTo>
                  <a:lnTo>
                    <a:pt x="83928" y="1773476"/>
                  </a:lnTo>
                  <a:lnTo>
                    <a:pt x="68401" y="1730326"/>
                  </a:lnTo>
                  <a:lnTo>
                    <a:pt x="54377" y="1686521"/>
                  </a:lnTo>
                  <a:lnTo>
                    <a:pt x="41886" y="1642092"/>
                  </a:lnTo>
                  <a:lnTo>
                    <a:pt x="30960" y="1597068"/>
                  </a:lnTo>
                  <a:lnTo>
                    <a:pt x="21629" y="1551482"/>
                  </a:lnTo>
                  <a:lnTo>
                    <a:pt x="13925" y="1505363"/>
                  </a:lnTo>
                  <a:lnTo>
                    <a:pt x="7879" y="1458742"/>
                  </a:lnTo>
                  <a:lnTo>
                    <a:pt x="3522" y="1411651"/>
                  </a:lnTo>
                  <a:lnTo>
                    <a:pt x="885" y="1364118"/>
                  </a:lnTo>
                  <a:lnTo>
                    <a:pt x="0" y="1316177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2391" y="4533531"/>
              <a:ext cx="1719545" cy="6099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18589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18589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39995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1092708" y="0"/>
                  </a:moveTo>
                  <a:lnTo>
                    <a:pt x="1044344" y="1037"/>
                  </a:lnTo>
                  <a:lnTo>
                    <a:pt x="996492" y="4119"/>
                  </a:lnTo>
                  <a:lnTo>
                    <a:pt x="949198" y="9202"/>
                  </a:lnTo>
                  <a:lnTo>
                    <a:pt x="902506" y="16241"/>
                  </a:lnTo>
                  <a:lnTo>
                    <a:pt x="856462" y="25192"/>
                  </a:lnTo>
                  <a:lnTo>
                    <a:pt x="811114" y="36010"/>
                  </a:lnTo>
                  <a:lnTo>
                    <a:pt x="766506" y="48653"/>
                  </a:lnTo>
                  <a:lnTo>
                    <a:pt x="722684" y="63074"/>
                  </a:lnTo>
                  <a:lnTo>
                    <a:pt x="679694" y="79230"/>
                  </a:lnTo>
                  <a:lnTo>
                    <a:pt x="637582" y="97076"/>
                  </a:lnTo>
                  <a:lnTo>
                    <a:pt x="596395" y="116568"/>
                  </a:lnTo>
                  <a:lnTo>
                    <a:pt x="556177" y="137662"/>
                  </a:lnTo>
                  <a:lnTo>
                    <a:pt x="516974" y="160314"/>
                  </a:lnTo>
                  <a:lnTo>
                    <a:pt x="478833" y="184479"/>
                  </a:lnTo>
                  <a:lnTo>
                    <a:pt x="441799" y="210112"/>
                  </a:lnTo>
                  <a:lnTo>
                    <a:pt x="405918" y="237170"/>
                  </a:lnTo>
                  <a:lnTo>
                    <a:pt x="371237" y="265609"/>
                  </a:lnTo>
                  <a:lnTo>
                    <a:pt x="337800" y="295383"/>
                  </a:lnTo>
                  <a:lnTo>
                    <a:pt x="305654" y="326449"/>
                  </a:lnTo>
                  <a:lnTo>
                    <a:pt x="274844" y="358762"/>
                  </a:lnTo>
                  <a:lnTo>
                    <a:pt x="245417" y="392278"/>
                  </a:lnTo>
                  <a:lnTo>
                    <a:pt x="217418" y="426953"/>
                  </a:lnTo>
                  <a:lnTo>
                    <a:pt x="190893" y="462742"/>
                  </a:lnTo>
                  <a:lnTo>
                    <a:pt x="165888" y="499601"/>
                  </a:lnTo>
                  <a:lnTo>
                    <a:pt x="142448" y="537486"/>
                  </a:lnTo>
                  <a:lnTo>
                    <a:pt x="120621" y="576352"/>
                  </a:lnTo>
                  <a:lnTo>
                    <a:pt x="100451" y="616156"/>
                  </a:lnTo>
                  <a:lnTo>
                    <a:pt x="81984" y="656852"/>
                  </a:lnTo>
                  <a:lnTo>
                    <a:pt x="65266" y="698396"/>
                  </a:lnTo>
                  <a:lnTo>
                    <a:pt x="50344" y="740745"/>
                  </a:lnTo>
                  <a:lnTo>
                    <a:pt x="37262" y="783853"/>
                  </a:lnTo>
                  <a:lnTo>
                    <a:pt x="26068" y="827677"/>
                  </a:lnTo>
                  <a:lnTo>
                    <a:pt x="16805" y="872173"/>
                  </a:lnTo>
                  <a:lnTo>
                    <a:pt x="9522" y="917295"/>
                  </a:lnTo>
                  <a:lnTo>
                    <a:pt x="4262" y="962999"/>
                  </a:lnTo>
                  <a:lnTo>
                    <a:pt x="1073" y="1009242"/>
                  </a:lnTo>
                  <a:lnTo>
                    <a:pt x="0" y="1055979"/>
                  </a:lnTo>
                  <a:lnTo>
                    <a:pt x="1073" y="1102717"/>
                  </a:lnTo>
                  <a:lnTo>
                    <a:pt x="4262" y="1148961"/>
                  </a:lnTo>
                  <a:lnTo>
                    <a:pt x="9522" y="1194666"/>
                  </a:lnTo>
                  <a:lnTo>
                    <a:pt x="16805" y="1239789"/>
                  </a:lnTo>
                  <a:lnTo>
                    <a:pt x="26068" y="1284285"/>
                  </a:lnTo>
                  <a:lnTo>
                    <a:pt x="37262" y="1328110"/>
                  </a:lnTo>
                  <a:lnTo>
                    <a:pt x="50344" y="1371219"/>
                  </a:lnTo>
                  <a:lnTo>
                    <a:pt x="65266" y="1413569"/>
                  </a:lnTo>
                  <a:lnTo>
                    <a:pt x="81984" y="1455114"/>
                  </a:lnTo>
                  <a:lnTo>
                    <a:pt x="100451" y="1495810"/>
                  </a:lnTo>
                  <a:lnTo>
                    <a:pt x="120621" y="1535614"/>
                  </a:lnTo>
                  <a:lnTo>
                    <a:pt x="142448" y="1574481"/>
                  </a:lnTo>
                  <a:lnTo>
                    <a:pt x="165888" y="1612366"/>
                  </a:lnTo>
                  <a:lnTo>
                    <a:pt x="190893" y="1649226"/>
                  </a:lnTo>
                  <a:lnTo>
                    <a:pt x="217418" y="1685015"/>
                  </a:lnTo>
                  <a:lnTo>
                    <a:pt x="245417" y="1719690"/>
                  </a:lnTo>
                  <a:lnTo>
                    <a:pt x="274844" y="1753207"/>
                  </a:lnTo>
                  <a:lnTo>
                    <a:pt x="305654" y="1785520"/>
                  </a:lnTo>
                  <a:lnTo>
                    <a:pt x="337800" y="1816586"/>
                  </a:lnTo>
                  <a:lnTo>
                    <a:pt x="371237" y="1846361"/>
                  </a:lnTo>
                  <a:lnTo>
                    <a:pt x="405918" y="1874799"/>
                  </a:lnTo>
                  <a:lnTo>
                    <a:pt x="441799" y="1901858"/>
                  </a:lnTo>
                  <a:lnTo>
                    <a:pt x="478833" y="1927492"/>
                  </a:lnTo>
                  <a:lnTo>
                    <a:pt x="516974" y="1951656"/>
                  </a:lnTo>
                  <a:lnTo>
                    <a:pt x="556177" y="1974308"/>
                  </a:lnTo>
                  <a:lnTo>
                    <a:pt x="596395" y="1995402"/>
                  </a:lnTo>
                  <a:lnTo>
                    <a:pt x="637582" y="2014895"/>
                  </a:lnTo>
                  <a:lnTo>
                    <a:pt x="679694" y="2032741"/>
                  </a:lnTo>
                  <a:lnTo>
                    <a:pt x="722684" y="2048897"/>
                  </a:lnTo>
                  <a:lnTo>
                    <a:pt x="766506" y="2063318"/>
                  </a:lnTo>
                  <a:lnTo>
                    <a:pt x="811114" y="2075960"/>
                  </a:lnTo>
                  <a:lnTo>
                    <a:pt x="856462" y="2086779"/>
                  </a:lnTo>
                  <a:lnTo>
                    <a:pt x="902506" y="2095730"/>
                  </a:lnTo>
                  <a:lnTo>
                    <a:pt x="949198" y="2102769"/>
                  </a:lnTo>
                  <a:lnTo>
                    <a:pt x="996492" y="2107852"/>
                  </a:lnTo>
                  <a:lnTo>
                    <a:pt x="1044344" y="2110934"/>
                  </a:lnTo>
                  <a:lnTo>
                    <a:pt x="1092708" y="2111971"/>
                  </a:lnTo>
                  <a:lnTo>
                    <a:pt x="1141070" y="2110934"/>
                  </a:lnTo>
                  <a:lnTo>
                    <a:pt x="1188922" y="2107852"/>
                  </a:lnTo>
                  <a:lnTo>
                    <a:pt x="1236217" y="2102769"/>
                  </a:lnTo>
                  <a:lnTo>
                    <a:pt x="1282909" y="2095730"/>
                  </a:lnTo>
                  <a:lnTo>
                    <a:pt x="1328952" y="2086779"/>
                  </a:lnTo>
                  <a:lnTo>
                    <a:pt x="1374300" y="2075960"/>
                  </a:lnTo>
                  <a:lnTo>
                    <a:pt x="1418908" y="2063318"/>
                  </a:lnTo>
                  <a:lnTo>
                    <a:pt x="1462730" y="2048897"/>
                  </a:lnTo>
                  <a:lnTo>
                    <a:pt x="1505720" y="2032741"/>
                  </a:lnTo>
                  <a:lnTo>
                    <a:pt x="1547831" y="2014895"/>
                  </a:lnTo>
                  <a:lnTo>
                    <a:pt x="1589019" y="1995402"/>
                  </a:lnTo>
                  <a:lnTo>
                    <a:pt x="1629237" y="1974308"/>
                  </a:lnTo>
                  <a:lnTo>
                    <a:pt x="1668440" y="1951656"/>
                  </a:lnTo>
                  <a:lnTo>
                    <a:pt x="1706581" y="1927492"/>
                  </a:lnTo>
                  <a:lnTo>
                    <a:pt x="1743615" y="1901858"/>
                  </a:lnTo>
                  <a:lnTo>
                    <a:pt x="1779495" y="1874799"/>
                  </a:lnTo>
                  <a:lnTo>
                    <a:pt x="1814177" y="1846361"/>
                  </a:lnTo>
                  <a:lnTo>
                    <a:pt x="1847614" y="1816586"/>
                  </a:lnTo>
                  <a:lnTo>
                    <a:pt x="1879760" y="1785520"/>
                  </a:lnTo>
                  <a:lnTo>
                    <a:pt x="1910570" y="1753207"/>
                  </a:lnTo>
                  <a:lnTo>
                    <a:pt x="1939997" y="1719690"/>
                  </a:lnTo>
                  <a:lnTo>
                    <a:pt x="1967997" y="1685015"/>
                  </a:lnTo>
                  <a:lnTo>
                    <a:pt x="1994522" y="1649226"/>
                  </a:lnTo>
                  <a:lnTo>
                    <a:pt x="2019527" y="1612366"/>
                  </a:lnTo>
                  <a:lnTo>
                    <a:pt x="2042966" y="1574481"/>
                  </a:lnTo>
                  <a:lnTo>
                    <a:pt x="2064794" y="1535614"/>
                  </a:lnTo>
                  <a:lnTo>
                    <a:pt x="2084964" y="1495810"/>
                  </a:lnTo>
                  <a:lnTo>
                    <a:pt x="2103431" y="1455114"/>
                  </a:lnTo>
                  <a:lnTo>
                    <a:pt x="2120148" y="1413569"/>
                  </a:lnTo>
                  <a:lnTo>
                    <a:pt x="2135071" y="1371219"/>
                  </a:lnTo>
                  <a:lnTo>
                    <a:pt x="2148152" y="1328110"/>
                  </a:lnTo>
                  <a:lnTo>
                    <a:pt x="2159347" y="1284285"/>
                  </a:lnTo>
                  <a:lnTo>
                    <a:pt x="2168610" y="1239789"/>
                  </a:lnTo>
                  <a:lnTo>
                    <a:pt x="2175893" y="1194666"/>
                  </a:lnTo>
                  <a:lnTo>
                    <a:pt x="2181153" y="1148961"/>
                  </a:lnTo>
                  <a:lnTo>
                    <a:pt x="2184342" y="1102717"/>
                  </a:lnTo>
                  <a:lnTo>
                    <a:pt x="2185416" y="1055979"/>
                  </a:lnTo>
                  <a:lnTo>
                    <a:pt x="2184342" y="1009242"/>
                  </a:lnTo>
                  <a:lnTo>
                    <a:pt x="2181153" y="962999"/>
                  </a:lnTo>
                  <a:lnTo>
                    <a:pt x="2175893" y="917295"/>
                  </a:lnTo>
                  <a:lnTo>
                    <a:pt x="2168610" y="872173"/>
                  </a:lnTo>
                  <a:lnTo>
                    <a:pt x="2159347" y="827677"/>
                  </a:lnTo>
                  <a:lnTo>
                    <a:pt x="2148152" y="783853"/>
                  </a:lnTo>
                  <a:lnTo>
                    <a:pt x="2135071" y="740745"/>
                  </a:lnTo>
                  <a:lnTo>
                    <a:pt x="2120148" y="698396"/>
                  </a:lnTo>
                  <a:lnTo>
                    <a:pt x="2103431" y="656852"/>
                  </a:lnTo>
                  <a:lnTo>
                    <a:pt x="2084964" y="616156"/>
                  </a:lnTo>
                  <a:lnTo>
                    <a:pt x="2064794" y="576352"/>
                  </a:lnTo>
                  <a:lnTo>
                    <a:pt x="2042966" y="537486"/>
                  </a:lnTo>
                  <a:lnTo>
                    <a:pt x="2019527" y="499601"/>
                  </a:lnTo>
                  <a:lnTo>
                    <a:pt x="1994522" y="462742"/>
                  </a:lnTo>
                  <a:lnTo>
                    <a:pt x="1967997" y="426953"/>
                  </a:lnTo>
                  <a:lnTo>
                    <a:pt x="1939997" y="392278"/>
                  </a:lnTo>
                  <a:lnTo>
                    <a:pt x="1910570" y="358762"/>
                  </a:lnTo>
                  <a:lnTo>
                    <a:pt x="1879760" y="326449"/>
                  </a:lnTo>
                  <a:lnTo>
                    <a:pt x="1847614" y="295383"/>
                  </a:lnTo>
                  <a:lnTo>
                    <a:pt x="1814177" y="265609"/>
                  </a:lnTo>
                  <a:lnTo>
                    <a:pt x="1779495" y="237170"/>
                  </a:lnTo>
                  <a:lnTo>
                    <a:pt x="1743615" y="210112"/>
                  </a:lnTo>
                  <a:lnTo>
                    <a:pt x="1706581" y="184479"/>
                  </a:lnTo>
                  <a:lnTo>
                    <a:pt x="1668440" y="160314"/>
                  </a:lnTo>
                  <a:lnTo>
                    <a:pt x="1629237" y="137662"/>
                  </a:lnTo>
                  <a:lnTo>
                    <a:pt x="1589019" y="116568"/>
                  </a:lnTo>
                  <a:lnTo>
                    <a:pt x="1547831" y="97076"/>
                  </a:lnTo>
                  <a:lnTo>
                    <a:pt x="1505720" y="79230"/>
                  </a:lnTo>
                  <a:lnTo>
                    <a:pt x="1462730" y="63074"/>
                  </a:lnTo>
                  <a:lnTo>
                    <a:pt x="1418908" y="48653"/>
                  </a:lnTo>
                  <a:lnTo>
                    <a:pt x="1374300" y="36010"/>
                  </a:lnTo>
                  <a:lnTo>
                    <a:pt x="1328952" y="25192"/>
                  </a:lnTo>
                  <a:lnTo>
                    <a:pt x="1282909" y="16241"/>
                  </a:lnTo>
                  <a:lnTo>
                    <a:pt x="1236217" y="9202"/>
                  </a:lnTo>
                  <a:lnTo>
                    <a:pt x="1188922" y="4119"/>
                  </a:lnTo>
                  <a:lnTo>
                    <a:pt x="1141070" y="1037"/>
                  </a:lnTo>
                  <a:lnTo>
                    <a:pt x="1092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2391" y="4533531"/>
              <a:ext cx="1681929" cy="6099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39995" y="1449476"/>
              <a:ext cx="2185670" cy="2112010"/>
            </a:xfrm>
            <a:custGeom>
              <a:avLst/>
              <a:gdLst/>
              <a:ahLst/>
              <a:cxnLst/>
              <a:rect l="l" t="t" r="r" b="b"/>
              <a:pathLst>
                <a:path w="2185670" h="2112010">
                  <a:moveTo>
                    <a:pt x="0" y="1055979"/>
                  </a:moveTo>
                  <a:lnTo>
                    <a:pt x="1073" y="1009242"/>
                  </a:lnTo>
                  <a:lnTo>
                    <a:pt x="4262" y="962999"/>
                  </a:lnTo>
                  <a:lnTo>
                    <a:pt x="9522" y="917295"/>
                  </a:lnTo>
                  <a:lnTo>
                    <a:pt x="16805" y="872173"/>
                  </a:lnTo>
                  <a:lnTo>
                    <a:pt x="26068" y="827677"/>
                  </a:lnTo>
                  <a:lnTo>
                    <a:pt x="37262" y="783853"/>
                  </a:lnTo>
                  <a:lnTo>
                    <a:pt x="50344" y="740745"/>
                  </a:lnTo>
                  <a:lnTo>
                    <a:pt x="65266" y="698396"/>
                  </a:lnTo>
                  <a:lnTo>
                    <a:pt x="81984" y="656852"/>
                  </a:lnTo>
                  <a:lnTo>
                    <a:pt x="100451" y="616156"/>
                  </a:lnTo>
                  <a:lnTo>
                    <a:pt x="120621" y="576352"/>
                  </a:lnTo>
                  <a:lnTo>
                    <a:pt x="142448" y="537486"/>
                  </a:lnTo>
                  <a:lnTo>
                    <a:pt x="165888" y="499601"/>
                  </a:lnTo>
                  <a:lnTo>
                    <a:pt x="190893" y="462742"/>
                  </a:lnTo>
                  <a:lnTo>
                    <a:pt x="217418" y="426953"/>
                  </a:lnTo>
                  <a:lnTo>
                    <a:pt x="245417" y="392278"/>
                  </a:lnTo>
                  <a:lnTo>
                    <a:pt x="274844" y="358762"/>
                  </a:lnTo>
                  <a:lnTo>
                    <a:pt x="305654" y="326449"/>
                  </a:lnTo>
                  <a:lnTo>
                    <a:pt x="337800" y="295383"/>
                  </a:lnTo>
                  <a:lnTo>
                    <a:pt x="371237" y="265609"/>
                  </a:lnTo>
                  <a:lnTo>
                    <a:pt x="405918" y="237170"/>
                  </a:lnTo>
                  <a:lnTo>
                    <a:pt x="441799" y="210112"/>
                  </a:lnTo>
                  <a:lnTo>
                    <a:pt x="478833" y="184479"/>
                  </a:lnTo>
                  <a:lnTo>
                    <a:pt x="516974" y="160314"/>
                  </a:lnTo>
                  <a:lnTo>
                    <a:pt x="556177" y="137662"/>
                  </a:lnTo>
                  <a:lnTo>
                    <a:pt x="596395" y="116568"/>
                  </a:lnTo>
                  <a:lnTo>
                    <a:pt x="637582" y="97076"/>
                  </a:lnTo>
                  <a:lnTo>
                    <a:pt x="679694" y="79230"/>
                  </a:lnTo>
                  <a:lnTo>
                    <a:pt x="722684" y="63074"/>
                  </a:lnTo>
                  <a:lnTo>
                    <a:pt x="766506" y="48653"/>
                  </a:lnTo>
                  <a:lnTo>
                    <a:pt x="811114" y="36010"/>
                  </a:lnTo>
                  <a:lnTo>
                    <a:pt x="856462" y="25192"/>
                  </a:lnTo>
                  <a:lnTo>
                    <a:pt x="902506" y="16241"/>
                  </a:lnTo>
                  <a:lnTo>
                    <a:pt x="949198" y="9202"/>
                  </a:lnTo>
                  <a:lnTo>
                    <a:pt x="996492" y="4119"/>
                  </a:lnTo>
                  <a:lnTo>
                    <a:pt x="1044344" y="1037"/>
                  </a:lnTo>
                  <a:lnTo>
                    <a:pt x="1092708" y="0"/>
                  </a:lnTo>
                  <a:lnTo>
                    <a:pt x="1141070" y="1037"/>
                  </a:lnTo>
                  <a:lnTo>
                    <a:pt x="1188922" y="4119"/>
                  </a:lnTo>
                  <a:lnTo>
                    <a:pt x="1236217" y="9202"/>
                  </a:lnTo>
                  <a:lnTo>
                    <a:pt x="1282909" y="16241"/>
                  </a:lnTo>
                  <a:lnTo>
                    <a:pt x="1328952" y="25192"/>
                  </a:lnTo>
                  <a:lnTo>
                    <a:pt x="1374300" y="36010"/>
                  </a:lnTo>
                  <a:lnTo>
                    <a:pt x="1418908" y="48653"/>
                  </a:lnTo>
                  <a:lnTo>
                    <a:pt x="1462730" y="63074"/>
                  </a:lnTo>
                  <a:lnTo>
                    <a:pt x="1505720" y="79230"/>
                  </a:lnTo>
                  <a:lnTo>
                    <a:pt x="1547831" y="97076"/>
                  </a:lnTo>
                  <a:lnTo>
                    <a:pt x="1589019" y="116568"/>
                  </a:lnTo>
                  <a:lnTo>
                    <a:pt x="1629237" y="137662"/>
                  </a:lnTo>
                  <a:lnTo>
                    <a:pt x="1668440" y="160314"/>
                  </a:lnTo>
                  <a:lnTo>
                    <a:pt x="1706581" y="184479"/>
                  </a:lnTo>
                  <a:lnTo>
                    <a:pt x="1743615" y="210112"/>
                  </a:lnTo>
                  <a:lnTo>
                    <a:pt x="1779495" y="237170"/>
                  </a:lnTo>
                  <a:lnTo>
                    <a:pt x="1814177" y="265609"/>
                  </a:lnTo>
                  <a:lnTo>
                    <a:pt x="1847614" y="295383"/>
                  </a:lnTo>
                  <a:lnTo>
                    <a:pt x="1879760" y="326449"/>
                  </a:lnTo>
                  <a:lnTo>
                    <a:pt x="1910570" y="358762"/>
                  </a:lnTo>
                  <a:lnTo>
                    <a:pt x="1939997" y="392278"/>
                  </a:lnTo>
                  <a:lnTo>
                    <a:pt x="1967997" y="426953"/>
                  </a:lnTo>
                  <a:lnTo>
                    <a:pt x="1994522" y="462742"/>
                  </a:lnTo>
                  <a:lnTo>
                    <a:pt x="2019527" y="499601"/>
                  </a:lnTo>
                  <a:lnTo>
                    <a:pt x="2042966" y="537486"/>
                  </a:lnTo>
                  <a:lnTo>
                    <a:pt x="2064794" y="576352"/>
                  </a:lnTo>
                  <a:lnTo>
                    <a:pt x="2084964" y="616156"/>
                  </a:lnTo>
                  <a:lnTo>
                    <a:pt x="2103431" y="656852"/>
                  </a:lnTo>
                  <a:lnTo>
                    <a:pt x="2120148" y="698396"/>
                  </a:lnTo>
                  <a:lnTo>
                    <a:pt x="2135071" y="740745"/>
                  </a:lnTo>
                  <a:lnTo>
                    <a:pt x="2148152" y="783853"/>
                  </a:lnTo>
                  <a:lnTo>
                    <a:pt x="2159347" y="827677"/>
                  </a:lnTo>
                  <a:lnTo>
                    <a:pt x="2168610" y="872173"/>
                  </a:lnTo>
                  <a:lnTo>
                    <a:pt x="2175893" y="917295"/>
                  </a:lnTo>
                  <a:lnTo>
                    <a:pt x="2181153" y="962999"/>
                  </a:lnTo>
                  <a:lnTo>
                    <a:pt x="2184342" y="1009242"/>
                  </a:lnTo>
                  <a:lnTo>
                    <a:pt x="2185416" y="1055979"/>
                  </a:lnTo>
                  <a:lnTo>
                    <a:pt x="2184342" y="1102717"/>
                  </a:lnTo>
                  <a:lnTo>
                    <a:pt x="2181153" y="1148961"/>
                  </a:lnTo>
                  <a:lnTo>
                    <a:pt x="2175893" y="1194666"/>
                  </a:lnTo>
                  <a:lnTo>
                    <a:pt x="2168610" y="1239789"/>
                  </a:lnTo>
                  <a:lnTo>
                    <a:pt x="2159347" y="1284285"/>
                  </a:lnTo>
                  <a:lnTo>
                    <a:pt x="2148152" y="1328110"/>
                  </a:lnTo>
                  <a:lnTo>
                    <a:pt x="2135071" y="1371219"/>
                  </a:lnTo>
                  <a:lnTo>
                    <a:pt x="2120148" y="1413569"/>
                  </a:lnTo>
                  <a:lnTo>
                    <a:pt x="2103431" y="1455114"/>
                  </a:lnTo>
                  <a:lnTo>
                    <a:pt x="2084964" y="1495810"/>
                  </a:lnTo>
                  <a:lnTo>
                    <a:pt x="2064794" y="1535614"/>
                  </a:lnTo>
                  <a:lnTo>
                    <a:pt x="2042966" y="1574481"/>
                  </a:lnTo>
                  <a:lnTo>
                    <a:pt x="2019527" y="1612366"/>
                  </a:lnTo>
                  <a:lnTo>
                    <a:pt x="1994522" y="1649226"/>
                  </a:lnTo>
                  <a:lnTo>
                    <a:pt x="1967997" y="1685015"/>
                  </a:lnTo>
                  <a:lnTo>
                    <a:pt x="1939997" y="1719690"/>
                  </a:lnTo>
                  <a:lnTo>
                    <a:pt x="1910570" y="1753207"/>
                  </a:lnTo>
                  <a:lnTo>
                    <a:pt x="1879760" y="1785520"/>
                  </a:lnTo>
                  <a:lnTo>
                    <a:pt x="1847614" y="1816586"/>
                  </a:lnTo>
                  <a:lnTo>
                    <a:pt x="1814177" y="1846361"/>
                  </a:lnTo>
                  <a:lnTo>
                    <a:pt x="1779495" y="1874799"/>
                  </a:lnTo>
                  <a:lnTo>
                    <a:pt x="1743615" y="1901858"/>
                  </a:lnTo>
                  <a:lnTo>
                    <a:pt x="1706581" y="1927492"/>
                  </a:lnTo>
                  <a:lnTo>
                    <a:pt x="1668440" y="1951656"/>
                  </a:lnTo>
                  <a:lnTo>
                    <a:pt x="1629237" y="1974308"/>
                  </a:lnTo>
                  <a:lnTo>
                    <a:pt x="1589019" y="1995402"/>
                  </a:lnTo>
                  <a:lnTo>
                    <a:pt x="1547831" y="2014895"/>
                  </a:lnTo>
                  <a:lnTo>
                    <a:pt x="1505720" y="2032741"/>
                  </a:lnTo>
                  <a:lnTo>
                    <a:pt x="1462730" y="2048897"/>
                  </a:lnTo>
                  <a:lnTo>
                    <a:pt x="1418908" y="2063318"/>
                  </a:lnTo>
                  <a:lnTo>
                    <a:pt x="1374300" y="2075960"/>
                  </a:lnTo>
                  <a:lnTo>
                    <a:pt x="1328952" y="2086779"/>
                  </a:lnTo>
                  <a:lnTo>
                    <a:pt x="1282909" y="2095730"/>
                  </a:lnTo>
                  <a:lnTo>
                    <a:pt x="1236217" y="2102769"/>
                  </a:lnTo>
                  <a:lnTo>
                    <a:pt x="1188922" y="2107852"/>
                  </a:lnTo>
                  <a:lnTo>
                    <a:pt x="1141070" y="2110934"/>
                  </a:lnTo>
                  <a:lnTo>
                    <a:pt x="1092708" y="2111971"/>
                  </a:lnTo>
                  <a:lnTo>
                    <a:pt x="1044344" y="2110934"/>
                  </a:lnTo>
                  <a:lnTo>
                    <a:pt x="996492" y="2107852"/>
                  </a:lnTo>
                  <a:lnTo>
                    <a:pt x="949198" y="2102769"/>
                  </a:lnTo>
                  <a:lnTo>
                    <a:pt x="902506" y="2095730"/>
                  </a:lnTo>
                  <a:lnTo>
                    <a:pt x="856462" y="2086779"/>
                  </a:lnTo>
                  <a:lnTo>
                    <a:pt x="811114" y="2075960"/>
                  </a:lnTo>
                  <a:lnTo>
                    <a:pt x="766506" y="2063318"/>
                  </a:lnTo>
                  <a:lnTo>
                    <a:pt x="722684" y="2048897"/>
                  </a:lnTo>
                  <a:lnTo>
                    <a:pt x="679694" y="2032741"/>
                  </a:lnTo>
                  <a:lnTo>
                    <a:pt x="637582" y="2014895"/>
                  </a:lnTo>
                  <a:lnTo>
                    <a:pt x="596395" y="1995402"/>
                  </a:lnTo>
                  <a:lnTo>
                    <a:pt x="556177" y="1974308"/>
                  </a:lnTo>
                  <a:lnTo>
                    <a:pt x="516974" y="1951656"/>
                  </a:lnTo>
                  <a:lnTo>
                    <a:pt x="478833" y="1927492"/>
                  </a:lnTo>
                  <a:lnTo>
                    <a:pt x="441799" y="1901858"/>
                  </a:lnTo>
                  <a:lnTo>
                    <a:pt x="405918" y="1874799"/>
                  </a:lnTo>
                  <a:lnTo>
                    <a:pt x="371237" y="1846361"/>
                  </a:lnTo>
                  <a:lnTo>
                    <a:pt x="337800" y="1816586"/>
                  </a:lnTo>
                  <a:lnTo>
                    <a:pt x="305654" y="1785520"/>
                  </a:lnTo>
                  <a:lnTo>
                    <a:pt x="274844" y="1753207"/>
                  </a:lnTo>
                  <a:lnTo>
                    <a:pt x="245417" y="1719690"/>
                  </a:lnTo>
                  <a:lnTo>
                    <a:pt x="217418" y="1685015"/>
                  </a:lnTo>
                  <a:lnTo>
                    <a:pt x="190893" y="1649226"/>
                  </a:lnTo>
                  <a:lnTo>
                    <a:pt x="165888" y="1612366"/>
                  </a:lnTo>
                  <a:lnTo>
                    <a:pt x="142448" y="1574481"/>
                  </a:lnTo>
                  <a:lnTo>
                    <a:pt x="120621" y="1535614"/>
                  </a:lnTo>
                  <a:lnTo>
                    <a:pt x="100451" y="1495810"/>
                  </a:lnTo>
                  <a:lnTo>
                    <a:pt x="81984" y="1455114"/>
                  </a:lnTo>
                  <a:lnTo>
                    <a:pt x="65266" y="1413569"/>
                  </a:lnTo>
                  <a:lnTo>
                    <a:pt x="50344" y="1371219"/>
                  </a:lnTo>
                  <a:lnTo>
                    <a:pt x="37262" y="1328110"/>
                  </a:lnTo>
                  <a:lnTo>
                    <a:pt x="26068" y="1284285"/>
                  </a:lnTo>
                  <a:lnTo>
                    <a:pt x="16805" y="1239789"/>
                  </a:lnTo>
                  <a:lnTo>
                    <a:pt x="9522" y="1194666"/>
                  </a:lnTo>
                  <a:lnTo>
                    <a:pt x="4262" y="1148961"/>
                  </a:lnTo>
                  <a:lnTo>
                    <a:pt x="1073" y="1102717"/>
                  </a:lnTo>
                  <a:lnTo>
                    <a:pt x="0" y="1055979"/>
                  </a:lnTo>
                  <a:close/>
                </a:path>
              </a:pathLst>
            </a:custGeom>
            <a:ln w="12699">
              <a:solidFill>
                <a:srgbClr val="005A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4521" y="1829015"/>
              <a:ext cx="1186539" cy="14854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4474" y="1829015"/>
              <a:ext cx="1340281" cy="148546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26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2321" y="4740465"/>
              <a:ext cx="971999" cy="2190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51434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4509" rIns="0" bIns="0" rtlCol="0" vert="horz">
            <a:spAutoFit/>
          </a:bodyPr>
          <a:lstStyle/>
          <a:p>
            <a:pPr marL="3302635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85"/>
              <a:t> </a:t>
            </a:r>
            <a:r>
              <a:rPr dirty="0" spc="-20"/>
              <a:t>You!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  <a:tabLst>
                <a:tab pos="298450" algn="l"/>
              </a:tabLst>
            </a:pPr>
            <a:fld id="{81D60167-4931-47E6-BA6A-407CBD079E47}" type="slidenum">
              <a:rPr dirty="0" spc="-25"/>
              <a:t>26</a:t>
            </a:fld>
            <a:r>
              <a:rPr dirty="0"/>
              <a:t>	©</a:t>
            </a:r>
            <a:r>
              <a:rPr dirty="0" spc="-30"/>
              <a:t> </a:t>
            </a:r>
            <a:r>
              <a:rPr dirty="0"/>
              <a:t>2025</a:t>
            </a:r>
            <a:r>
              <a:rPr dirty="0" spc="-25"/>
              <a:t> </a:t>
            </a:r>
            <a:r>
              <a:rPr dirty="0" spc="-10"/>
              <a:t>Nokia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33321" y="1954987"/>
              <a:ext cx="5477510" cy="1233805"/>
            </a:xfrm>
            <a:custGeom>
              <a:avLst/>
              <a:gdLst/>
              <a:ahLst/>
              <a:cxnLst/>
              <a:rect l="l" t="t" r="r" b="b"/>
              <a:pathLst>
                <a:path w="5477509" h="1233805">
                  <a:moveTo>
                    <a:pt x="1147991" y="985558"/>
                  </a:moveTo>
                  <a:lnTo>
                    <a:pt x="0" y="0"/>
                  </a:lnTo>
                  <a:lnTo>
                    <a:pt x="0" y="1197889"/>
                  </a:lnTo>
                  <a:lnTo>
                    <a:pt x="185267" y="1197889"/>
                  </a:lnTo>
                  <a:lnTo>
                    <a:pt x="185267" y="405638"/>
                  </a:lnTo>
                  <a:lnTo>
                    <a:pt x="1147991" y="1233525"/>
                  </a:lnTo>
                  <a:lnTo>
                    <a:pt x="1147991" y="985558"/>
                  </a:lnTo>
                  <a:close/>
                </a:path>
                <a:path w="5477509" h="1233805">
                  <a:moveTo>
                    <a:pt x="2474823" y="621741"/>
                  </a:moveTo>
                  <a:lnTo>
                    <a:pt x="2474772" y="616470"/>
                  </a:lnTo>
                  <a:lnTo>
                    <a:pt x="2473350" y="575094"/>
                  </a:lnTo>
                  <a:lnTo>
                    <a:pt x="2473236" y="571957"/>
                  </a:lnTo>
                  <a:lnTo>
                    <a:pt x="2473160" y="569442"/>
                  </a:lnTo>
                  <a:lnTo>
                    <a:pt x="2467838" y="520573"/>
                  </a:lnTo>
                  <a:lnTo>
                    <a:pt x="2458872" y="472935"/>
                  </a:lnTo>
                  <a:lnTo>
                    <a:pt x="2446337" y="427266"/>
                  </a:lnTo>
                  <a:lnTo>
                    <a:pt x="2430221" y="383463"/>
                  </a:lnTo>
                  <a:lnTo>
                    <a:pt x="2410498" y="341414"/>
                  </a:lnTo>
                  <a:lnTo>
                    <a:pt x="2387092" y="300951"/>
                  </a:lnTo>
                  <a:lnTo>
                    <a:pt x="2360066" y="262191"/>
                  </a:lnTo>
                  <a:lnTo>
                    <a:pt x="2329484" y="225196"/>
                  </a:lnTo>
                  <a:lnTo>
                    <a:pt x="2295410" y="190055"/>
                  </a:lnTo>
                  <a:lnTo>
                    <a:pt x="2294191" y="188988"/>
                  </a:lnTo>
                  <a:lnTo>
                    <a:pt x="2294191" y="616470"/>
                  </a:lnTo>
                  <a:lnTo>
                    <a:pt x="2293747" y="638416"/>
                  </a:lnTo>
                  <a:lnTo>
                    <a:pt x="2289899" y="682066"/>
                  </a:lnTo>
                  <a:lnTo>
                    <a:pt x="2274036" y="754227"/>
                  </a:lnTo>
                  <a:lnTo>
                    <a:pt x="2255647" y="802068"/>
                  </a:lnTo>
                  <a:lnTo>
                    <a:pt x="2231390" y="847178"/>
                  </a:lnTo>
                  <a:lnTo>
                    <a:pt x="2201316" y="889419"/>
                  </a:lnTo>
                  <a:lnTo>
                    <a:pt x="2165477" y="928700"/>
                  </a:lnTo>
                  <a:lnTo>
                    <a:pt x="2132419" y="957973"/>
                  </a:lnTo>
                  <a:lnTo>
                    <a:pt x="2097265" y="983424"/>
                  </a:lnTo>
                  <a:lnTo>
                    <a:pt x="2060143" y="1004976"/>
                  </a:lnTo>
                  <a:lnTo>
                    <a:pt x="2021001" y="1022604"/>
                  </a:lnTo>
                  <a:lnTo>
                    <a:pt x="1980387" y="1036116"/>
                  </a:lnTo>
                  <a:lnTo>
                    <a:pt x="1937461" y="1045845"/>
                  </a:lnTo>
                  <a:lnTo>
                    <a:pt x="1892592" y="1051699"/>
                  </a:lnTo>
                  <a:lnTo>
                    <a:pt x="1845894" y="1053655"/>
                  </a:lnTo>
                  <a:lnTo>
                    <a:pt x="1845017" y="1053655"/>
                  </a:lnTo>
                  <a:lnTo>
                    <a:pt x="1799437" y="1051699"/>
                  </a:lnTo>
                  <a:lnTo>
                    <a:pt x="1798675" y="1051699"/>
                  </a:lnTo>
                  <a:lnTo>
                    <a:pt x="1753806" y="1045845"/>
                  </a:lnTo>
                  <a:lnTo>
                    <a:pt x="1753654" y="1045845"/>
                  </a:lnTo>
                  <a:lnTo>
                    <a:pt x="1710639" y="1036116"/>
                  </a:lnTo>
                  <a:lnTo>
                    <a:pt x="1669961" y="1022604"/>
                  </a:lnTo>
                  <a:lnTo>
                    <a:pt x="1631327" y="1005281"/>
                  </a:lnTo>
                  <a:lnTo>
                    <a:pt x="1594548" y="984059"/>
                  </a:lnTo>
                  <a:lnTo>
                    <a:pt x="1559750" y="959002"/>
                  </a:lnTo>
                  <a:lnTo>
                    <a:pt x="1527060" y="930198"/>
                  </a:lnTo>
                  <a:lnTo>
                    <a:pt x="1497406" y="898486"/>
                  </a:lnTo>
                  <a:lnTo>
                    <a:pt x="1471625" y="864717"/>
                  </a:lnTo>
                  <a:lnTo>
                    <a:pt x="1449819" y="829030"/>
                  </a:lnTo>
                  <a:lnTo>
                    <a:pt x="1432026" y="791527"/>
                  </a:lnTo>
                  <a:lnTo>
                    <a:pt x="1418259" y="752106"/>
                  </a:lnTo>
                  <a:lnTo>
                    <a:pt x="1408404" y="710552"/>
                  </a:lnTo>
                  <a:lnTo>
                    <a:pt x="1402486" y="667042"/>
                  </a:lnTo>
                  <a:lnTo>
                    <a:pt x="1400568" y="621741"/>
                  </a:lnTo>
                  <a:lnTo>
                    <a:pt x="1402638" y="575094"/>
                  </a:lnTo>
                  <a:lnTo>
                    <a:pt x="1408658" y="530428"/>
                  </a:lnTo>
                  <a:lnTo>
                    <a:pt x="1418590" y="488010"/>
                  </a:lnTo>
                  <a:lnTo>
                    <a:pt x="1432496" y="447636"/>
                  </a:lnTo>
                  <a:lnTo>
                    <a:pt x="1450327" y="409562"/>
                  </a:lnTo>
                  <a:lnTo>
                    <a:pt x="1472171" y="373519"/>
                  </a:lnTo>
                  <a:lnTo>
                    <a:pt x="1497952" y="339598"/>
                  </a:lnTo>
                  <a:lnTo>
                    <a:pt x="1527594" y="307911"/>
                  </a:lnTo>
                  <a:lnTo>
                    <a:pt x="1559966" y="279450"/>
                  </a:lnTo>
                  <a:lnTo>
                    <a:pt x="1595005" y="254508"/>
                  </a:lnTo>
                  <a:lnTo>
                    <a:pt x="1632394" y="233260"/>
                  </a:lnTo>
                  <a:lnTo>
                    <a:pt x="1671878" y="215900"/>
                  </a:lnTo>
                  <a:lnTo>
                    <a:pt x="1713179" y="202603"/>
                  </a:lnTo>
                  <a:lnTo>
                    <a:pt x="1756816" y="193065"/>
                  </a:lnTo>
                  <a:lnTo>
                    <a:pt x="1801698" y="187439"/>
                  </a:lnTo>
                  <a:lnTo>
                    <a:pt x="1799767" y="187439"/>
                  </a:lnTo>
                  <a:lnTo>
                    <a:pt x="1850428" y="185394"/>
                  </a:lnTo>
                  <a:lnTo>
                    <a:pt x="1851367" y="185394"/>
                  </a:lnTo>
                  <a:lnTo>
                    <a:pt x="1897138" y="187439"/>
                  </a:lnTo>
                  <a:lnTo>
                    <a:pt x="1941207" y="193344"/>
                  </a:lnTo>
                  <a:lnTo>
                    <a:pt x="1983435" y="203123"/>
                  </a:lnTo>
                  <a:lnTo>
                    <a:pt x="2023694" y="216725"/>
                  </a:lnTo>
                  <a:lnTo>
                    <a:pt x="2062073" y="234238"/>
                  </a:lnTo>
                  <a:lnTo>
                    <a:pt x="2098738" y="255701"/>
                  </a:lnTo>
                  <a:lnTo>
                    <a:pt x="2133574" y="281025"/>
                  </a:lnTo>
                  <a:lnTo>
                    <a:pt x="2166467" y="310134"/>
                  </a:lnTo>
                  <a:lnTo>
                    <a:pt x="2196414" y="342112"/>
                  </a:lnTo>
                  <a:lnTo>
                    <a:pt x="2222436" y="375970"/>
                  </a:lnTo>
                  <a:lnTo>
                    <a:pt x="2244458" y="411607"/>
                  </a:lnTo>
                  <a:lnTo>
                    <a:pt x="2262428" y="448906"/>
                  </a:lnTo>
                  <a:lnTo>
                    <a:pt x="2276348" y="488010"/>
                  </a:lnTo>
                  <a:lnTo>
                    <a:pt x="2286292" y="529082"/>
                  </a:lnTo>
                  <a:lnTo>
                    <a:pt x="2292248" y="571957"/>
                  </a:lnTo>
                  <a:lnTo>
                    <a:pt x="2294191" y="616470"/>
                  </a:lnTo>
                  <a:lnTo>
                    <a:pt x="2294191" y="188988"/>
                  </a:lnTo>
                  <a:lnTo>
                    <a:pt x="2258631" y="157530"/>
                  </a:lnTo>
                  <a:lnTo>
                    <a:pt x="2219871" y="128320"/>
                  </a:lnTo>
                  <a:lnTo>
                    <a:pt x="2179243" y="102489"/>
                  </a:lnTo>
                  <a:lnTo>
                    <a:pt x="2136851" y="80111"/>
                  </a:lnTo>
                  <a:lnTo>
                    <a:pt x="2092782" y="61201"/>
                  </a:lnTo>
                  <a:lnTo>
                    <a:pt x="2046909" y="45758"/>
                  </a:lnTo>
                  <a:lnTo>
                    <a:pt x="1999081" y="33693"/>
                  </a:lnTo>
                  <a:lnTo>
                    <a:pt x="1949424" y="25031"/>
                  </a:lnTo>
                  <a:lnTo>
                    <a:pt x="1898015" y="19799"/>
                  </a:lnTo>
                  <a:lnTo>
                    <a:pt x="1844967" y="17995"/>
                  </a:lnTo>
                  <a:lnTo>
                    <a:pt x="1843633" y="17995"/>
                  </a:lnTo>
                  <a:lnTo>
                    <a:pt x="1788172" y="19799"/>
                  </a:lnTo>
                  <a:lnTo>
                    <a:pt x="1790014" y="19799"/>
                  </a:lnTo>
                  <a:lnTo>
                    <a:pt x="1739811" y="24815"/>
                  </a:lnTo>
                  <a:lnTo>
                    <a:pt x="1690509" y="33324"/>
                  </a:lnTo>
                  <a:lnTo>
                    <a:pt x="1643087" y="45199"/>
                  </a:lnTo>
                  <a:lnTo>
                    <a:pt x="1597672" y="60426"/>
                  </a:lnTo>
                  <a:lnTo>
                    <a:pt x="1553870" y="79209"/>
                  </a:lnTo>
                  <a:lnTo>
                    <a:pt x="1511795" y="101473"/>
                  </a:lnTo>
                  <a:lnTo>
                    <a:pt x="1471523" y="127177"/>
                  </a:lnTo>
                  <a:lnTo>
                    <a:pt x="1433156" y="156260"/>
                  </a:lnTo>
                  <a:lnTo>
                    <a:pt x="1396784" y="188658"/>
                  </a:lnTo>
                  <a:lnTo>
                    <a:pt x="1363167" y="223748"/>
                  </a:lnTo>
                  <a:lnTo>
                    <a:pt x="1332966" y="260756"/>
                  </a:lnTo>
                  <a:lnTo>
                    <a:pt x="1306258" y="299618"/>
                  </a:lnTo>
                  <a:lnTo>
                    <a:pt x="1283093" y="340233"/>
                  </a:lnTo>
                  <a:lnTo>
                    <a:pt x="1263548" y="382524"/>
                  </a:lnTo>
                  <a:lnTo>
                    <a:pt x="1247597" y="426631"/>
                  </a:lnTo>
                  <a:lnTo>
                    <a:pt x="1235125" y="472681"/>
                  </a:lnTo>
                  <a:lnTo>
                    <a:pt x="1226223" y="520357"/>
                  </a:lnTo>
                  <a:lnTo>
                    <a:pt x="1220838" y="569442"/>
                  </a:lnTo>
                  <a:lnTo>
                    <a:pt x="1218933" y="620077"/>
                  </a:lnTo>
                  <a:lnTo>
                    <a:pt x="1218882" y="621741"/>
                  </a:lnTo>
                  <a:lnTo>
                    <a:pt x="1220419" y="667042"/>
                  </a:lnTo>
                  <a:lnTo>
                    <a:pt x="1220546" y="670725"/>
                  </a:lnTo>
                  <a:lnTo>
                    <a:pt x="1220571" y="671461"/>
                  </a:lnTo>
                  <a:lnTo>
                    <a:pt x="1225765" y="719747"/>
                  </a:lnTo>
                  <a:lnTo>
                    <a:pt x="1234516" y="766749"/>
                  </a:lnTo>
                  <a:lnTo>
                    <a:pt x="1246759" y="811847"/>
                  </a:lnTo>
                  <a:lnTo>
                    <a:pt x="1262494" y="855091"/>
                  </a:lnTo>
                  <a:lnTo>
                    <a:pt x="1281785" y="896607"/>
                  </a:lnTo>
                  <a:lnTo>
                    <a:pt x="1304671" y="936561"/>
                  </a:lnTo>
                  <a:lnTo>
                    <a:pt x="1331074" y="974852"/>
                  </a:lnTo>
                  <a:lnTo>
                    <a:pt x="1360944" y="1011389"/>
                  </a:lnTo>
                  <a:lnTo>
                    <a:pt x="1394231" y="1046111"/>
                  </a:lnTo>
                  <a:lnTo>
                    <a:pt x="1430197" y="1078242"/>
                  </a:lnTo>
                  <a:lnTo>
                    <a:pt x="1468056" y="1107097"/>
                  </a:lnTo>
                  <a:lnTo>
                    <a:pt x="1507718" y="1132611"/>
                  </a:lnTo>
                  <a:lnTo>
                    <a:pt x="1549107" y="1154747"/>
                  </a:lnTo>
                  <a:lnTo>
                    <a:pt x="1592148" y="1173416"/>
                  </a:lnTo>
                  <a:lnTo>
                    <a:pt x="1636915" y="1188669"/>
                  </a:lnTo>
                  <a:lnTo>
                    <a:pt x="1683588" y="1200569"/>
                  </a:lnTo>
                  <a:lnTo>
                    <a:pt x="1732051" y="1209116"/>
                  </a:lnTo>
                  <a:lnTo>
                    <a:pt x="1783067" y="1214386"/>
                  </a:lnTo>
                  <a:lnTo>
                    <a:pt x="1784781" y="1214386"/>
                  </a:lnTo>
                  <a:lnTo>
                    <a:pt x="1833968" y="1216063"/>
                  </a:lnTo>
                  <a:lnTo>
                    <a:pt x="1835251" y="1216063"/>
                  </a:lnTo>
                  <a:lnTo>
                    <a:pt x="1889125" y="1214386"/>
                  </a:lnTo>
                  <a:lnTo>
                    <a:pt x="1941309" y="1209332"/>
                  </a:lnTo>
                  <a:lnTo>
                    <a:pt x="1991702" y="1200937"/>
                  </a:lnTo>
                  <a:lnTo>
                    <a:pt x="2040166" y="1189228"/>
                  </a:lnTo>
                  <a:lnTo>
                    <a:pt x="2086622" y="1174191"/>
                  </a:lnTo>
                  <a:lnTo>
                    <a:pt x="2131606" y="1155560"/>
                  </a:lnTo>
                  <a:lnTo>
                    <a:pt x="2174875" y="1133449"/>
                  </a:lnTo>
                  <a:lnTo>
                    <a:pt x="2216213" y="1107998"/>
                  </a:lnTo>
                  <a:lnTo>
                    <a:pt x="2255431" y="1079334"/>
                  </a:lnTo>
                  <a:lnTo>
                    <a:pt x="2285250" y="1053655"/>
                  </a:lnTo>
                  <a:lnTo>
                    <a:pt x="2326843" y="1012913"/>
                  </a:lnTo>
                  <a:lnTo>
                    <a:pt x="2357831" y="976350"/>
                  </a:lnTo>
                  <a:lnTo>
                    <a:pt x="2385250" y="937971"/>
                  </a:lnTo>
                  <a:lnTo>
                    <a:pt x="2409012" y="897864"/>
                  </a:lnTo>
                  <a:lnTo>
                    <a:pt x="2429065" y="856094"/>
                  </a:lnTo>
                  <a:lnTo>
                    <a:pt x="2445448" y="812546"/>
                  </a:lnTo>
                  <a:lnTo>
                    <a:pt x="2458237" y="767054"/>
                  </a:lnTo>
                  <a:lnTo>
                    <a:pt x="2467381" y="719924"/>
                  </a:lnTo>
                  <a:lnTo>
                    <a:pt x="2472880" y="671461"/>
                  </a:lnTo>
                  <a:lnTo>
                    <a:pt x="2472969" y="670725"/>
                  </a:lnTo>
                  <a:lnTo>
                    <a:pt x="2474823" y="621741"/>
                  </a:lnTo>
                  <a:close/>
                </a:path>
                <a:path w="5477509" h="1233805">
                  <a:moveTo>
                    <a:pt x="3566160" y="1197876"/>
                  </a:moveTo>
                  <a:lnTo>
                    <a:pt x="2881109" y="618629"/>
                  </a:lnTo>
                  <a:lnTo>
                    <a:pt x="3566071" y="39382"/>
                  </a:lnTo>
                  <a:lnTo>
                    <a:pt x="3297021" y="39382"/>
                  </a:lnTo>
                  <a:lnTo>
                    <a:pt x="2612072" y="618629"/>
                  </a:lnTo>
                  <a:lnTo>
                    <a:pt x="3297021" y="1197876"/>
                  </a:lnTo>
                  <a:lnTo>
                    <a:pt x="3566160" y="1197876"/>
                  </a:lnTo>
                  <a:close/>
                </a:path>
                <a:path w="5477509" h="1233805">
                  <a:moveTo>
                    <a:pt x="3967848" y="39382"/>
                  </a:moveTo>
                  <a:lnTo>
                    <a:pt x="3786314" y="39382"/>
                  </a:lnTo>
                  <a:lnTo>
                    <a:pt x="3786301" y="1197876"/>
                  </a:lnTo>
                  <a:lnTo>
                    <a:pt x="3967823" y="1197876"/>
                  </a:lnTo>
                  <a:lnTo>
                    <a:pt x="3967848" y="39382"/>
                  </a:lnTo>
                  <a:close/>
                </a:path>
                <a:path w="5477509" h="1233805">
                  <a:moveTo>
                    <a:pt x="5477357" y="1197902"/>
                  </a:moveTo>
                  <a:lnTo>
                    <a:pt x="4805273" y="8356"/>
                  </a:lnTo>
                  <a:lnTo>
                    <a:pt x="4800955" y="711"/>
                  </a:lnTo>
                  <a:lnTo>
                    <a:pt x="4701870" y="177406"/>
                  </a:lnTo>
                  <a:lnTo>
                    <a:pt x="5036756" y="768413"/>
                  </a:lnTo>
                  <a:lnTo>
                    <a:pt x="4366869" y="768413"/>
                  </a:lnTo>
                  <a:lnTo>
                    <a:pt x="4124553" y="1197902"/>
                  </a:lnTo>
                  <a:lnTo>
                    <a:pt x="4324210" y="1197902"/>
                  </a:lnTo>
                  <a:lnTo>
                    <a:pt x="4470260" y="939444"/>
                  </a:lnTo>
                  <a:lnTo>
                    <a:pt x="5131511" y="939444"/>
                  </a:lnTo>
                  <a:lnTo>
                    <a:pt x="5277751" y="1197902"/>
                  </a:lnTo>
                  <a:lnTo>
                    <a:pt x="5477357" y="11979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2026-09-08T08:13:52Z</dcterms:created>
  <dcterms:modified xsi:type="dcterms:W3CDTF">2026-09-08T08:13:52Z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2026-09-08T00:00:00Z</vt:filetime>
  </property>
  <property fmtid="{D5CDD505-2E9C-101B-9397-08002B2CF9AE}" pid="4" name="LastSaved">
    <vt:filetime>2026-09-08T00:00:00Z</vt:filetime>
  </property>
  <property fmtid="{D5CDD505-2E9C-101B-9397-08002B2CF9AE}" pid="5" name="Producer">
    <vt:lpwstr>3-Heights(TM) PDF Security Shell 4.8.25.2 (http://www.pdf-tools.com)</vt:lpwstr>
  </property>
</Properties>
</file>